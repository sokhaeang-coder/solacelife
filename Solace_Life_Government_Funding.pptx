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1B3A6B"/>
                </a:solidFill>
                <a:latin typeface="Arial"/>
              </a:defRPr>
            </a:pPr>
            <a:r>
              <a:rPr sz="1100" b="0" i="0" u="none" strike="noStrike">
                <a:solidFill>
                  <a:srgbClr val="1B3A6B"/>
                </a:solidFill>
                <a:latin typeface="Arial"/>
              </a:rPr>
              <a:t>Canadians Aged 65+ (Millions)</a:t>
            </a:r>
          </a:p>
        </c:rich>
      </c:tx>
      <c:layout/>
      <c:overlay val="0"/>
    </c:title>
    <c:autoTitleDeleted val="0"/>
    <c:plotArea>
      <c:layout/>
      <c:barChart>
        <c:barDir val="col"/>
        <c:grouping val="clustered"/>
        <c:varyColors val="0"/>
        <c:ser>
          <c:idx val="0"/>
          <c:order val="0"/>
          <c:tx>
            <c:strRef>
              <c:f>Sheet1!$B$1</c:f>
              <c:strCache>
                <c:ptCount val="1"/>
                <c:pt idx="0">
                  <c:v>Canadians 65+ (millions)</c:v>
                </c:pt>
              </c:strCache>
            </c:strRef>
          </c:tx>
          <c:spPr>
            <a:solidFill>
              <a:srgbClr val="1B3A6B"/>
            </a:solidFill>
            <a:effectLst/>
          </c:spPr>
          <c:invertIfNegative val="0"/>
          <c:dLbls>
            <c:numFmt formatCode="#,##0" sourceLinked="0"/>
            <c:txPr>
              <a:bodyPr/>
              <a:lstStyle/>
              <a:p>
                <a:pPr>
                  <a:defRPr b="0" i="0" strike="noStrike" sz="1000" u="none">
                    <a:solidFill>
                      <a:srgbClr val="1B3A6B"/>
                    </a:solidFill>
                    <a:latin typeface="Arial"/>
                  </a:defRPr>
                </a:pPr>
              </a:p>
            </c:txPr>
            <c:showLegendKey val="0"/>
            <c:showVal val="1"/>
            <c:showCatName val="0"/>
            <c:showSerName val="0"/>
            <c:showPercent val="0"/>
            <c:showBubbleSize val="0"/>
            <c:showLeaderLines val="0"/>
          </c:dLbls>
          <c:cat>
            <c:multiLvlStrRef>
              <c:f>Sheet1!$A$2:$A$6</c:f>
              <c:multiLvlStrCache>
                <c:ptCount val="5"/>
                <c:lvl>
                  <c:pt idx="0">
                    <c:v>2000</c:v>
                  </c:pt>
                  <c:pt idx="1">
                    <c:v>2010</c:v>
                  </c:pt>
                  <c:pt idx="2">
                    <c:v>2020</c:v>
                  </c:pt>
                  <c:pt idx="3">
                    <c:v>2030</c:v>
                  </c:pt>
                  <c:pt idx="4">
                    <c:v>2040</c:v>
                  </c:pt>
                </c:lvl>
              </c:multiLvlStrCache>
            </c:multiLvlStrRef>
          </c:cat>
          <c:val>
            <c:numRef>
              <c:f>Sheet1!$B$2:$B$6</c:f>
              <c:numCache>
                <c:formatCode>General</c:formatCode>
                <c:ptCount val="5"/>
                <c:pt idx="0">
                  <c:v>3.8</c:v>
                </c:pt>
                <c:pt idx="1">
                  <c:v>4.8</c:v>
                </c:pt>
                <c:pt idx="2">
                  <c:v>6.7</c:v>
                </c:pt>
                <c:pt idx="3">
                  <c:v>9</c:v>
                </c:pt>
                <c:pt idx="4">
                  <c:v>10.4</c:v>
                </c:pt>
              </c:numCache>
            </c:numRef>
          </c:val>
        </c:ser>
        <c:dLbls>
          <c:numFmt formatCode="#,##0" sourceLinked="0"/>
          <c:txPr>
            <a:bodyPr/>
            <a:lstStyle/>
            <a:p>
              <a:pPr>
                <a:defRPr b="0" i="0" strike="noStrike" sz="1000" u="none">
                  <a:solidFill>
                    <a:srgbClr val="1B3A6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stacked"/>
        <c:varyColors val="0"/>
        <c:ser>
          <c:idx val="0"/>
          <c:order val="0"/>
          <c:tx>
            <c:strRef>
              <c:f>Sheet1!$B$1</c:f>
              <c:strCache>
                <c:ptCount val="1"/>
                <c:pt idx="0">
                  <c:v>Consumer ARR</c:v>
                </c:pt>
              </c:strCache>
            </c:strRef>
          </c:tx>
          <c:spPr>
            <a:solidFill>
              <a:srgbClr val="1B3A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24500</c:v>
                </c:pt>
                <c:pt idx="1">
                  <c:v>122500</c:v>
                </c:pt>
                <c:pt idx="2">
                  <c:v>490000</c:v>
                </c:pt>
              </c:numCache>
            </c:numRef>
          </c:val>
        </c:ser>
        <c:ser>
          <c:idx val="1"/>
          <c:order val="1"/>
          <c:tx>
            <c:strRef>
              <c:f>Sheet1!$C$1</c:f>
              <c:strCache>
                <c:ptCount val="1"/>
                <c:pt idx="0">
                  <c:v>B2B Partner ARR</c:v>
                </c:pt>
              </c:strCache>
            </c:strRef>
          </c:tx>
          <c:spPr>
            <a:solidFill>
              <a:srgbClr val="006B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3600</c:v>
                </c:pt>
                <c:pt idx="1">
                  <c:v>18000</c:v>
                </c:pt>
                <c:pt idx="2">
                  <c:v>54000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D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solidFill>
                <a:srgbClr val="5D6D7E"/>
              </a:solidFill>
            </a:defRPr>
          </a:pPr>
          <a:endParaRPr lang="en-US"/>
        </a:p>
      </c:txPr>
    </c:legend>
    <c:plotVisOnly val="1"/>
    <c:dispBlanksAs val="span"/>
  </c:chart>
  <c:spPr>
    <a:solidFill>
      <a:srgbClr val="F4F6F9"/>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C0000"/>
          </a:solidFill>
          <a:ln w="12700">
            <a:solidFill>
              <a:srgbClr val="CC0000"/>
            </a:solidFill>
            <a:prstDash val="solid"/>
          </a:ln>
        </p:spPr>
      </p:sp>
      <p:sp>
        <p:nvSpPr>
          <p:cNvPr id="3" name="Shape 1"/>
          <p:cNvSpPr/>
          <p:nvPr/>
        </p:nvSpPr>
        <p:spPr>
          <a:xfrm>
            <a:off x="640080" y="384048"/>
            <a:ext cx="1234440" cy="1234440"/>
          </a:xfrm>
          <a:prstGeom prst="oval">
            <a:avLst/>
          </a:prstGeom>
          <a:solidFill>
            <a:srgbClr val="FFFFFF">
              <a:alpha val="12000"/>
            </a:srgbClr>
          </a:solidFill>
          <a:ln w="25400">
            <a:solidFill>
              <a:srgbClr val="C49A3C"/>
            </a:solidFill>
            <a:prstDash val="solid"/>
          </a:ln>
        </p:spPr>
      </p:sp>
      <p:sp>
        <p:nvSpPr>
          <p:cNvPr id="4" name="Text 2"/>
          <p:cNvSpPr/>
          <p:nvPr/>
        </p:nvSpPr>
        <p:spPr>
          <a:xfrm>
            <a:off x="640080" y="384048"/>
            <a:ext cx="1234440" cy="1234440"/>
          </a:xfrm>
          <a:prstGeom prst="rect">
            <a:avLst/>
          </a:prstGeom>
          <a:noFill/>
          <a:ln/>
        </p:spPr>
        <p:txBody>
          <a:bodyPr wrap="square" lIns="0" tIns="0" rIns="0" bIns="0" rtlCol="0" anchor="ctr"/>
          <a:lstStyle/>
          <a:p>
            <a:pPr algn="ctr" indent="0" marL="0">
              <a:buNone/>
            </a:pPr>
            <a:r>
              <a:rPr lang="en-US" sz="3600" b="1" i="1" dirty="0">
                <a:solidFill>
                  <a:srgbClr val="FFFFFF"/>
                </a:solidFill>
                <a:latin typeface="Georgia" pitchFamily="34" charset="0"/>
                <a:ea typeface="Georgia" pitchFamily="34" charset="-122"/>
                <a:cs typeface="Georgia" pitchFamily="34" charset="-120"/>
              </a:rPr>
              <a:t>SL</a:t>
            </a:r>
            <a:endParaRPr lang="en-US" sz="3600" dirty="0"/>
          </a:p>
        </p:txBody>
      </p:sp>
      <p:sp>
        <p:nvSpPr>
          <p:cNvPr id="5" name="Text 3"/>
          <p:cNvSpPr/>
          <p:nvPr/>
        </p:nvSpPr>
        <p:spPr>
          <a:xfrm>
            <a:off x="640080" y="1691640"/>
            <a:ext cx="1417320" cy="256032"/>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SOLACE LIFE</a:t>
            </a:r>
            <a:endParaRPr lang="en-US" sz="1000" dirty="0"/>
          </a:p>
        </p:txBody>
      </p:sp>
      <p:sp>
        <p:nvSpPr>
          <p:cNvPr id="6" name="Shape 4"/>
          <p:cNvSpPr/>
          <p:nvPr/>
        </p:nvSpPr>
        <p:spPr>
          <a:xfrm>
            <a:off x="640080" y="2011680"/>
            <a:ext cx="4114800" cy="36576"/>
          </a:xfrm>
          <a:prstGeom prst="rect">
            <a:avLst/>
          </a:prstGeom>
          <a:solidFill>
            <a:srgbClr val="C49A3C"/>
          </a:solidFill>
          <a:ln w="12700">
            <a:solidFill>
              <a:srgbClr val="C49A3C"/>
            </a:solidFill>
            <a:prstDash val="solid"/>
          </a:ln>
        </p:spPr>
      </p:sp>
      <p:sp>
        <p:nvSpPr>
          <p:cNvPr id="7" name="Text 5"/>
          <p:cNvSpPr/>
          <p:nvPr/>
        </p:nvSpPr>
        <p:spPr>
          <a:xfrm>
            <a:off x="640080" y="2121408"/>
            <a:ext cx="5486400" cy="658368"/>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Solace Life</a:t>
            </a:r>
            <a:endParaRPr lang="en-US" sz="4000" dirty="0"/>
          </a:p>
        </p:txBody>
      </p:sp>
      <p:sp>
        <p:nvSpPr>
          <p:cNvPr id="8" name="Text 6"/>
          <p:cNvSpPr/>
          <p:nvPr/>
        </p:nvSpPr>
        <p:spPr>
          <a:xfrm>
            <a:off x="640080" y="2788920"/>
            <a:ext cx="5943600" cy="384048"/>
          </a:xfrm>
          <a:prstGeom prst="rect">
            <a:avLst/>
          </a:prstGeom>
          <a:noFill/>
          <a:ln/>
        </p:spPr>
        <p:txBody>
          <a:bodyPr wrap="square" lIns="0" tIns="0" rIns="0" bIns="0" rtlCol="0" anchor="ctr"/>
          <a:lstStyle/>
          <a:p>
            <a:pPr indent="0" marL="0">
              <a:buNone/>
            </a:pPr>
            <a:r>
              <a:rPr lang="en-US" sz="1800" dirty="0">
                <a:solidFill>
                  <a:srgbClr val="ECF0F1"/>
                </a:solidFill>
                <a:latin typeface="Calibri" pitchFamily="34" charset="0"/>
                <a:ea typeface="Calibri" pitchFamily="34" charset="-122"/>
                <a:cs typeface="Calibri" pitchFamily="34" charset="-120"/>
              </a:rPr>
              <a:t>Digital Legacy Platform for Aging Canadians</a:t>
            </a:r>
            <a:endParaRPr lang="en-US" sz="1800" dirty="0"/>
          </a:p>
        </p:txBody>
      </p:sp>
      <p:sp>
        <p:nvSpPr>
          <p:cNvPr id="9" name="Shape 7"/>
          <p:cNvSpPr/>
          <p:nvPr/>
        </p:nvSpPr>
        <p:spPr>
          <a:xfrm>
            <a:off x="640080" y="3310128"/>
            <a:ext cx="2331720" cy="347472"/>
          </a:xfrm>
          <a:prstGeom prst="rect">
            <a:avLst/>
          </a:prstGeom>
          <a:solidFill>
            <a:srgbClr val="FFFFFF">
              <a:alpha val="15000"/>
            </a:srgbClr>
          </a:solidFill>
          <a:ln w="12700">
            <a:solidFill>
              <a:srgbClr val="FFFFFF"/>
            </a:solidFill>
            <a:prstDash val="solid"/>
          </a:ln>
        </p:spPr>
      </p:sp>
      <p:sp>
        <p:nvSpPr>
          <p:cNvPr id="10" name="Text 8"/>
          <p:cNvSpPr/>
          <p:nvPr/>
        </p:nvSpPr>
        <p:spPr>
          <a:xfrm>
            <a:off x="640080" y="3310128"/>
            <a:ext cx="233172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NRC IRAP Application</a:t>
            </a:r>
            <a:endParaRPr lang="en-US" sz="950" dirty="0"/>
          </a:p>
        </p:txBody>
      </p:sp>
      <p:sp>
        <p:nvSpPr>
          <p:cNvPr id="11" name="Shape 9"/>
          <p:cNvSpPr/>
          <p:nvPr/>
        </p:nvSpPr>
        <p:spPr>
          <a:xfrm>
            <a:off x="3127248" y="3310128"/>
            <a:ext cx="2331720" cy="347472"/>
          </a:xfrm>
          <a:prstGeom prst="rect">
            <a:avLst/>
          </a:prstGeom>
          <a:solidFill>
            <a:srgbClr val="FFFFFF">
              <a:alpha val="15000"/>
            </a:srgbClr>
          </a:solidFill>
          <a:ln w="12700">
            <a:solidFill>
              <a:srgbClr val="FFFFFF"/>
            </a:solidFill>
            <a:prstDash val="solid"/>
          </a:ln>
        </p:spPr>
      </p:sp>
      <p:sp>
        <p:nvSpPr>
          <p:cNvPr id="12" name="Text 10"/>
          <p:cNvSpPr/>
          <p:nvPr/>
        </p:nvSpPr>
        <p:spPr>
          <a:xfrm>
            <a:off x="3127248" y="3310128"/>
            <a:ext cx="233172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SR&amp;ED Tax Credit</a:t>
            </a:r>
            <a:endParaRPr lang="en-US" sz="950" dirty="0"/>
          </a:p>
        </p:txBody>
      </p:sp>
      <p:sp>
        <p:nvSpPr>
          <p:cNvPr id="13" name="Shape 11"/>
          <p:cNvSpPr/>
          <p:nvPr/>
        </p:nvSpPr>
        <p:spPr>
          <a:xfrm>
            <a:off x="5614416" y="3310128"/>
            <a:ext cx="2331720" cy="347472"/>
          </a:xfrm>
          <a:prstGeom prst="rect">
            <a:avLst/>
          </a:prstGeom>
          <a:solidFill>
            <a:srgbClr val="FFFFFF">
              <a:alpha val="15000"/>
            </a:srgbClr>
          </a:solidFill>
          <a:ln w="12700">
            <a:solidFill>
              <a:srgbClr val="FFFFFF"/>
            </a:solidFill>
            <a:prstDash val="solid"/>
          </a:ln>
        </p:spPr>
      </p:sp>
      <p:sp>
        <p:nvSpPr>
          <p:cNvPr id="14" name="Text 12"/>
          <p:cNvSpPr/>
          <p:nvPr/>
        </p:nvSpPr>
        <p:spPr>
          <a:xfrm>
            <a:off x="5614416" y="3310128"/>
            <a:ext cx="233172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Technology Innovation</a:t>
            </a:r>
            <a:endParaRPr lang="en-US" sz="950" dirty="0"/>
          </a:p>
        </p:txBody>
      </p:sp>
      <p:sp>
        <p:nvSpPr>
          <p:cNvPr id="15" name="Shape 13"/>
          <p:cNvSpPr/>
          <p:nvPr/>
        </p:nvSpPr>
        <p:spPr>
          <a:xfrm>
            <a:off x="6400800" y="0"/>
            <a:ext cx="2743200" cy="5143500"/>
          </a:xfrm>
          <a:prstGeom prst="rect">
            <a:avLst/>
          </a:prstGeom>
          <a:solidFill>
            <a:srgbClr val="0D2240"/>
          </a:solidFill>
          <a:ln w="12700">
            <a:solidFill>
              <a:srgbClr val="0D2240"/>
            </a:solidFill>
            <a:prstDash val="solid"/>
          </a:ln>
        </p:spPr>
      </p:sp>
      <p:sp>
        <p:nvSpPr>
          <p:cNvPr id="16" name="Shape 14"/>
          <p:cNvSpPr/>
          <p:nvPr/>
        </p:nvSpPr>
        <p:spPr>
          <a:xfrm>
            <a:off x="6400800" y="731520"/>
            <a:ext cx="2743200" cy="566928"/>
          </a:xfrm>
          <a:prstGeom prst="rect">
            <a:avLst/>
          </a:prstGeom>
          <a:solidFill>
            <a:srgbClr val="FFFFFF">
              <a:alpha val="6000"/>
            </a:srgbClr>
          </a:solidFill>
          <a:ln w="12700">
            <a:solidFill>
              <a:srgbClr val="FFFFFF"/>
            </a:solidFill>
            <a:prstDash val="solid"/>
          </a:ln>
        </p:spPr>
      </p:sp>
      <p:sp>
        <p:nvSpPr>
          <p:cNvPr id="17" name="Text 15"/>
          <p:cNvSpPr/>
          <p:nvPr/>
        </p:nvSpPr>
        <p:spPr>
          <a:xfrm>
            <a:off x="6473952" y="768096"/>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Applicant</a:t>
            </a:r>
            <a:endParaRPr lang="en-US" sz="850" dirty="0"/>
          </a:p>
        </p:txBody>
      </p:sp>
      <p:sp>
        <p:nvSpPr>
          <p:cNvPr id="18" name="Text 16"/>
          <p:cNvSpPr/>
          <p:nvPr/>
        </p:nvSpPr>
        <p:spPr>
          <a:xfrm>
            <a:off x="6473952" y="1005840"/>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Sokha Eang</a:t>
            </a:r>
            <a:endParaRPr lang="en-US" sz="1000" dirty="0"/>
          </a:p>
        </p:txBody>
      </p:sp>
      <p:sp>
        <p:nvSpPr>
          <p:cNvPr id="19" name="Shape 17"/>
          <p:cNvSpPr/>
          <p:nvPr/>
        </p:nvSpPr>
        <p:spPr>
          <a:xfrm>
            <a:off x="6400800" y="1344168"/>
            <a:ext cx="2743200" cy="566928"/>
          </a:xfrm>
          <a:prstGeom prst="rect">
            <a:avLst/>
          </a:prstGeom>
          <a:solidFill>
            <a:srgbClr val="FFFFFF">
              <a:alpha val="3000"/>
            </a:srgbClr>
          </a:solidFill>
          <a:ln w="12700">
            <a:solidFill>
              <a:srgbClr val="FFFFFF"/>
            </a:solidFill>
            <a:prstDash val="solid"/>
          </a:ln>
        </p:spPr>
      </p:sp>
      <p:sp>
        <p:nvSpPr>
          <p:cNvPr id="20" name="Text 18"/>
          <p:cNvSpPr/>
          <p:nvPr/>
        </p:nvSpPr>
        <p:spPr>
          <a:xfrm>
            <a:off x="6473952" y="1380744"/>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Company</a:t>
            </a:r>
            <a:endParaRPr lang="en-US" sz="850" dirty="0"/>
          </a:p>
        </p:txBody>
      </p:sp>
      <p:sp>
        <p:nvSpPr>
          <p:cNvPr id="21" name="Text 19"/>
          <p:cNvSpPr/>
          <p:nvPr/>
        </p:nvSpPr>
        <p:spPr>
          <a:xfrm>
            <a:off x="6473952" y="1618488"/>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Solace Life Inc.</a:t>
            </a:r>
            <a:endParaRPr lang="en-US" sz="1000" dirty="0"/>
          </a:p>
        </p:txBody>
      </p:sp>
      <p:sp>
        <p:nvSpPr>
          <p:cNvPr id="22" name="Shape 20"/>
          <p:cNvSpPr/>
          <p:nvPr/>
        </p:nvSpPr>
        <p:spPr>
          <a:xfrm>
            <a:off x="6400800" y="1956816"/>
            <a:ext cx="2743200" cy="566928"/>
          </a:xfrm>
          <a:prstGeom prst="rect">
            <a:avLst/>
          </a:prstGeom>
          <a:solidFill>
            <a:srgbClr val="FFFFFF">
              <a:alpha val="6000"/>
            </a:srgbClr>
          </a:solidFill>
          <a:ln w="12700">
            <a:solidFill>
              <a:srgbClr val="FFFFFF"/>
            </a:solidFill>
            <a:prstDash val="solid"/>
          </a:ln>
        </p:spPr>
      </p:sp>
      <p:sp>
        <p:nvSpPr>
          <p:cNvPr id="23" name="Text 21"/>
          <p:cNvSpPr/>
          <p:nvPr/>
        </p:nvSpPr>
        <p:spPr>
          <a:xfrm>
            <a:off x="6473952" y="1993392"/>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Location</a:t>
            </a:r>
            <a:endParaRPr lang="en-US" sz="850" dirty="0"/>
          </a:p>
        </p:txBody>
      </p:sp>
      <p:sp>
        <p:nvSpPr>
          <p:cNvPr id="24" name="Text 22"/>
          <p:cNvSpPr/>
          <p:nvPr/>
        </p:nvSpPr>
        <p:spPr>
          <a:xfrm>
            <a:off x="6473952" y="2231136"/>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Vancouver, BC</a:t>
            </a:r>
            <a:endParaRPr lang="en-US" sz="1000" dirty="0"/>
          </a:p>
        </p:txBody>
      </p:sp>
      <p:sp>
        <p:nvSpPr>
          <p:cNvPr id="25" name="Shape 23"/>
          <p:cNvSpPr/>
          <p:nvPr/>
        </p:nvSpPr>
        <p:spPr>
          <a:xfrm>
            <a:off x="6400800" y="2569464"/>
            <a:ext cx="2743200" cy="566928"/>
          </a:xfrm>
          <a:prstGeom prst="rect">
            <a:avLst/>
          </a:prstGeom>
          <a:solidFill>
            <a:srgbClr val="FFFFFF">
              <a:alpha val="3000"/>
            </a:srgbClr>
          </a:solidFill>
          <a:ln w="12700">
            <a:solidFill>
              <a:srgbClr val="FFFFFF"/>
            </a:solidFill>
            <a:prstDash val="solid"/>
          </a:ln>
        </p:spPr>
      </p:sp>
      <p:sp>
        <p:nvSpPr>
          <p:cNvPr id="26" name="Text 24"/>
          <p:cNvSpPr/>
          <p:nvPr/>
        </p:nvSpPr>
        <p:spPr>
          <a:xfrm>
            <a:off x="6473952" y="2606040"/>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Date</a:t>
            </a:r>
            <a:endParaRPr lang="en-US" sz="850" dirty="0"/>
          </a:p>
        </p:txBody>
      </p:sp>
      <p:sp>
        <p:nvSpPr>
          <p:cNvPr id="27" name="Text 25"/>
          <p:cNvSpPr/>
          <p:nvPr/>
        </p:nvSpPr>
        <p:spPr>
          <a:xfrm>
            <a:off x="6473952" y="2843784"/>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May 2026</a:t>
            </a:r>
            <a:endParaRPr lang="en-US" sz="1000" dirty="0"/>
          </a:p>
        </p:txBody>
      </p:sp>
      <p:sp>
        <p:nvSpPr>
          <p:cNvPr id="28" name="Shape 26"/>
          <p:cNvSpPr/>
          <p:nvPr/>
        </p:nvSpPr>
        <p:spPr>
          <a:xfrm>
            <a:off x="6400800" y="3182112"/>
            <a:ext cx="2743200" cy="566928"/>
          </a:xfrm>
          <a:prstGeom prst="rect">
            <a:avLst/>
          </a:prstGeom>
          <a:solidFill>
            <a:srgbClr val="FFFFFF">
              <a:alpha val="6000"/>
            </a:srgbClr>
          </a:solidFill>
          <a:ln w="12700">
            <a:solidFill>
              <a:srgbClr val="FFFFFF"/>
            </a:solidFill>
            <a:prstDash val="solid"/>
          </a:ln>
        </p:spPr>
      </p:sp>
      <p:sp>
        <p:nvSpPr>
          <p:cNvPr id="29" name="Text 27"/>
          <p:cNvSpPr/>
          <p:nvPr/>
        </p:nvSpPr>
        <p:spPr>
          <a:xfrm>
            <a:off x="6473952" y="3218688"/>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Stage</a:t>
            </a:r>
            <a:endParaRPr lang="en-US" sz="850" dirty="0"/>
          </a:p>
        </p:txBody>
      </p:sp>
      <p:sp>
        <p:nvSpPr>
          <p:cNvPr id="30" name="Text 28"/>
          <p:cNvSpPr/>
          <p:nvPr/>
        </p:nvSpPr>
        <p:spPr>
          <a:xfrm>
            <a:off x="6473952" y="3456432"/>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Pre-revenue / Launch ready</a:t>
            </a:r>
            <a:endParaRPr lang="en-US" sz="1000" dirty="0"/>
          </a:p>
        </p:txBody>
      </p:sp>
      <p:sp>
        <p:nvSpPr>
          <p:cNvPr id="31" name="Shape 29"/>
          <p:cNvSpPr/>
          <p:nvPr/>
        </p:nvSpPr>
        <p:spPr>
          <a:xfrm>
            <a:off x="6400800" y="3794760"/>
            <a:ext cx="2743200" cy="566928"/>
          </a:xfrm>
          <a:prstGeom prst="rect">
            <a:avLst/>
          </a:prstGeom>
          <a:solidFill>
            <a:srgbClr val="FFFFFF">
              <a:alpha val="3000"/>
            </a:srgbClr>
          </a:solidFill>
          <a:ln w="12700">
            <a:solidFill>
              <a:srgbClr val="FFFFFF"/>
            </a:solidFill>
            <a:prstDash val="solid"/>
          </a:ln>
        </p:spPr>
      </p:sp>
      <p:sp>
        <p:nvSpPr>
          <p:cNvPr id="32" name="Text 30"/>
          <p:cNvSpPr/>
          <p:nvPr/>
        </p:nvSpPr>
        <p:spPr>
          <a:xfrm>
            <a:off x="6473952" y="3831336"/>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Category</a:t>
            </a:r>
            <a:endParaRPr lang="en-US" sz="850" dirty="0"/>
          </a:p>
        </p:txBody>
      </p:sp>
      <p:sp>
        <p:nvSpPr>
          <p:cNvPr id="33" name="Text 31"/>
          <p:cNvSpPr/>
          <p:nvPr/>
        </p:nvSpPr>
        <p:spPr>
          <a:xfrm>
            <a:off x="6473952" y="4069080"/>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Digital Health Technology</a:t>
            </a:r>
            <a:endParaRPr lang="en-US" sz="1000" dirty="0"/>
          </a:p>
        </p:txBody>
      </p:sp>
      <p:sp>
        <p:nvSpPr>
          <p:cNvPr id="34" name="Shape 32"/>
          <p:cNvSpPr/>
          <p:nvPr/>
        </p:nvSpPr>
        <p:spPr>
          <a:xfrm>
            <a:off x="6400800" y="4407408"/>
            <a:ext cx="2743200" cy="566928"/>
          </a:xfrm>
          <a:prstGeom prst="rect">
            <a:avLst/>
          </a:prstGeom>
          <a:solidFill>
            <a:srgbClr val="FFFFFF">
              <a:alpha val="6000"/>
            </a:srgbClr>
          </a:solidFill>
          <a:ln w="12700">
            <a:solidFill>
              <a:srgbClr val="FFFFFF"/>
            </a:solidFill>
            <a:prstDash val="solid"/>
          </a:ln>
        </p:spPr>
      </p:sp>
      <p:sp>
        <p:nvSpPr>
          <p:cNvPr id="35" name="Text 33"/>
          <p:cNvSpPr/>
          <p:nvPr/>
        </p:nvSpPr>
        <p:spPr>
          <a:xfrm>
            <a:off x="6473952" y="4443984"/>
            <a:ext cx="1005840" cy="274320"/>
          </a:xfrm>
          <a:prstGeom prst="rect">
            <a:avLst/>
          </a:prstGeom>
          <a:noFill/>
          <a:ln/>
        </p:spPr>
        <p:txBody>
          <a:bodyPr wrap="square" lIns="0" tIns="0" rIns="0" bIns="0" rtlCol="0" anchor="ctr"/>
          <a:lstStyle/>
          <a:p>
            <a:pPr indent="0" marL="0">
              <a:buNone/>
            </a:pPr>
            <a:r>
              <a:rPr lang="en-US" sz="850" b="1" dirty="0">
                <a:solidFill>
                  <a:srgbClr val="ECF0F1">
                    <a:alpha val="80000"/>
                  </a:srgbClr>
                </a:solidFill>
                <a:latin typeface="Calibri" pitchFamily="34" charset="0"/>
                <a:ea typeface="Calibri" pitchFamily="34" charset="-122"/>
                <a:cs typeface="Calibri" pitchFamily="34" charset="-120"/>
              </a:rPr>
              <a:t>NAICS</a:t>
            </a:r>
            <a:endParaRPr lang="en-US" sz="850" dirty="0"/>
          </a:p>
        </p:txBody>
      </p:sp>
      <p:sp>
        <p:nvSpPr>
          <p:cNvPr id="36" name="Text 34"/>
          <p:cNvSpPr/>
          <p:nvPr/>
        </p:nvSpPr>
        <p:spPr>
          <a:xfrm>
            <a:off x="6473952" y="4681728"/>
            <a:ext cx="251460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511210 — Software Publishers</a:t>
            </a:r>
            <a:endParaRPr lang="en-US" sz="1000" dirty="0"/>
          </a:p>
        </p:txBody>
      </p:sp>
      <p:sp>
        <p:nvSpPr>
          <p:cNvPr id="37" name="Text 35"/>
          <p:cNvSpPr/>
          <p:nvPr/>
        </p:nvSpPr>
        <p:spPr>
          <a:xfrm>
            <a:off x="8503920" y="4919472"/>
            <a:ext cx="502920" cy="201168"/>
          </a:xfrm>
          <a:prstGeom prst="rect">
            <a:avLst/>
          </a:prstGeom>
          <a:noFill/>
          <a:ln/>
        </p:spPr>
        <p:txBody>
          <a:bodyPr wrap="square" lIns="0" tIns="0" rIns="0" bIns="0" rtlCol="0" anchor="ctr"/>
          <a:lstStyle/>
          <a:p>
            <a:pPr algn="r" indent="0" marL="0">
              <a:buNone/>
            </a:pPr>
            <a:r>
              <a:rPr lang="en-US" sz="800" dirty="0">
                <a:solidFill>
                  <a:srgbClr val="FFFFFF">
                    <a:alpha val="60000"/>
                  </a:srgbClr>
                </a:solidFill>
                <a:latin typeface="Calibri" pitchFamily="34" charset="0"/>
                <a:ea typeface="Calibri" pitchFamily="34" charset="-122"/>
                <a:cs typeface="Calibri" pitchFamily="34" charset="-120"/>
              </a:rPr>
              <a:t>1 of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Executive Summary</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Company overview and funding purpose</a:t>
            </a:r>
            <a:endParaRPr lang="en-US" sz="1200" dirty="0"/>
          </a:p>
        </p:txBody>
      </p:sp>
      <p:sp>
        <p:nvSpPr>
          <p:cNvPr id="12" name="Shape 10"/>
          <p:cNvSpPr/>
          <p:nvPr/>
        </p:nvSpPr>
        <p:spPr>
          <a:xfrm>
            <a:off x="256032" y="1719072"/>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256032" y="1719072"/>
            <a:ext cx="4251960" cy="91440"/>
          </a:xfrm>
          <a:prstGeom prst="rect">
            <a:avLst/>
          </a:prstGeom>
          <a:solidFill>
            <a:srgbClr val="1B3A6B"/>
          </a:solidFill>
          <a:ln w="12700">
            <a:solidFill>
              <a:srgbClr val="1B3A6B"/>
            </a:solidFill>
            <a:prstDash val="solid"/>
          </a:ln>
        </p:spPr>
      </p:sp>
      <p:sp>
        <p:nvSpPr>
          <p:cNvPr id="14" name="Text 12"/>
          <p:cNvSpPr/>
          <p:nvPr/>
        </p:nvSpPr>
        <p:spPr>
          <a:xfrm>
            <a:off x="420624" y="1883664"/>
            <a:ext cx="3931920" cy="292608"/>
          </a:xfrm>
          <a:prstGeom prst="rect">
            <a:avLst/>
          </a:prstGeom>
          <a:noFill/>
          <a:ln/>
        </p:spPr>
        <p:txBody>
          <a:bodyPr wrap="square" lIns="0" tIns="0" rIns="0" bIns="0"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The Company</a:t>
            </a:r>
            <a:endParaRPr lang="en-US" sz="1300" dirty="0"/>
          </a:p>
        </p:txBody>
      </p:sp>
      <p:sp>
        <p:nvSpPr>
          <p:cNvPr id="15" name="Text 13"/>
          <p:cNvSpPr/>
          <p:nvPr/>
        </p:nvSpPr>
        <p:spPr>
          <a:xfrm>
            <a:off x="420624" y="2212848"/>
            <a:ext cx="393192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Solace Life is a Canadian mobile technology platform that enables individuals to record voice messages, video memories, and written notes — scheduled for future delivery to family members on dates of personal significance. The platform serves Canadians confronting aging, end-of-life planning, and legacy preservation.</a:t>
            </a:r>
            <a:endParaRPr lang="en-US" sz="1050" dirty="0"/>
          </a:p>
        </p:txBody>
      </p:sp>
      <p:sp>
        <p:nvSpPr>
          <p:cNvPr id="16" name="Shape 14"/>
          <p:cNvSpPr/>
          <p:nvPr/>
        </p:nvSpPr>
        <p:spPr>
          <a:xfrm>
            <a:off x="4690872" y="1719072"/>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7" name="Shape 15"/>
          <p:cNvSpPr/>
          <p:nvPr/>
        </p:nvSpPr>
        <p:spPr>
          <a:xfrm>
            <a:off x="4690872" y="1719072"/>
            <a:ext cx="4251960" cy="91440"/>
          </a:xfrm>
          <a:prstGeom prst="rect">
            <a:avLst/>
          </a:prstGeom>
          <a:solidFill>
            <a:srgbClr val="006B6B"/>
          </a:solidFill>
          <a:ln w="12700">
            <a:solidFill>
              <a:srgbClr val="006B6B"/>
            </a:solidFill>
            <a:prstDash val="solid"/>
          </a:ln>
        </p:spPr>
      </p:sp>
      <p:sp>
        <p:nvSpPr>
          <p:cNvPr id="18" name="Text 16"/>
          <p:cNvSpPr/>
          <p:nvPr/>
        </p:nvSpPr>
        <p:spPr>
          <a:xfrm>
            <a:off x="4855464" y="1883664"/>
            <a:ext cx="3931920" cy="292608"/>
          </a:xfrm>
          <a:prstGeom prst="rect">
            <a:avLst/>
          </a:prstGeom>
          <a:noFill/>
          <a:ln/>
        </p:spPr>
        <p:txBody>
          <a:bodyPr wrap="square" lIns="0" tIns="0" rIns="0" bIns="0" rtlCol="0" anchor="ctr"/>
          <a:lstStyle/>
          <a:p>
            <a:pPr indent="0" marL="0">
              <a:buNone/>
            </a:pPr>
            <a:r>
              <a:rPr lang="en-US" sz="1300" b="1" dirty="0">
                <a:solidFill>
                  <a:srgbClr val="006B6B"/>
                </a:solidFill>
                <a:latin typeface="Calibri" pitchFamily="34" charset="0"/>
                <a:ea typeface="Calibri" pitchFamily="34" charset="-122"/>
                <a:cs typeface="Calibri" pitchFamily="34" charset="-120"/>
              </a:rPr>
              <a:t>The Innovation</a:t>
            </a:r>
            <a:endParaRPr lang="en-US" sz="1300" dirty="0"/>
          </a:p>
        </p:txBody>
      </p:sp>
      <p:sp>
        <p:nvSpPr>
          <p:cNvPr id="19" name="Text 17"/>
          <p:cNvSpPr/>
          <p:nvPr/>
        </p:nvSpPr>
        <p:spPr>
          <a:xfrm>
            <a:off x="4855464" y="2212848"/>
            <a:ext cx="393192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Solace Life introduces an AI-assisted memory assistant, an automated check-in system with death-confirmation protocols, and a professional partner network connecting users to estate lawyers, grief counsellors, and seniors care facilities — none of which exist in a single integrated Canadian platform.</a:t>
            </a:r>
            <a:endParaRPr lang="en-US" sz="1050" dirty="0"/>
          </a:p>
        </p:txBody>
      </p:sp>
      <p:sp>
        <p:nvSpPr>
          <p:cNvPr id="20" name="Shape 18"/>
          <p:cNvSpPr/>
          <p:nvPr/>
        </p:nvSpPr>
        <p:spPr>
          <a:xfrm>
            <a:off x="256032" y="3291840"/>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1" name="Shape 19"/>
          <p:cNvSpPr/>
          <p:nvPr/>
        </p:nvSpPr>
        <p:spPr>
          <a:xfrm>
            <a:off x="256032" y="3291840"/>
            <a:ext cx="4251960" cy="91440"/>
          </a:xfrm>
          <a:prstGeom prst="rect">
            <a:avLst/>
          </a:prstGeom>
          <a:solidFill>
            <a:srgbClr val="CC0000"/>
          </a:solidFill>
          <a:ln w="12700">
            <a:solidFill>
              <a:srgbClr val="CC0000"/>
            </a:solidFill>
            <a:prstDash val="solid"/>
          </a:ln>
        </p:spPr>
      </p:sp>
      <p:sp>
        <p:nvSpPr>
          <p:cNvPr id="22" name="Text 20"/>
          <p:cNvSpPr/>
          <p:nvPr/>
        </p:nvSpPr>
        <p:spPr>
          <a:xfrm>
            <a:off x="420624" y="3456432"/>
            <a:ext cx="3931920" cy="292608"/>
          </a:xfrm>
          <a:prstGeom prst="rect">
            <a:avLst/>
          </a:prstGeom>
          <a:noFill/>
          <a:ln/>
        </p:spPr>
        <p:txBody>
          <a:bodyPr wrap="square" lIns="0" tIns="0" rIns="0" bIns="0" rtlCol="0" anchor="ctr"/>
          <a:lstStyle/>
          <a:p>
            <a:pPr indent="0" marL="0">
              <a:buNone/>
            </a:pPr>
            <a:r>
              <a:rPr lang="en-US" sz="1300" b="1" dirty="0">
                <a:solidFill>
                  <a:srgbClr val="CC0000"/>
                </a:solidFill>
                <a:latin typeface="Calibri" pitchFamily="34" charset="0"/>
                <a:ea typeface="Calibri" pitchFamily="34" charset="-122"/>
                <a:cs typeface="Calibri" pitchFamily="34" charset="-120"/>
              </a:rPr>
              <a:t>The Market</a:t>
            </a:r>
            <a:endParaRPr lang="en-US" sz="1300" dirty="0"/>
          </a:p>
        </p:txBody>
      </p:sp>
      <p:sp>
        <p:nvSpPr>
          <p:cNvPr id="23" name="Text 21"/>
          <p:cNvSpPr/>
          <p:nvPr/>
        </p:nvSpPr>
        <p:spPr>
          <a:xfrm>
            <a:off x="420624" y="3785616"/>
            <a:ext cx="393192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Canada has 7 million citizens aged 65+, growing to 10.4 million by 2040. The global legacy tech and digital estate market is valued at $28 billion. No Canadian company has established dominance in this category.</a:t>
            </a:r>
            <a:endParaRPr lang="en-US" sz="1050" dirty="0"/>
          </a:p>
        </p:txBody>
      </p:sp>
      <p:sp>
        <p:nvSpPr>
          <p:cNvPr id="24" name="Shape 22"/>
          <p:cNvSpPr/>
          <p:nvPr/>
        </p:nvSpPr>
        <p:spPr>
          <a:xfrm>
            <a:off x="4690872" y="3291840"/>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5" name="Shape 23"/>
          <p:cNvSpPr/>
          <p:nvPr/>
        </p:nvSpPr>
        <p:spPr>
          <a:xfrm>
            <a:off x="4690872" y="3291840"/>
            <a:ext cx="4251960" cy="91440"/>
          </a:xfrm>
          <a:prstGeom prst="rect">
            <a:avLst/>
          </a:prstGeom>
          <a:solidFill>
            <a:srgbClr val="C49A3C"/>
          </a:solidFill>
          <a:ln w="12700">
            <a:solidFill>
              <a:srgbClr val="C49A3C"/>
            </a:solidFill>
            <a:prstDash val="solid"/>
          </a:ln>
        </p:spPr>
      </p:sp>
      <p:sp>
        <p:nvSpPr>
          <p:cNvPr id="26" name="Text 24"/>
          <p:cNvSpPr/>
          <p:nvPr/>
        </p:nvSpPr>
        <p:spPr>
          <a:xfrm>
            <a:off x="4855464" y="3456432"/>
            <a:ext cx="3931920" cy="292608"/>
          </a:xfrm>
          <a:prstGeom prst="rect">
            <a:avLst/>
          </a:prstGeom>
          <a:noFill/>
          <a:ln/>
        </p:spPr>
        <p:txBody>
          <a:bodyPr wrap="square" lIns="0" tIns="0" rIns="0" bIns="0" rtlCol="0" anchor="ctr"/>
          <a:lstStyle/>
          <a:p>
            <a:pPr indent="0" marL="0">
              <a:buNone/>
            </a:pPr>
            <a:r>
              <a:rPr lang="en-US" sz="1300" b="1" dirty="0">
                <a:solidFill>
                  <a:srgbClr val="C49A3C"/>
                </a:solidFill>
                <a:latin typeface="Calibri" pitchFamily="34" charset="0"/>
                <a:ea typeface="Calibri" pitchFamily="34" charset="-122"/>
                <a:cs typeface="Calibri" pitchFamily="34" charset="-120"/>
              </a:rPr>
              <a:t>The Request</a:t>
            </a:r>
            <a:endParaRPr lang="en-US" sz="1300" dirty="0"/>
          </a:p>
        </p:txBody>
      </p:sp>
      <p:sp>
        <p:nvSpPr>
          <p:cNvPr id="27" name="Text 25"/>
          <p:cNvSpPr/>
          <p:nvPr/>
        </p:nvSpPr>
        <p:spPr>
          <a:xfrm>
            <a:off x="4855464" y="3785616"/>
            <a:ext cx="393192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Solace Life is seeking $150,000 in non-dilutive funding through the NRC IRAP program to accelerate technical development, hire Canadian talent, and establish the first professional referral network for digital legacy tools in Canada.</a:t>
            </a:r>
            <a:endParaRPr lang="en-US" sz="1050" dirty="0"/>
          </a:p>
        </p:txBody>
      </p:sp>
      <p:sp>
        <p:nvSpPr>
          <p:cNvPr id="28" name="Shape 26"/>
          <p:cNvSpPr/>
          <p:nvPr/>
        </p:nvSpPr>
        <p:spPr>
          <a:xfrm>
            <a:off x="0" y="4956048"/>
            <a:ext cx="9144000" cy="187452"/>
          </a:xfrm>
          <a:prstGeom prst="rect">
            <a:avLst/>
          </a:prstGeom>
          <a:solidFill>
            <a:srgbClr val="1B3A6B"/>
          </a:solidFill>
          <a:ln w="12700">
            <a:solidFill>
              <a:srgbClr val="1B3A6B"/>
            </a:solidFill>
            <a:prstDash val="solid"/>
          </a:ln>
        </p:spPr>
      </p:sp>
      <p:sp>
        <p:nvSpPr>
          <p:cNvPr id="29" name="Text 27"/>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2 of 13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The Challenge</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Canada's aging population and the digital legacy gap</a:t>
            </a:r>
            <a:endParaRPr lang="en-US" sz="1200" dirty="0"/>
          </a:p>
        </p:txBody>
      </p:sp>
      <p:sp>
        <p:nvSpPr>
          <p:cNvPr id="12" name="Text 10"/>
          <p:cNvSpPr/>
          <p:nvPr/>
        </p:nvSpPr>
        <p:spPr>
          <a:xfrm>
            <a:off x="256032" y="1719072"/>
            <a:ext cx="4389120" cy="822960"/>
          </a:xfrm>
          <a:prstGeom prst="rect">
            <a:avLst/>
          </a:prstGeom>
          <a:noFill/>
          <a:ln/>
        </p:spPr>
        <p:txBody>
          <a:bodyPr wrap="square" rtlCol="0" anchor="ctr"/>
          <a:lstStyle/>
          <a:p>
            <a:pPr indent="0" marL="0">
              <a:lnSpc>
                <a:spcPct val="130000"/>
              </a:lnSpc>
              <a:buNone/>
            </a:pPr>
            <a:r>
              <a:rPr lang="en-US" sz="1700" b="1" dirty="0">
                <a:solidFill>
                  <a:srgbClr val="1B3A6B"/>
                </a:solidFill>
                <a:latin typeface="Calibri" pitchFamily="34" charset="0"/>
                <a:ea typeface="Calibri" pitchFamily="34" charset="-122"/>
                <a:cs typeface="Calibri" pitchFamily="34" charset="-120"/>
              </a:rPr>
              <a:t>Canada's population is aging faster than our technology is adapting.</a:t>
            </a:r>
            <a:endParaRPr lang="en-US" sz="1700" dirty="0"/>
          </a:p>
        </p:txBody>
      </p:sp>
      <p:sp>
        <p:nvSpPr>
          <p:cNvPr id="13" name="Shape 11"/>
          <p:cNvSpPr/>
          <p:nvPr/>
        </p:nvSpPr>
        <p:spPr>
          <a:xfrm>
            <a:off x="256032" y="2606040"/>
            <a:ext cx="73152" cy="310896"/>
          </a:xfrm>
          <a:prstGeom prst="rect">
            <a:avLst/>
          </a:prstGeom>
          <a:solidFill>
            <a:srgbClr val="CC0000"/>
          </a:solidFill>
          <a:ln w="12700">
            <a:solidFill>
              <a:srgbClr val="CC0000"/>
            </a:solidFill>
            <a:prstDash val="solid"/>
          </a:ln>
        </p:spPr>
      </p:sp>
      <p:sp>
        <p:nvSpPr>
          <p:cNvPr id="14" name="Text 12"/>
          <p:cNvSpPr/>
          <p:nvPr/>
        </p:nvSpPr>
        <p:spPr>
          <a:xfrm>
            <a:off x="438912" y="2606040"/>
            <a:ext cx="4206240" cy="365760"/>
          </a:xfrm>
          <a:prstGeom prst="rect">
            <a:avLst/>
          </a:prstGeom>
          <a:noFill/>
          <a:ln/>
        </p:spPr>
        <p:txBody>
          <a:bodyPr wrap="square" lIns="0" tIns="0" rIns="0" bIns="0" rtlCol="0" anchor="ctr"/>
          <a:lstStyle/>
          <a:p>
            <a:pPr indent="0" marL="0">
              <a:lnSpc>
                <a:spcPct val="120000"/>
              </a:lnSpc>
              <a:buNone/>
            </a:pPr>
            <a:r>
              <a:rPr lang="en-US" sz="1100" dirty="0">
                <a:solidFill>
                  <a:srgbClr val="1A252F"/>
                </a:solidFill>
                <a:latin typeface="Calibri" pitchFamily="34" charset="0"/>
                <a:ea typeface="Calibri" pitchFamily="34" charset="-122"/>
                <a:cs typeface="Calibri" pitchFamily="34" charset="-120"/>
              </a:rPr>
              <a:t>By 2040, 1 in 4 Canadians will be over 65 — the largest cohort in Canadian history</a:t>
            </a:r>
            <a:endParaRPr lang="en-US" sz="1100" dirty="0"/>
          </a:p>
        </p:txBody>
      </p:sp>
      <p:sp>
        <p:nvSpPr>
          <p:cNvPr id="15" name="Shape 13"/>
          <p:cNvSpPr/>
          <p:nvPr/>
        </p:nvSpPr>
        <p:spPr>
          <a:xfrm>
            <a:off x="256032" y="3054096"/>
            <a:ext cx="73152" cy="310896"/>
          </a:xfrm>
          <a:prstGeom prst="rect">
            <a:avLst/>
          </a:prstGeom>
          <a:solidFill>
            <a:srgbClr val="CC0000"/>
          </a:solidFill>
          <a:ln w="12700">
            <a:solidFill>
              <a:srgbClr val="CC0000"/>
            </a:solidFill>
            <a:prstDash val="solid"/>
          </a:ln>
        </p:spPr>
      </p:sp>
      <p:sp>
        <p:nvSpPr>
          <p:cNvPr id="16" name="Text 14"/>
          <p:cNvSpPr/>
          <p:nvPr/>
        </p:nvSpPr>
        <p:spPr>
          <a:xfrm>
            <a:off x="438912" y="3054096"/>
            <a:ext cx="4206240" cy="365760"/>
          </a:xfrm>
          <a:prstGeom prst="rect">
            <a:avLst/>
          </a:prstGeom>
          <a:noFill/>
          <a:ln/>
        </p:spPr>
        <p:txBody>
          <a:bodyPr wrap="square" lIns="0" tIns="0" rIns="0" bIns="0" rtlCol="0" anchor="ctr"/>
          <a:lstStyle/>
          <a:p>
            <a:pPr indent="0" marL="0">
              <a:lnSpc>
                <a:spcPct val="120000"/>
              </a:lnSpc>
              <a:buNone/>
            </a:pPr>
            <a:r>
              <a:rPr lang="en-US" sz="1100" dirty="0">
                <a:solidFill>
                  <a:srgbClr val="1A252F"/>
                </a:solidFill>
                <a:latin typeface="Calibri" pitchFamily="34" charset="0"/>
                <a:ea typeface="Calibri" pitchFamily="34" charset="-122"/>
                <a:cs typeface="Calibri" pitchFamily="34" charset="-120"/>
              </a:rPr>
              <a:t>330,000 Canadians die annually, the majority without leaving any recorded voice or video message for family</a:t>
            </a:r>
            <a:endParaRPr lang="en-US" sz="1100" dirty="0"/>
          </a:p>
        </p:txBody>
      </p:sp>
      <p:sp>
        <p:nvSpPr>
          <p:cNvPr id="17" name="Shape 15"/>
          <p:cNvSpPr/>
          <p:nvPr/>
        </p:nvSpPr>
        <p:spPr>
          <a:xfrm>
            <a:off x="256032" y="3502152"/>
            <a:ext cx="73152" cy="310896"/>
          </a:xfrm>
          <a:prstGeom prst="rect">
            <a:avLst/>
          </a:prstGeom>
          <a:solidFill>
            <a:srgbClr val="CC0000"/>
          </a:solidFill>
          <a:ln w="12700">
            <a:solidFill>
              <a:srgbClr val="CC0000"/>
            </a:solidFill>
            <a:prstDash val="solid"/>
          </a:ln>
        </p:spPr>
      </p:sp>
      <p:sp>
        <p:nvSpPr>
          <p:cNvPr id="18" name="Text 16"/>
          <p:cNvSpPr/>
          <p:nvPr/>
        </p:nvSpPr>
        <p:spPr>
          <a:xfrm>
            <a:off x="438912" y="3502152"/>
            <a:ext cx="4206240" cy="365760"/>
          </a:xfrm>
          <a:prstGeom prst="rect">
            <a:avLst/>
          </a:prstGeom>
          <a:noFill/>
          <a:ln/>
        </p:spPr>
        <p:txBody>
          <a:bodyPr wrap="square" lIns="0" tIns="0" rIns="0" bIns="0" rtlCol="0" anchor="ctr"/>
          <a:lstStyle/>
          <a:p>
            <a:pPr indent="0" marL="0">
              <a:lnSpc>
                <a:spcPct val="120000"/>
              </a:lnSpc>
              <a:buNone/>
            </a:pPr>
            <a:r>
              <a:rPr lang="en-US" sz="1100" dirty="0">
                <a:solidFill>
                  <a:srgbClr val="1A252F"/>
                </a:solidFill>
                <a:latin typeface="Calibri" pitchFamily="34" charset="0"/>
                <a:ea typeface="Calibri" pitchFamily="34" charset="-122"/>
                <a:cs typeface="Calibri" pitchFamily="34" charset="-120"/>
              </a:rPr>
              <a:t>Grief and bereavement cost the Canadian economy an estimated $3.4B annually in lost productivity and mental health services</a:t>
            </a:r>
            <a:endParaRPr lang="en-US" sz="1100" dirty="0"/>
          </a:p>
        </p:txBody>
      </p:sp>
      <p:sp>
        <p:nvSpPr>
          <p:cNvPr id="19" name="Shape 17"/>
          <p:cNvSpPr/>
          <p:nvPr/>
        </p:nvSpPr>
        <p:spPr>
          <a:xfrm>
            <a:off x="256032" y="3950208"/>
            <a:ext cx="73152" cy="310896"/>
          </a:xfrm>
          <a:prstGeom prst="rect">
            <a:avLst/>
          </a:prstGeom>
          <a:solidFill>
            <a:srgbClr val="CC0000"/>
          </a:solidFill>
          <a:ln w="12700">
            <a:solidFill>
              <a:srgbClr val="CC0000"/>
            </a:solidFill>
            <a:prstDash val="solid"/>
          </a:ln>
        </p:spPr>
      </p:sp>
      <p:sp>
        <p:nvSpPr>
          <p:cNvPr id="20" name="Text 18"/>
          <p:cNvSpPr/>
          <p:nvPr/>
        </p:nvSpPr>
        <p:spPr>
          <a:xfrm>
            <a:off x="438912" y="3950208"/>
            <a:ext cx="4206240" cy="365760"/>
          </a:xfrm>
          <a:prstGeom prst="rect">
            <a:avLst/>
          </a:prstGeom>
          <a:noFill/>
          <a:ln/>
        </p:spPr>
        <p:txBody>
          <a:bodyPr wrap="square" lIns="0" tIns="0" rIns="0" bIns="0" rtlCol="0" anchor="ctr"/>
          <a:lstStyle/>
          <a:p>
            <a:pPr indent="0" marL="0">
              <a:lnSpc>
                <a:spcPct val="120000"/>
              </a:lnSpc>
              <a:buNone/>
            </a:pPr>
            <a:r>
              <a:rPr lang="en-US" sz="1100" dirty="0">
                <a:solidFill>
                  <a:srgbClr val="1A252F"/>
                </a:solidFill>
                <a:latin typeface="Calibri" pitchFamily="34" charset="0"/>
                <a:ea typeface="Calibri" pitchFamily="34" charset="-122"/>
                <a:cs typeface="Calibri" pitchFamily="34" charset="-120"/>
              </a:rPr>
              <a:t>Less than 5% of Canadians have a documented digital legacy plan</a:t>
            </a:r>
            <a:endParaRPr lang="en-US" sz="1100" dirty="0"/>
          </a:p>
        </p:txBody>
      </p:sp>
      <p:sp>
        <p:nvSpPr>
          <p:cNvPr id="21" name="Shape 19"/>
          <p:cNvSpPr/>
          <p:nvPr/>
        </p:nvSpPr>
        <p:spPr>
          <a:xfrm>
            <a:off x="256032" y="4398264"/>
            <a:ext cx="73152" cy="310896"/>
          </a:xfrm>
          <a:prstGeom prst="rect">
            <a:avLst/>
          </a:prstGeom>
          <a:solidFill>
            <a:srgbClr val="CC0000"/>
          </a:solidFill>
          <a:ln w="12700">
            <a:solidFill>
              <a:srgbClr val="CC0000"/>
            </a:solidFill>
            <a:prstDash val="solid"/>
          </a:ln>
        </p:spPr>
      </p:sp>
      <p:sp>
        <p:nvSpPr>
          <p:cNvPr id="22" name="Text 20"/>
          <p:cNvSpPr/>
          <p:nvPr/>
        </p:nvSpPr>
        <p:spPr>
          <a:xfrm>
            <a:off x="438912" y="4398264"/>
            <a:ext cx="4206240" cy="365760"/>
          </a:xfrm>
          <a:prstGeom prst="rect">
            <a:avLst/>
          </a:prstGeom>
          <a:noFill/>
          <a:ln/>
        </p:spPr>
        <p:txBody>
          <a:bodyPr wrap="square" lIns="0" tIns="0" rIns="0" bIns="0" rtlCol="0" anchor="ctr"/>
          <a:lstStyle/>
          <a:p>
            <a:pPr indent="0" marL="0">
              <a:lnSpc>
                <a:spcPct val="120000"/>
              </a:lnSpc>
              <a:buNone/>
            </a:pPr>
            <a:r>
              <a:rPr lang="en-US" sz="1100" dirty="0">
                <a:solidFill>
                  <a:srgbClr val="1A252F"/>
                </a:solidFill>
                <a:latin typeface="Calibri" pitchFamily="34" charset="0"/>
                <a:ea typeface="Calibri" pitchFamily="34" charset="-122"/>
                <a:cs typeface="Calibri" pitchFamily="34" charset="-120"/>
              </a:rPr>
              <a:t>Existing tools are American-built, do not integrate with Canadian professional networks, and carry no clinical advisory component</a:t>
            </a:r>
            <a:endParaRPr lang="en-US" sz="1100" dirty="0"/>
          </a:p>
        </p:txBody>
      </p:sp>
      <p:graphicFrame>
        <p:nvGraphicFramePr>
          <p:cNvPr id="23" name="Chart 0" descr=""/>
          <p:cNvGraphicFramePr/>
          <p:nvPr/>
        </p:nvGraphicFramePr>
        <p:xfrm>
          <a:off x="4892040" y="1719072"/>
          <a:ext cx="3977640" cy="3035808"/>
        </p:xfrm>
        <a:graphic xmlns:a="http://schemas.openxmlformats.org/drawingml/2006/main">
          <a:graphicData uri="http://schemas.openxmlformats.org/drawingml/2006/chart">
            <c:chart xmlns:c="http://schemas.openxmlformats.org/drawingml/2006/chart" r:id="rId1"/>
          </a:graphicData>
        </a:graphic>
      </p:graphicFrame>
      <p:sp>
        <p:nvSpPr>
          <p:cNvPr id="24" name="Shape 21"/>
          <p:cNvSpPr/>
          <p:nvPr/>
        </p:nvSpPr>
        <p:spPr>
          <a:xfrm>
            <a:off x="0" y="4956048"/>
            <a:ext cx="9144000" cy="187452"/>
          </a:xfrm>
          <a:prstGeom prst="rect">
            <a:avLst/>
          </a:prstGeom>
          <a:solidFill>
            <a:srgbClr val="1B3A6B"/>
          </a:solidFill>
          <a:ln w="12700">
            <a:solidFill>
              <a:srgbClr val="1B3A6B"/>
            </a:solidFill>
            <a:prstDash val="solid"/>
          </a:ln>
        </p:spPr>
      </p:sp>
      <p:sp>
        <p:nvSpPr>
          <p:cNvPr id="25" name="Text 22"/>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3 of 13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The Solution</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Solace Life — Canada's first integrated digital legacy platform</a:t>
            </a:r>
            <a:endParaRPr lang="en-US" sz="1200" dirty="0"/>
          </a:p>
        </p:txBody>
      </p:sp>
      <p:sp>
        <p:nvSpPr>
          <p:cNvPr id="12" name="Shape 10"/>
          <p:cNvSpPr/>
          <p:nvPr/>
        </p:nvSpPr>
        <p:spPr>
          <a:xfrm>
            <a:off x="256032" y="1719072"/>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256032" y="1719072"/>
            <a:ext cx="502920" cy="1444752"/>
          </a:xfrm>
          <a:prstGeom prst="rect">
            <a:avLst/>
          </a:prstGeom>
          <a:solidFill>
            <a:srgbClr val="1B3A6B"/>
          </a:solidFill>
          <a:ln w="12700">
            <a:solidFill>
              <a:srgbClr val="1B3A6B"/>
            </a:solidFill>
            <a:prstDash val="solid"/>
          </a:ln>
        </p:spPr>
      </p:sp>
      <p:sp>
        <p:nvSpPr>
          <p:cNvPr id="14" name="Text 12"/>
          <p:cNvSpPr/>
          <p:nvPr/>
        </p:nvSpPr>
        <p:spPr>
          <a:xfrm>
            <a:off x="256032" y="2221992"/>
            <a:ext cx="502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5" name="Text 13"/>
          <p:cNvSpPr/>
          <p:nvPr/>
        </p:nvSpPr>
        <p:spPr>
          <a:xfrm>
            <a:off x="877824" y="1828800"/>
            <a:ext cx="3520440" cy="365760"/>
          </a:xfrm>
          <a:prstGeom prst="rect">
            <a:avLst/>
          </a:prstGeom>
          <a:noFill/>
          <a:ln/>
        </p:spPr>
        <p:txBody>
          <a:bodyPr wrap="square" lIns="0" tIns="0" rIns="0" bIns="0"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Time Capsule Delivery</a:t>
            </a:r>
            <a:endParaRPr lang="en-US" sz="1300" dirty="0"/>
          </a:p>
        </p:txBody>
      </p:sp>
      <p:sp>
        <p:nvSpPr>
          <p:cNvPr id="16" name="Text 14"/>
          <p:cNvSpPr/>
          <p:nvPr/>
        </p:nvSpPr>
        <p:spPr>
          <a:xfrm>
            <a:off x="877824" y="2221992"/>
            <a:ext cx="352044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Record voice, video, and written messages. Schedule delivery to family members on specific dates — birthdays, anniversaries, graduations, or after a confirmed passing.</a:t>
            </a:r>
            <a:endParaRPr lang="en-US" sz="1050" dirty="0"/>
          </a:p>
        </p:txBody>
      </p:sp>
      <p:sp>
        <p:nvSpPr>
          <p:cNvPr id="17" name="Shape 15"/>
          <p:cNvSpPr/>
          <p:nvPr/>
        </p:nvSpPr>
        <p:spPr>
          <a:xfrm>
            <a:off x="4690872" y="1719072"/>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4690872" y="1719072"/>
            <a:ext cx="502920" cy="1444752"/>
          </a:xfrm>
          <a:prstGeom prst="rect">
            <a:avLst/>
          </a:prstGeom>
          <a:solidFill>
            <a:srgbClr val="006B6B"/>
          </a:solidFill>
          <a:ln w="12700">
            <a:solidFill>
              <a:srgbClr val="006B6B"/>
            </a:solidFill>
            <a:prstDash val="solid"/>
          </a:ln>
        </p:spPr>
      </p:sp>
      <p:sp>
        <p:nvSpPr>
          <p:cNvPr id="19" name="Text 17"/>
          <p:cNvSpPr/>
          <p:nvPr/>
        </p:nvSpPr>
        <p:spPr>
          <a:xfrm>
            <a:off x="4690872" y="2221992"/>
            <a:ext cx="502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0" name="Text 18"/>
          <p:cNvSpPr/>
          <p:nvPr/>
        </p:nvSpPr>
        <p:spPr>
          <a:xfrm>
            <a:off x="5312664" y="1828800"/>
            <a:ext cx="3520440" cy="365760"/>
          </a:xfrm>
          <a:prstGeom prst="rect">
            <a:avLst/>
          </a:prstGeom>
          <a:noFill/>
          <a:ln/>
        </p:spPr>
        <p:txBody>
          <a:bodyPr wrap="square" lIns="0" tIns="0" rIns="0" bIns="0" rtlCol="0" anchor="ctr"/>
          <a:lstStyle/>
          <a:p>
            <a:pPr indent="0" marL="0">
              <a:buNone/>
            </a:pPr>
            <a:r>
              <a:rPr lang="en-US" sz="1300" b="1" dirty="0">
                <a:solidFill>
                  <a:srgbClr val="006B6B"/>
                </a:solidFill>
                <a:latin typeface="Calibri" pitchFamily="34" charset="0"/>
                <a:ea typeface="Calibri" pitchFamily="34" charset="-122"/>
                <a:cs typeface="Calibri" pitchFamily="34" charset="-120"/>
              </a:rPr>
              <a:t>Automated Check-In System</a:t>
            </a:r>
            <a:endParaRPr lang="en-US" sz="1300" dirty="0"/>
          </a:p>
        </p:txBody>
      </p:sp>
      <p:sp>
        <p:nvSpPr>
          <p:cNvPr id="21" name="Text 19"/>
          <p:cNvSpPr/>
          <p:nvPr/>
        </p:nvSpPr>
        <p:spPr>
          <a:xfrm>
            <a:off x="5312664" y="2221992"/>
            <a:ext cx="352044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A patented-pending dead man's switch that monitors user activity, escalates to trusted contacts, and triggers delivery protocols upon confirmation of passing.</a:t>
            </a:r>
            <a:endParaRPr lang="en-US" sz="1050" dirty="0"/>
          </a:p>
        </p:txBody>
      </p:sp>
      <p:sp>
        <p:nvSpPr>
          <p:cNvPr id="22" name="Shape 20"/>
          <p:cNvSpPr/>
          <p:nvPr/>
        </p:nvSpPr>
        <p:spPr>
          <a:xfrm>
            <a:off x="256032" y="3291840"/>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256032" y="3291840"/>
            <a:ext cx="502920" cy="1444752"/>
          </a:xfrm>
          <a:prstGeom prst="rect">
            <a:avLst/>
          </a:prstGeom>
          <a:solidFill>
            <a:srgbClr val="CC0000"/>
          </a:solidFill>
          <a:ln w="12700">
            <a:solidFill>
              <a:srgbClr val="CC0000"/>
            </a:solidFill>
            <a:prstDash val="solid"/>
          </a:ln>
        </p:spPr>
      </p:sp>
      <p:sp>
        <p:nvSpPr>
          <p:cNvPr id="24" name="Text 22"/>
          <p:cNvSpPr/>
          <p:nvPr/>
        </p:nvSpPr>
        <p:spPr>
          <a:xfrm>
            <a:off x="256032" y="3794760"/>
            <a:ext cx="502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5" name="Text 23"/>
          <p:cNvSpPr/>
          <p:nvPr/>
        </p:nvSpPr>
        <p:spPr>
          <a:xfrm>
            <a:off x="877824" y="3401568"/>
            <a:ext cx="3520440" cy="365760"/>
          </a:xfrm>
          <a:prstGeom prst="rect">
            <a:avLst/>
          </a:prstGeom>
          <a:noFill/>
          <a:ln/>
        </p:spPr>
        <p:txBody>
          <a:bodyPr wrap="square" lIns="0" tIns="0" rIns="0" bIns="0" rtlCol="0" anchor="ctr"/>
          <a:lstStyle/>
          <a:p>
            <a:pPr indent="0" marL="0">
              <a:buNone/>
            </a:pPr>
            <a:r>
              <a:rPr lang="en-US" sz="1300" b="1" dirty="0">
                <a:solidFill>
                  <a:srgbClr val="CC0000"/>
                </a:solidFill>
                <a:latin typeface="Calibri" pitchFamily="34" charset="0"/>
                <a:ea typeface="Calibri" pitchFamily="34" charset="-122"/>
                <a:cs typeface="Calibri" pitchFamily="34" charset="-120"/>
              </a:rPr>
              <a:t>Professional Partner Network</a:t>
            </a:r>
            <a:endParaRPr lang="en-US" sz="1300" dirty="0"/>
          </a:p>
        </p:txBody>
      </p:sp>
      <p:sp>
        <p:nvSpPr>
          <p:cNvPr id="26" name="Text 24"/>
          <p:cNvSpPr/>
          <p:nvPr/>
        </p:nvSpPr>
        <p:spPr>
          <a:xfrm>
            <a:off x="877824" y="3794760"/>
            <a:ext cx="352044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An integrated referral system connecting users to estate lawyers, grief counsellors, seniors home administrators, and funeral planners — all within the platform.</a:t>
            </a:r>
            <a:endParaRPr lang="en-US" sz="1050" dirty="0"/>
          </a:p>
        </p:txBody>
      </p:sp>
      <p:sp>
        <p:nvSpPr>
          <p:cNvPr id="27" name="Shape 25"/>
          <p:cNvSpPr/>
          <p:nvPr/>
        </p:nvSpPr>
        <p:spPr>
          <a:xfrm>
            <a:off x="4690872" y="3291840"/>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8" name="Shape 26"/>
          <p:cNvSpPr/>
          <p:nvPr/>
        </p:nvSpPr>
        <p:spPr>
          <a:xfrm>
            <a:off x="4690872" y="3291840"/>
            <a:ext cx="502920" cy="1444752"/>
          </a:xfrm>
          <a:prstGeom prst="rect">
            <a:avLst/>
          </a:prstGeom>
          <a:solidFill>
            <a:srgbClr val="C49A3C"/>
          </a:solidFill>
          <a:ln w="12700">
            <a:solidFill>
              <a:srgbClr val="C49A3C"/>
            </a:solidFill>
            <a:prstDash val="solid"/>
          </a:ln>
        </p:spPr>
      </p:sp>
      <p:sp>
        <p:nvSpPr>
          <p:cNvPr id="29" name="Text 27"/>
          <p:cNvSpPr/>
          <p:nvPr/>
        </p:nvSpPr>
        <p:spPr>
          <a:xfrm>
            <a:off x="4690872" y="3794760"/>
            <a:ext cx="502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0" name="Text 28"/>
          <p:cNvSpPr/>
          <p:nvPr/>
        </p:nvSpPr>
        <p:spPr>
          <a:xfrm>
            <a:off x="5312664" y="3401568"/>
            <a:ext cx="3520440" cy="365760"/>
          </a:xfrm>
          <a:prstGeom prst="rect">
            <a:avLst/>
          </a:prstGeom>
          <a:noFill/>
          <a:ln/>
        </p:spPr>
        <p:txBody>
          <a:bodyPr wrap="square" lIns="0" tIns="0" rIns="0" bIns="0" rtlCol="0" anchor="ctr"/>
          <a:lstStyle/>
          <a:p>
            <a:pPr indent="0" marL="0">
              <a:buNone/>
            </a:pPr>
            <a:r>
              <a:rPr lang="en-US" sz="1300" b="1" dirty="0">
                <a:solidFill>
                  <a:srgbClr val="C49A3C"/>
                </a:solidFill>
                <a:latin typeface="Calibri" pitchFamily="34" charset="0"/>
                <a:ea typeface="Calibri" pitchFamily="34" charset="-122"/>
                <a:cs typeface="Calibri" pitchFamily="34" charset="-120"/>
              </a:rPr>
              <a:t>AI Memory Assistant</a:t>
            </a:r>
            <a:endParaRPr lang="en-US" sz="1300" dirty="0"/>
          </a:p>
        </p:txBody>
      </p:sp>
      <p:sp>
        <p:nvSpPr>
          <p:cNvPr id="31" name="Text 29"/>
          <p:cNvSpPr/>
          <p:nvPr/>
        </p:nvSpPr>
        <p:spPr>
          <a:xfrm>
            <a:off x="5312664" y="3794760"/>
            <a:ext cx="3520440" cy="868680"/>
          </a:xfrm>
          <a:prstGeom prst="rect">
            <a:avLst/>
          </a:prstGeom>
          <a:noFill/>
          <a:ln/>
        </p:spPr>
        <p:txBody>
          <a:bodyPr wrap="square" rtlCol="0" anchor="ctr"/>
          <a:lstStyle/>
          <a:p>
            <a:pPr indent="0" marL="0">
              <a:lnSpc>
                <a:spcPct val="135000"/>
              </a:lnSpc>
              <a:buNone/>
            </a:pPr>
            <a:r>
              <a:rPr lang="en-US" sz="1050" dirty="0">
                <a:solidFill>
                  <a:srgbClr val="1A252F"/>
                </a:solidFill>
                <a:latin typeface="Calibri" pitchFamily="34" charset="0"/>
                <a:ea typeface="Calibri" pitchFamily="34" charset="-122"/>
                <a:cs typeface="Calibri" pitchFamily="34" charset="-120"/>
              </a:rPr>
              <a:t>Powered by OpenAI GPT-4o-mini, trained on each user's own vault content. Enables family to receive guided reflections on the person's memories and values — a therapeutic tool, not a novelty.</a:t>
            </a:r>
            <a:endParaRPr lang="en-US" sz="1050" dirty="0"/>
          </a:p>
        </p:txBody>
      </p:sp>
      <p:sp>
        <p:nvSpPr>
          <p:cNvPr id="32" name="Shape 30"/>
          <p:cNvSpPr/>
          <p:nvPr/>
        </p:nvSpPr>
        <p:spPr>
          <a:xfrm>
            <a:off x="0" y="4956048"/>
            <a:ext cx="9144000" cy="187452"/>
          </a:xfrm>
          <a:prstGeom prst="rect">
            <a:avLst/>
          </a:prstGeom>
          <a:solidFill>
            <a:srgbClr val="1B3A6B"/>
          </a:solidFill>
          <a:ln w="12700">
            <a:solidFill>
              <a:srgbClr val="1B3A6B"/>
            </a:solidFill>
            <a:prstDash val="solid"/>
          </a:ln>
        </p:spPr>
      </p:sp>
      <p:sp>
        <p:nvSpPr>
          <p:cNvPr id="33" name="Text 31"/>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4 of 13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Canadian Market Opportunity</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First-mover advantage in an underserved domestic market</a:t>
            </a:r>
            <a:endParaRPr lang="en-US" sz="1200" dirty="0"/>
          </a:p>
        </p:txBody>
      </p:sp>
      <p:sp>
        <p:nvSpPr>
          <p:cNvPr id="12" name="Shape 10"/>
          <p:cNvSpPr/>
          <p:nvPr/>
        </p:nvSpPr>
        <p:spPr>
          <a:xfrm>
            <a:off x="256032" y="1719072"/>
            <a:ext cx="2816352" cy="1234440"/>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256032" y="1719072"/>
            <a:ext cx="2816352" cy="73152"/>
          </a:xfrm>
          <a:prstGeom prst="rect">
            <a:avLst/>
          </a:prstGeom>
          <a:solidFill>
            <a:srgbClr val="1B3A6B"/>
          </a:solidFill>
          <a:ln w="12700">
            <a:solidFill>
              <a:srgbClr val="1B3A6B"/>
            </a:solidFill>
            <a:prstDash val="solid"/>
          </a:ln>
        </p:spPr>
      </p:sp>
      <p:sp>
        <p:nvSpPr>
          <p:cNvPr id="14" name="Text 12"/>
          <p:cNvSpPr/>
          <p:nvPr/>
        </p:nvSpPr>
        <p:spPr>
          <a:xfrm>
            <a:off x="365760" y="1810512"/>
            <a:ext cx="2606040" cy="594360"/>
          </a:xfrm>
          <a:prstGeom prst="rect">
            <a:avLst/>
          </a:prstGeom>
          <a:noFill/>
          <a:ln/>
        </p:spPr>
        <p:txBody>
          <a:bodyPr wrap="square" lIns="0" tIns="0" rIns="0" bIns="0" rtlCol="0" anchor="ctr"/>
          <a:lstStyle/>
          <a:p>
            <a:pPr algn="ctr" indent="0" marL="0">
              <a:buNone/>
            </a:pPr>
            <a:r>
              <a:rPr lang="en-US" sz="3600" b="1" dirty="0">
                <a:solidFill>
                  <a:srgbClr val="1B3A6B"/>
                </a:solidFill>
                <a:latin typeface="Calibri" pitchFamily="34" charset="0"/>
                <a:ea typeface="Calibri" pitchFamily="34" charset="-122"/>
                <a:cs typeface="Calibri" pitchFamily="34" charset="-120"/>
              </a:rPr>
              <a:t>7M</a:t>
            </a:r>
            <a:endParaRPr lang="en-US" sz="3600" dirty="0"/>
          </a:p>
        </p:txBody>
      </p:sp>
      <p:sp>
        <p:nvSpPr>
          <p:cNvPr id="15" name="Text 13"/>
          <p:cNvSpPr/>
          <p:nvPr/>
        </p:nvSpPr>
        <p:spPr>
          <a:xfrm>
            <a:off x="365760" y="2423160"/>
            <a:ext cx="2606040" cy="292608"/>
          </a:xfrm>
          <a:prstGeom prst="rect">
            <a:avLst/>
          </a:prstGeom>
          <a:noFill/>
          <a:ln/>
        </p:spPr>
        <p:txBody>
          <a:bodyPr wrap="square" lIns="0" tIns="0" rIns="0" bIns="0" rtlCol="0" anchor="ctr"/>
          <a:lstStyle/>
          <a:p>
            <a:pPr algn="ctr" indent="0" marL="0">
              <a:buNone/>
            </a:pPr>
            <a:r>
              <a:rPr lang="en-US" sz="1100" b="1" dirty="0">
                <a:solidFill>
                  <a:srgbClr val="1A252F"/>
                </a:solidFill>
                <a:latin typeface="Calibri" pitchFamily="34" charset="0"/>
                <a:ea typeface="Calibri" pitchFamily="34" charset="-122"/>
                <a:cs typeface="Calibri" pitchFamily="34" charset="-120"/>
              </a:rPr>
              <a:t>Canadians currently aged 65+</a:t>
            </a:r>
            <a:endParaRPr lang="en-US" sz="1100" dirty="0"/>
          </a:p>
        </p:txBody>
      </p:sp>
      <p:sp>
        <p:nvSpPr>
          <p:cNvPr id="16" name="Text 14"/>
          <p:cNvSpPr/>
          <p:nvPr/>
        </p:nvSpPr>
        <p:spPr>
          <a:xfrm>
            <a:off x="365760" y="2715768"/>
            <a:ext cx="2606040" cy="201168"/>
          </a:xfrm>
          <a:prstGeom prst="rect">
            <a:avLst/>
          </a:prstGeom>
          <a:noFill/>
          <a:ln/>
        </p:spPr>
        <p:txBody>
          <a:bodyPr wrap="square" lIns="0" tIns="0" rIns="0" bIns="0" rtlCol="0" anchor="ctr"/>
          <a:lstStyle/>
          <a:p>
            <a:pPr algn="ctr" indent="0" marL="0">
              <a:buNone/>
            </a:pPr>
            <a:r>
              <a:rPr lang="en-US" sz="950" dirty="0">
                <a:solidFill>
                  <a:srgbClr val="5D6D7E"/>
                </a:solidFill>
                <a:latin typeface="Calibri" pitchFamily="34" charset="0"/>
                <a:ea typeface="Calibri" pitchFamily="34" charset="-122"/>
                <a:cs typeface="Calibri" pitchFamily="34" charset="-120"/>
              </a:rPr>
              <a:t>Growing at 3.5% annually</a:t>
            </a:r>
            <a:endParaRPr lang="en-US" sz="950" dirty="0"/>
          </a:p>
        </p:txBody>
      </p:sp>
      <p:sp>
        <p:nvSpPr>
          <p:cNvPr id="17" name="Shape 15"/>
          <p:cNvSpPr/>
          <p:nvPr/>
        </p:nvSpPr>
        <p:spPr>
          <a:xfrm>
            <a:off x="3227832" y="1719072"/>
            <a:ext cx="2816352" cy="1234440"/>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3227832" y="1719072"/>
            <a:ext cx="2816352" cy="73152"/>
          </a:xfrm>
          <a:prstGeom prst="rect">
            <a:avLst/>
          </a:prstGeom>
          <a:solidFill>
            <a:srgbClr val="006B6B"/>
          </a:solidFill>
          <a:ln w="12700">
            <a:solidFill>
              <a:srgbClr val="006B6B"/>
            </a:solidFill>
            <a:prstDash val="solid"/>
          </a:ln>
        </p:spPr>
      </p:sp>
      <p:sp>
        <p:nvSpPr>
          <p:cNvPr id="19" name="Text 17"/>
          <p:cNvSpPr/>
          <p:nvPr/>
        </p:nvSpPr>
        <p:spPr>
          <a:xfrm>
            <a:off x="3337560" y="1810512"/>
            <a:ext cx="2606040" cy="594360"/>
          </a:xfrm>
          <a:prstGeom prst="rect">
            <a:avLst/>
          </a:prstGeom>
          <a:noFill/>
          <a:ln/>
        </p:spPr>
        <p:txBody>
          <a:bodyPr wrap="square" lIns="0" tIns="0" rIns="0" bIns="0" rtlCol="0" anchor="ctr"/>
          <a:lstStyle/>
          <a:p>
            <a:pPr algn="ctr" indent="0" marL="0">
              <a:buNone/>
            </a:pPr>
            <a:r>
              <a:rPr lang="en-US" sz="3600" b="1" dirty="0">
                <a:solidFill>
                  <a:srgbClr val="006B6B"/>
                </a:solidFill>
                <a:latin typeface="Calibri" pitchFamily="34" charset="0"/>
                <a:ea typeface="Calibri" pitchFamily="34" charset="-122"/>
                <a:cs typeface="Calibri" pitchFamily="34" charset="-120"/>
              </a:rPr>
              <a:t>$140B</a:t>
            </a:r>
            <a:endParaRPr lang="en-US" sz="3600" dirty="0"/>
          </a:p>
        </p:txBody>
      </p:sp>
      <p:sp>
        <p:nvSpPr>
          <p:cNvPr id="20" name="Text 18"/>
          <p:cNvSpPr/>
          <p:nvPr/>
        </p:nvSpPr>
        <p:spPr>
          <a:xfrm>
            <a:off x="3337560" y="2423160"/>
            <a:ext cx="2606040" cy="292608"/>
          </a:xfrm>
          <a:prstGeom prst="rect">
            <a:avLst/>
          </a:prstGeom>
          <a:noFill/>
          <a:ln/>
        </p:spPr>
        <p:txBody>
          <a:bodyPr wrap="square" lIns="0" tIns="0" rIns="0" bIns="0" rtlCol="0" anchor="ctr"/>
          <a:lstStyle/>
          <a:p>
            <a:pPr algn="ctr" indent="0" marL="0">
              <a:buNone/>
            </a:pPr>
            <a:r>
              <a:rPr lang="en-US" sz="1100" b="1" dirty="0">
                <a:solidFill>
                  <a:srgbClr val="1A252F"/>
                </a:solidFill>
                <a:latin typeface="Calibri" pitchFamily="34" charset="0"/>
                <a:ea typeface="Calibri" pitchFamily="34" charset="-122"/>
                <a:cs typeface="Calibri" pitchFamily="34" charset="-120"/>
              </a:rPr>
              <a:t>Canadian estate services market</a:t>
            </a:r>
            <a:endParaRPr lang="en-US" sz="1100" dirty="0"/>
          </a:p>
        </p:txBody>
      </p:sp>
      <p:sp>
        <p:nvSpPr>
          <p:cNvPr id="21" name="Text 19"/>
          <p:cNvSpPr/>
          <p:nvPr/>
        </p:nvSpPr>
        <p:spPr>
          <a:xfrm>
            <a:off x="3337560" y="2715768"/>
            <a:ext cx="2606040" cy="201168"/>
          </a:xfrm>
          <a:prstGeom prst="rect">
            <a:avLst/>
          </a:prstGeom>
          <a:noFill/>
          <a:ln/>
        </p:spPr>
        <p:txBody>
          <a:bodyPr wrap="square" lIns="0" tIns="0" rIns="0" bIns="0" rtlCol="0" anchor="ctr"/>
          <a:lstStyle/>
          <a:p>
            <a:pPr algn="ctr" indent="0" marL="0">
              <a:buNone/>
            </a:pPr>
            <a:r>
              <a:rPr lang="en-US" sz="950" dirty="0">
                <a:solidFill>
                  <a:srgbClr val="5D6D7E"/>
                </a:solidFill>
                <a:latin typeface="Calibri" pitchFamily="34" charset="0"/>
                <a:ea typeface="Calibri" pitchFamily="34" charset="-122"/>
                <a:cs typeface="Calibri" pitchFamily="34" charset="-120"/>
              </a:rPr>
              <a:t>Wills, legal, care, funeral</a:t>
            </a:r>
            <a:endParaRPr lang="en-US" sz="950" dirty="0"/>
          </a:p>
        </p:txBody>
      </p:sp>
      <p:sp>
        <p:nvSpPr>
          <p:cNvPr id="22" name="Shape 20"/>
          <p:cNvSpPr/>
          <p:nvPr/>
        </p:nvSpPr>
        <p:spPr>
          <a:xfrm>
            <a:off x="6199632" y="1719072"/>
            <a:ext cx="2816352" cy="1234440"/>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6199632" y="1719072"/>
            <a:ext cx="2816352" cy="73152"/>
          </a:xfrm>
          <a:prstGeom prst="rect">
            <a:avLst/>
          </a:prstGeom>
          <a:solidFill>
            <a:srgbClr val="CC0000"/>
          </a:solidFill>
          <a:ln w="12700">
            <a:solidFill>
              <a:srgbClr val="CC0000"/>
            </a:solidFill>
            <a:prstDash val="solid"/>
          </a:ln>
        </p:spPr>
      </p:sp>
      <p:sp>
        <p:nvSpPr>
          <p:cNvPr id="24" name="Text 22"/>
          <p:cNvSpPr/>
          <p:nvPr/>
        </p:nvSpPr>
        <p:spPr>
          <a:xfrm>
            <a:off x="6309360" y="1810512"/>
            <a:ext cx="2606040" cy="594360"/>
          </a:xfrm>
          <a:prstGeom prst="rect">
            <a:avLst/>
          </a:prstGeom>
          <a:noFill/>
          <a:ln/>
        </p:spPr>
        <p:txBody>
          <a:bodyPr wrap="square" lIns="0" tIns="0" rIns="0" bIns="0" rtlCol="0" anchor="ctr"/>
          <a:lstStyle/>
          <a:p>
            <a:pPr algn="ctr" indent="0" marL="0">
              <a:buNone/>
            </a:pPr>
            <a:r>
              <a:rPr lang="en-US" sz="3600" b="1" dirty="0">
                <a:solidFill>
                  <a:srgbClr val="CC0000"/>
                </a:solidFill>
                <a:latin typeface="Calibri" pitchFamily="34" charset="0"/>
                <a:ea typeface="Calibri" pitchFamily="34" charset="-122"/>
                <a:cs typeface="Calibri" pitchFamily="34" charset="-120"/>
              </a:rPr>
              <a:t>2,000+</a:t>
            </a:r>
            <a:endParaRPr lang="en-US" sz="3600" dirty="0"/>
          </a:p>
        </p:txBody>
      </p:sp>
      <p:sp>
        <p:nvSpPr>
          <p:cNvPr id="25" name="Text 23"/>
          <p:cNvSpPr/>
          <p:nvPr/>
        </p:nvSpPr>
        <p:spPr>
          <a:xfrm>
            <a:off x="6309360" y="2423160"/>
            <a:ext cx="2606040" cy="292608"/>
          </a:xfrm>
          <a:prstGeom prst="rect">
            <a:avLst/>
          </a:prstGeom>
          <a:noFill/>
          <a:ln/>
        </p:spPr>
        <p:txBody>
          <a:bodyPr wrap="square" lIns="0" tIns="0" rIns="0" bIns="0" rtlCol="0" anchor="ctr"/>
          <a:lstStyle/>
          <a:p>
            <a:pPr algn="ctr" indent="0" marL="0">
              <a:buNone/>
            </a:pPr>
            <a:r>
              <a:rPr lang="en-US" sz="1100" b="1" dirty="0">
                <a:solidFill>
                  <a:srgbClr val="1A252F"/>
                </a:solidFill>
                <a:latin typeface="Calibri" pitchFamily="34" charset="0"/>
                <a:ea typeface="Calibri" pitchFamily="34" charset="-122"/>
                <a:cs typeface="Calibri" pitchFamily="34" charset="-120"/>
              </a:rPr>
              <a:t>Licensed LTC facilities in Canada</a:t>
            </a:r>
            <a:endParaRPr lang="en-US" sz="1100" dirty="0"/>
          </a:p>
        </p:txBody>
      </p:sp>
      <p:sp>
        <p:nvSpPr>
          <p:cNvPr id="26" name="Text 24"/>
          <p:cNvSpPr/>
          <p:nvPr/>
        </p:nvSpPr>
        <p:spPr>
          <a:xfrm>
            <a:off x="6309360" y="2715768"/>
            <a:ext cx="2606040" cy="201168"/>
          </a:xfrm>
          <a:prstGeom prst="rect">
            <a:avLst/>
          </a:prstGeom>
          <a:noFill/>
          <a:ln/>
        </p:spPr>
        <p:txBody>
          <a:bodyPr wrap="square" lIns="0" tIns="0" rIns="0" bIns="0" rtlCol="0" anchor="ctr"/>
          <a:lstStyle/>
          <a:p>
            <a:pPr algn="ctr" indent="0" marL="0">
              <a:buNone/>
            </a:pPr>
            <a:r>
              <a:rPr lang="en-US" sz="950" dirty="0">
                <a:solidFill>
                  <a:srgbClr val="5D6D7E"/>
                </a:solidFill>
                <a:latin typeface="Calibri" pitchFamily="34" charset="0"/>
                <a:ea typeface="Calibri" pitchFamily="34" charset="-122"/>
                <a:cs typeface="Calibri" pitchFamily="34" charset="-120"/>
              </a:rPr>
              <a:t>Each a direct referral channel</a:t>
            </a:r>
            <a:endParaRPr lang="en-US" sz="950" dirty="0"/>
          </a:p>
        </p:txBody>
      </p:sp>
      <p:sp>
        <p:nvSpPr>
          <p:cNvPr id="27" name="Text 25"/>
          <p:cNvSpPr/>
          <p:nvPr/>
        </p:nvSpPr>
        <p:spPr>
          <a:xfrm>
            <a:off x="256032" y="3090672"/>
            <a:ext cx="4572000" cy="274320"/>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Competitive Landscape — Canadian Market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56032" y="3401568"/>
          <a:ext cx="8631936" cy="1444752"/>
        </p:xfrm>
        <a:graphic>
          <a:graphicData uri="http://schemas.openxmlformats.org/drawingml/2006/table">
            <a:tbl>
              <a:tblPr/>
              <a:tblGrid>
                <a:gridCol w="2011680"/>
                <a:gridCol w="1645920"/>
                <a:gridCol w="1645920"/>
                <a:gridCol w="1645920"/>
                <a:gridCol w="1691640"/>
              </a:tblGrid>
              <a:tr h="28895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Canadian HQ</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 Capsule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AI Feature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B2B Channel</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r>
              <a:tr h="28895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Storyworth</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 (US)</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8895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GoodTrust</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 (US)</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8895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Legacybox</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 (US)</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88950">
                <a:tc>
                  <a:txBody>
                    <a:bodyPr/>
                    <a:lstStyle/>
                    <a:p>
                      <a:pPr indent="0" marL="0">
                        <a:buNone/>
                      </a:pPr>
                      <a:r>
                        <a:rPr lang="en-US" sz="1050" b="1" dirty="0">
                          <a:solidFill>
                            <a:srgbClr val="1B3A6B"/>
                          </a:solidFill>
                          <a:latin typeface="Calibri" pitchFamily="34" charset="0"/>
                          <a:ea typeface="Calibri" pitchFamily="34" charset="-122"/>
                          <a:cs typeface="Calibri" pitchFamily="34" charset="-120"/>
                        </a:rPr>
                        <a:t>Solace Life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006B6B"/>
                          </a:solidFill>
                          <a:latin typeface="Calibri" pitchFamily="34" charset="0"/>
                          <a:ea typeface="Calibri" pitchFamily="34" charset="-122"/>
                          <a:cs typeface="Calibri" pitchFamily="34" charset="-120"/>
                        </a:rPr>
                        <a:t>YES — Vancouver</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006B6B"/>
                          </a:solidFill>
                          <a:latin typeface="Calibri" pitchFamily="34" charset="0"/>
                          <a:ea typeface="Calibri" pitchFamily="34" charset="-122"/>
                          <a:cs typeface="Calibri" pitchFamily="34" charset="-120"/>
                        </a:rPr>
                        <a:t>YES — Core feature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006B6B"/>
                          </a:solidFill>
                          <a:latin typeface="Calibri" pitchFamily="34" charset="0"/>
                          <a:ea typeface="Calibri" pitchFamily="34" charset="-122"/>
                          <a:cs typeface="Calibri" pitchFamily="34" charset="-120"/>
                        </a:rPr>
                        <a:t>YES — Deployed</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006B6B"/>
                          </a:solidFill>
                          <a:latin typeface="Calibri" pitchFamily="34" charset="0"/>
                          <a:ea typeface="Calibri" pitchFamily="34" charset="-122"/>
                          <a:cs typeface="Calibri" pitchFamily="34" charset="-120"/>
                        </a:rPr>
                        <a:t>YES — Built &amp; live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bl>
          </a:graphicData>
        </a:graphic>
      </p:graphicFrame>
      <p:sp>
        <p:nvSpPr>
          <p:cNvPr id="29" name="Shape 26"/>
          <p:cNvSpPr/>
          <p:nvPr/>
        </p:nvSpPr>
        <p:spPr>
          <a:xfrm>
            <a:off x="0" y="4956048"/>
            <a:ext cx="9144000" cy="187452"/>
          </a:xfrm>
          <a:prstGeom prst="rect">
            <a:avLst/>
          </a:prstGeom>
          <a:solidFill>
            <a:srgbClr val="1B3A6B"/>
          </a:solidFill>
          <a:ln w="12700">
            <a:solidFill>
              <a:srgbClr val="1B3A6B"/>
            </a:solidFill>
            <a:prstDash val="solid"/>
          </a:ln>
        </p:spPr>
      </p:sp>
      <p:sp>
        <p:nvSpPr>
          <p:cNvPr id="30" name="Text 27"/>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5 of 13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Social Impact &amp; Public Benefit</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Measurable outcomes aligned with federal health and aging priorities</a:t>
            </a:r>
            <a:endParaRPr lang="en-US" sz="1200" dirty="0"/>
          </a:p>
        </p:txBody>
      </p:sp>
      <p:sp>
        <p:nvSpPr>
          <p:cNvPr id="12" name="Shape 10"/>
          <p:cNvSpPr/>
          <p:nvPr/>
        </p:nvSpPr>
        <p:spPr>
          <a:xfrm>
            <a:off x="256032" y="1719072"/>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256032" y="1719072"/>
            <a:ext cx="4251960" cy="73152"/>
          </a:xfrm>
          <a:prstGeom prst="rect">
            <a:avLst/>
          </a:prstGeom>
          <a:solidFill>
            <a:srgbClr val="006B6B"/>
          </a:solidFill>
          <a:ln w="12700">
            <a:solidFill>
              <a:srgbClr val="006B6B"/>
            </a:solidFill>
            <a:prstDash val="solid"/>
          </a:ln>
        </p:spPr>
      </p:sp>
      <p:sp>
        <p:nvSpPr>
          <p:cNvPr id="14" name="Text 12"/>
          <p:cNvSpPr/>
          <p:nvPr/>
        </p:nvSpPr>
        <p:spPr>
          <a:xfrm>
            <a:off x="384048" y="1856232"/>
            <a:ext cx="3977640" cy="320040"/>
          </a:xfrm>
          <a:prstGeom prst="rect">
            <a:avLst/>
          </a:prstGeom>
          <a:noFill/>
          <a:ln/>
        </p:spPr>
        <p:txBody>
          <a:bodyPr wrap="square" lIns="0" tIns="0" rIns="0" bIns="0" rtlCol="0" anchor="ctr"/>
          <a:lstStyle/>
          <a:p>
            <a:pPr indent="0" marL="0">
              <a:buNone/>
            </a:pPr>
            <a:r>
              <a:rPr lang="en-US" sz="1200" b="1" dirty="0">
                <a:solidFill>
                  <a:srgbClr val="006B6B"/>
                </a:solidFill>
                <a:latin typeface="Calibri" pitchFamily="34" charset="0"/>
                <a:ea typeface="Calibri" pitchFamily="34" charset="-122"/>
                <a:cs typeface="Calibri" pitchFamily="34" charset="-120"/>
              </a:rPr>
              <a:t>🧠  Mental Health &amp; Grief Support</a:t>
            </a:r>
            <a:endParaRPr lang="en-US" sz="1200" dirty="0"/>
          </a:p>
        </p:txBody>
      </p:sp>
      <p:sp>
        <p:nvSpPr>
          <p:cNvPr id="15" name="Text 13"/>
          <p:cNvSpPr/>
          <p:nvPr/>
        </p:nvSpPr>
        <p:spPr>
          <a:xfrm>
            <a:off x="384048" y="2194560"/>
            <a:ext cx="3995928" cy="749808"/>
          </a:xfrm>
          <a:prstGeom prst="rect">
            <a:avLst/>
          </a:prstGeom>
          <a:noFill/>
          <a:ln/>
        </p:spPr>
        <p:txBody>
          <a:bodyPr wrap="square" rtlCol="0" anchor="ctr"/>
          <a:lstStyle/>
          <a:p>
            <a:pPr indent="0" marL="0">
              <a:lnSpc>
                <a:spcPct val="130000"/>
              </a:lnSpc>
              <a:buNone/>
            </a:pPr>
            <a:r>
              <a:rPr lang="en-US" sz="950" dirty="0">
                <a:solidFill>
                  <a:srgbClr val="1A252F"/>
                </a:solidFill>
                <a:latin typeface="Calibri" pitchFamily="34" charset="0"/>
                <a:ea typeface="Calibri" pitchFamily="34" charset="-122"/>
                <a:cs typeface="Calibri" pitchFamily="34" charset="-120"/>
              </a:rPr>
              <a:t>Grief and bereavement are documented risk factors for depression, anxiety, and social isolation — particularly in elderly surviving spouses. Solace Life provides therapeutic continuity that professional counsellors can integrate into care plans. It reduces "anticipatory grief" in families and extends the emotional presence of the deceased in clinically meaningful ways.</a:t>
            </a:r>
            <a:endParaRPr lang="en-US" sz="950" dirty="0"/>
          </a:p>
        </p:txBody>
      </p:sp>
      <p:sp>
        <p:nvSpPr>
          <p:cNvPr id="16" name="Text 14"/>
          <p:cNvSpPr/>
          <p:nvPr/>
        </p:nvSpPr>
        <p:spPr>
          <a:xfrm>
            <a:off x="384048" y="2962656"/>
            <a:ext cx="3995928" cy="164592"/>
          </a:xfrm>
          <a:prstGeom prst="rect">
            <a:avLst/>
          </a:prstGeom>
          <a:noFill/>
          <a:ln/>
        </p:spPr>
        <p:txBody>
          <a:bodyPr wrap="square" lIns="0" tIns="0" rIns="0" bIns="0" rtlCol="0" anchor="ctr"/>
          <a:lstStyle/>
          <a:p>
            <a:pPr indent="0" marL="0">
              <a:buNone/>
            </a:pPr>
            <a:r>
              <a:rPr lang="en-US" sz="850" i="1" dirty="0">
                <a:solidFill>
                  <a:srgbClr val="006B6B"/>
                </a:solidFill>
                <a:latin typeface="Calibri" pitchFamily="34" charset="0"/>
                <a:ea typeface="Calibri" pitchFamily="34" charset="-122"/>
                <a:cs typeface="Calibri" pitchFamily="34" charset="-120"/>
              </a:rPr>
              <a:t>Aligned: Federal Mental Health Strategy</a:t>
            </a:r>
            <a:endParaRPr lang="en-US" sz="850" dirty="0"/>
          </a:p>
        </p:txBody>
      </p:sp>
      <p:sp>
        <p:nvSpPr>
          <p:cNvPr id="17" name="Shape 15"/>
          <p:cNvSpPr/>
          <p:nvPr/>
        </p:nvSpPr>
        <p:spPr>
          <a:xfrm>
            <a:off x="4690872" y="1719072"/>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8" name="Shape 16"/>
          <p:cNvSpPr/>
          <p:nvPr/>
        </p:nvSpPr>
        <p:spPr>
          <a:xfrm>
            <a:off x="4690872" y="1719072"/>
            <a:ext cx="4251960" cy="73152"/>
          </a:xfrm>
          <a:prstGeom prst="rect">
            <a:avLst/>
          </a:prstGeom>
          <a:solidFill>
            <a:srgbClr val="1B3A6B"/>
          </a:solidFill>
          <a:ln w="12700">
            <a:solidFill>
              <a:srgbClr val="1B3A6B"/>
            </a:solidFill>
            <a:prstDash val="solid"/>
          </a:ln>
        </p:spPr>
      </p:sp>
      <p:sp>
        <p:nvSpPr>
          <p:cNvPr id="19" name="Text 17"/>
          <p:cNvSpPr/>
          <p:nvPr/>
        </p:nvSpPr>
        <p:spPr>
          <a:xfrm>
            <a:off x="4818888" y="1856232"/>
            <a:ext cx="3977640" cy="320040"/>
          </a:xfrm>
          <a:prstGeom prst="rect">
            <a:avLst/>
          </a:prstGeom>
          <a:noFill/>
          <a:ln/>
        </p:spPr>
        <p:txBody>
          <a:bodyPr wrap="square" lIns="0" tIns="0" rIns="0" bIns="0"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  Seniors Wellness &amp; Dignity</a:t>
            </a:r>
            <a:endParaRPr lang="en-US" sz="1200" dirty="0"/>
          </a:p>
        </p:txBody>
      </p:sp>
      <p:sp>
        <p:nvSpPr>
          <p:cNvPr id="20" name="Text 18"/>
          <p:cNvSpPr/>
          <p:nvPr/>
        </p:nvSpPr>
        <p:spPr>
          <a:xfrm>
            <a:off x="4818888" y="2194560"/>
            <a:ext cx="3995928" cy="749808"/>
          </a:xfrm>
          <a:prstGeom prst="rect">
            <a:avLst/>
          </a:prstGeom>
          <a:noFill/>
          <a:ln/>
        </p:spPr>
        <p:txBody>
          <a:bodyPr wrap="square" rtlCol="0" anchor="ctr"/>
          <a:lstStyle/>
          <a:p>
            <a:pPr indent="0" marL="0">
              <a:lnSpc>
                <a:spcPct val="130000"/>
              </a:lnSpc>
              <a:buNone/>
            </a:pPr>
            <a:r>
              <a:rPr lang="en-US" sz="950" dirty="0">
                <a:solidFill>
                  <a:srgbClr val="1A252F"/>
                </a:solidFill>
                <a:latin typeface="Calibri" pitchFamily="34" charset="0"/>
                <a:ea typeface="Calibri" pitchFamily="34" charset="-122"/>
                <a:cs typeface="Calibri" pitchFamily="34" charset="-120"/>
              </a:rPr>
              <a:t>Encouraging older Canadians to record their life stories supports psychological well-being, sense of purpose, and social connection. Research published in The Gerontologist demonstrates that legacy work is associated with higher life satisfaction and reduced anxiety in adults aged 65+. Solace Life systematises this therapeutic activity.</a:t>
            </a:r>
            <a:endParaRPr lang="en-US" sz="950" dirty="0"/>
          </a:p>
        </p:txBody>
      </p:sp>
      <p:sp>
        <p:nvSpPr>
          <p:cNvPr id="21" name="Text 19"/>
          <p:cNvSpPr/>
          <p:nvPr/>
        </p:nvSpPr>
        <p:spPr>
          <a:xfrm>
            <a:off x="4818888" y="2962656"/>
            <a:ext cx="3995928" cy="164592"/>
          </a:xfrm>
          <a:prstGeom prst="rect">
            <a:avLst/>
          </a:prstGeom>
          <a:noFill/>
          <a:ln/>
        </p:spPr>
        <p:txBody>
          <a:bodyPr wrap="square" lIns="0" tIns="0" rIns="0" bIns="0" rtlCol="0" anchor="ctr"/>
          <a:lstStyle/>
          <a:p>
            <a:pPr indent="0" marL="0">
              <a:buNone/>
            </a:pPr>
            <a:r>
              <a:rPr lang="en-US" sz="850" i="1" dirty="0">
                <a:solidFill>
                  <a:srgbClr val="1B3A6B"/>
                </a:solidFill>
                <a:latin typeface="Calibri" pitchFamily="34" charset="0"/>
                <a:ea typeface="Calibri" pitchFamily="34" charset="-122"/>
                <a:cs typeface="Calibri" pitchFamily="34" charset="-120"/>
              </a:rPr>
              <a:t>Aligned: Seniors' Quality of Life Framework</a:t>
            </a:r>
            <a:endParaRPr lang="en-US" sz="850" dirty="0"/>
          </a:p>
        </p:txBody>
      </p:sp>
      <p:sp>
        <p:nvSpPr>
          <p:cNvPr id="22" name="Shape 20"/>
          <p:cNvSpPr/>
          <p:nvPr/>
        </p:nvSpPr>
        <p:spPr>
          <a:xfrm>
            <a:off x="256032" y="3291840"/>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256032" y="3291840"/>
            <a:ext cx="4251960" cy="73152"/>
          </a:xfrm>
          <a:prstGeom prst="rect">
            <a:avLst/>
          </a:prstGeom>
          <a:solidFill>
            <a:srgbClr val="CC0000"/>
          </a:solidFill>
          <a:ln w="12700">
            <a:solidFill>
              <a:srgbClr val="CC0000"/>
            </a:solidFill>
            <a:prstDash val="solid"/>
          </a:ln>
        </p:spPr>
      </p:sp>
      <p:sp>
        <p:nvSpPr>
          <p:cNvPr id="24" name="Text 22"/>
          <p:cNvSpPr/>
          <p:nvPr/>
        </p:nvSpPr>
        <p:spPr>
          <a:xfrm>
            <a:off x="384048" y="3429000"/>
            <a:ext cx="3977640" cy="320040"/>
          </a:xfrm>
          <a:prstGeom prst="rect">
            <a:avLst/>
          </a:prstGeom>
          <a:noFill/>
          <a:ln/>
        </p:spPr>
        <p:txBody>
          <a:bodyPr wrap="square" lIns="0" tIns="0" rIns="0" bIns="0" rtlCol="0" anchor="ctr"/>
          <a:lstStyle/>
          <a:p>
            <a:pPr indent="0" marL="0">
              <a:buNone/>
            </a:pPr>
            <a:r>
              <a:rPr lang="en-US" sz="1200" b="1" dirty="0">
                <a:solidFill>
                  <a:srgbClr val="CC0000"/>
                </a:solidFill>
                <a:latin typeface="Calibri" pitchFamily="34" charset="0"/>
                <a:ea typeface="Calibri" pitchFamily="34" charset="-122"/>
                <a:cs typeface="Calibri" pitchFamily="34" charset="-120"/>
              </a:rPr>
              <a:t>👨‍👩‍👧  Family Resilience &amp; Cultural Preservation</a:t>
            </a:r>
            <a:endParaRPr lang="en-US" sz="1200" dirty="0"/>
          </a:p>
        </p:txBody>
      </p:sp>
      <p:sp>
        <p:nvSpPr>
          <p:cNvPr id="25" name="Text 23"/>
          <p:cNvSpPr/>
          <p:nvPr/>
        </p:nvSpPr>
        <p:spPr>
          <a:xfrm>
            <a:off x="384048" y="3767328"/>
            <a:ext cx="3995928" cy="749808"/>
          </a:xfrm>
          <a:prstGeom prst="rect">
            <a:avLst/>
          </a:prstGeom>
          <a:noFill/>
          <a:ln/>
        </p:spPr>
        <p:txBody>
          <a:bodyPr wrap="square" rtlCol="0" anchor="ctr"/>
          <a:lstStyle/>
          <a:p>
            <a:pPr indent="0" marL="0">
              <a:lnSpc>
                <a:spcPct val="130000"/>
              </a:lnSpc>
              <a:buNone/>
            </a:pPr>
            <a:r>
              <a:rPr lang="en-US" sz="950" dirty="0">
                <a:solidFill>
                  <a:srgbClr val="1A252F"/>
                </a:solidFill>
                <a:latin typeface="Calibri" pitchFamily="34" charset="0"/>
                <a:ea typeface="Calibri" pitchFamily="34" charset="-122"/>
                <a:cs typeface="Calibri" pitchFamily="34" charset="-120"/>
              </a:rPr>
              <a:t>For immigrant families, Indigenous communities, and multigenerational households, the platform provides a means to preserve language, cultural knowledge, and family narratives that are routinely lost between generations. Content is recorded in any language, in the speaker's own voice.</a:t>
            </a:r>
            <a:endParaRPr lang="en-US" sz="950" dirty="0"/>
          </a:p>
        </p:txBody>
      </p:sp>
      <p:sp>
        <p:nvSpPr>
          <p:cNvPr id="26" name="Text 24"/>
          <p:cNvSpPr/>
          <p:nvPr/>
        </p:nvSpPr>
        <p:spPr>
          <a:xfrm>
            <a:off x="384048" y="4535424"/>
            <a:ext cx="3995928" cy="164592"/>
          </a:xfrm>
          <a:prstGeom prst="rect">
            <a:avLst/>
          </a:prstGeom>
          <a:noFill/>
          <a:ln/>
        </p:spPr>
        <p:txBody>
          <a:bodyPr wrap="square" lIns="0" tIns="0" rIns="0" bIns="0" rtlCol="0" anchor="ctr"/>
          <a:lstStyle/>
          <a:p>
            <a:pPr indent="0" marL="0">
              <a:buNone/>
            </a:pPr>
            <a:r>
              <a:rPr lang="en-US" sz="850" i="1" dirty="0">
                <a:solidFill>
                  <a:srgbClr val="CC0000"/>
                </a:solidFill>
                <a:latin typeface="Calibri" pitchFamily="34" charset="0"/>
                <a:ea typeface="Calibri" pitchFamily="34" charset="-122"/>
                <a:cs typeface="Calibri" pitchFamily="34" charset="-120"/>
              </a:rPr>
              <a:t>Aligned: Multiculturalism Act / TRC Calls to Action</a:t>
            </a:r>
            <a:endParaRPr lang="en-US" sz="850" dirty="0"/>
          </a:p>
        </p:txBody>
      </p:sp>
      <p:sp>
        <p:nvSpPr>
          <p:cNvPr id="27" name="Shape 25"/>
          <p:cNvSpPr/>
          <p:nvPr/>
        </p:nvSpPr>
        <p:spPr>
          <a:xfrm>
            <a:off x="4690872" y="3291840"/>
            <a:ext cx="4251960" cy="144475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8" name="Shape 26"/>
          <p:cNvSpPr/>
          <p:nvPr/>
        </p:nvSpPr>
        <p:spPr>
          <a:xfrm>
            <a:off x="4690872" y="3291840"/>
            <a:ext cx="4251960" cy="73152"/>
          </a:xfrm>
          <a:prstGeom prst="rect">
            <a:avLst/>
          </a:prstGeom>
          <a:solidFill>
            <a:srgbClr val="C49A3C"/>
          </a:solidFill>
          <a:ln w="12700">
            <a:solidFill>
              <a:srgbClr val="C49A3C"/>
            </a:solidFill>
            <a:prstDash val="solid"/>
          </a:ln>
        </p:spPr>
      </p:sp>
      <p:sp>
        <p:nvSpPr>
          <p:cNvPr id="29" name="Text 27"/>
          <p:cNvSpPr/>
          <p:nvPr/>
        </p:nvSpPr>
        <p:spPr>
          <a:xfrm>
            <a:off x="4818888" y="3429000"/>
            <a:ext cx="3977640" cy="320040"/>
          </a:xfrm>
          <a:prstGeom prst="rect">
            <a:avLst/>
          </a:prstGeom>
          <a:noFill/>
          <a:ln/>
        </p:spPr>
        <p:txBody>
          <a:bodyPr wrap="square" lIns="0" tIns="0" rIns="0" bIns="0" rtlCol="0" anchor="ctr"/>
          <a:lstStyle/>
          <a:p>
            <a:pPr indent="0" marL="0">
              <a:buNone/>
            </a:pPr>
            <a:r>
              <a:rPr lang="en-US" sz="1200" b="1" dirty="0">
                <a:solidFill>
                  <a:srgbClr val="C49A3C"/>
                </a:solidFill>
                <a:latin typeface="Calibri" pitchFamily="34" charset="0"/>
                <a:ea typeface="Calibri" pitchFamily="34" charset="-122"/>
                <a:cs typeface="Calibri" pitchFamily="34" charset="-120"/>
              </a:rPr>
              <a:t>💼  Healthcare System Burden Reduction</a:t>
            </a:r>
            <a:endParaRPr lang="en-US" sz="1200" dirty="0"/>
          </a:p>
        </p:txBody>
      </p:sp>
      <p:sp>
        <p:nvSpPr>
          <p:cNvPr id="30" name="Text 28"/>
          <p:cNvSpPr/>
          <p:nvPr/>
        </p:nvSpPr>
        <p:spPr>
          <a:xfrm>
            <a:off x="4818888" y="3767328"/>
            <a:ext cx="3995928" cy="749808"/>
          </a:xfrm>
          <a:prstGeom prst="rect">
            <a:avLst/>
          </a:prstGeom>
          <a:noFill/>
          <a:ln/>
        </p:spPr>
        <p:txBody>
          <a:bodyPr wrap="square" rtlCol="0" anchor="ctr"/>
          <a:lstStyle/>
          <a:p>
            <a:pPr indent="0" marL="0">
              <a:lnSpc>
                <a:spcPct val="130000"/>
              </a:lnSpc>
              <a:buNone/>
            </a:pPr>
            <a:r>
              <a:rPr lang="en-US" sz="950" dirty="0">
                <a:solidFill>
                  <a:srgbClr val="1A252F"/>
                </a:solidFill>
                <a:latin typeface="Calibri" pitchFamily="34" charset="0"/>
                <a:ea typeface="Calibri" pitchFamily="34" charset="-122"/>
                <a:cs typeface="Calibri" pitchFamily="34" charset="-120"/>
              </a:rPr>
              <a:t>Anticipatory grief support, counsellor integration, and end-of-life planning tools have documented capacity to reduce emergency healthcare utilization by families in acute grief. A 2023 Canadian study found structured end-of-life planning reduces ER visits by 18% in the 90-day post-bereavement period.</a:t>
            </a:r>
            <a:endParaRPr lang="en-US" sz="950" dirty="0"/>
          </a:p>
        </p:txBody>
      </p:sp>
      <p:sp>
        <p:nvSpPr>
          <p:cNvPr id="31" name="Text 29"/>
          <p:cNvSpPr/>
          <p:nvPr/>
        </p:nvSpPr>
        <p:spPr>
          <a:xfrm>
            <a:off x="4818888" y="4535424"/>
            <a:ext cx="3995928" cy="164592"/>
          </a:xfrm>
          <a:prstGeom prst="rect">
            <a:avLst/>
          </a:prstGeom>
          <a:noFill/>
          <a:ln/>
        </p:spPr>
        <p:txBody>
          <a:bodyPr wrap="square" lIns="0" tIns="0" rIns="0" bIns="0" rtlCol="0" anchor="ctr"/>
          <a:lstStyle/>
          <a:p>
            <a:pPr indent="0" marL="0">
              <a:buNone/>
            </a:pPr>
            <a:r>
              <a:rPr lang="en-US" sz="850" i="1" dirty="0">
                <a:solidFill>
                  <a:srgbClr val="C49A3C"/>
                </a:solidFill>
                <a:latin typeface="Calibri" pitchFamily="34" charset="0"/>
                <a:ea typeface="Calibri" pitchFamily="34" charset="-122"/>
                <a:cs typeface="Calibri" pitchFamily="34" charset="-120"/>
              </a:rPr>
              <a:t>Aligned: Canada Health Act — Preventive Care</a:t>
            </a:r>
            <a:endParaRPr lang="en-US" sz="850" dirty="0"/>
          </a:p>
        </p:txBody>
      </p:sp>
      <p:sp>
        <p:nvSpPr>
          <p:cNvPr id="32" name="Shape 30"/>
          <p:cNvSpPr/>
          <p:nvPr/>
        </p:nvSpPr>
        <p:spPr>
          <a:xfrm>
            <a:off x="0" y="4956048"/>
            <a:ext cx="9144000" cy="187452"/>
          </a:xfrm>
          <a:prstGeom prst="rect">
            <a:avLst/>
          </a:prstGeom>
          <a:solidFill>
            <a:srgbClr val="1B3A6B"/>
          </a:solidFill>
          <a:ln w="12700">
            <a:solidFill>
              <a:srgbClr val="1B3A6B"/>
            </a:solidFill>
            <a:prstDash val="solid"/>
          </a:ln>
        </p:spPr>
      </p:sp>
      <p:sp>
        <p:nvSpPr>
          <p:cNvPr id="33" name="Text 31"/>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6 of 13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Technology Innovation</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Production-grade Canadian-built technology infrastructure</a:t>
            </a:r>
            <a:endParaRPr lang="en-US" sz="1200" dirty="0"/>
          </a:p>
        </p:txBody>
      </p:sp>
      <p:sp>
        <p:nvSpPr>
          <p:cNvPr id="12" name="Text 10"/>
          <p:cNvSpPr/>
          <p:nvPr/>
        </p:nvSpPr>
        <p:spPr>
          <a:xfrm>
            <a:off x="256032" y="1719072"/>
            <a:ext cx="4114800" cy="320040"/>
          </a:xfrm>
          <a:prstGeom prst="rect">
            <a:avLst/>
          </a:prstGeom>
          <a:noFill/>
          <a:ln/>
        </p:spPr>
        <p:txBody>
          <a:bodyPr wrap="square" lIns="0" tIns="0" rIns="0" bIns="0" rtlCol="0" anchor="ctr"/>
          <a:lstStyle/>
          <a:p>
            <a:pPr indent="0" marL="0">
              <a:buNone/>
            </a:pPr>
            <a:r>
              <a:rPr lang="en-US" sz="1400" b="1" dirty="0">
                <a:solidFill>
                  <a:srgbClr val="1B3A6B"/>
                </a:solidFill>
                <a:latin typeface="Calibri" pitchFamily="34" charset="0"/>
                <a:ea typeface="Calibri" pitchFamily="34" charset="-122"/>
                <a:cs typeface="Calibri" pitchFamily="34" charset="-120"/>
              </a:rPr>
              <a:t>Technical Stack &amp; Scope</a:t>
            </a:r>
            <a:endParaRPr lang="en-US" sz="1400" dirty="0"/>
          </a:p>
        </p:txBody>
      </p:sp>
      <p:sp>
        <p:nvSpPr>
          <p:cNvPr id="13" name="Shape 11"/>
          <p:cNvSpPr/>
          <p:nvPr/>
        </p:nvSpPr>
        <p:spPr>
          <a:xfrm>
            <a:off x="256032" y="2121408"/>
            <a:ext cx="4251960" cy="347472"/>
          </a:xfrm>
          <a:prstGeom prst="rect">
            <a:avLst/>
          </a:prstGeom>
          <a:solidFill>
            <a:srgbClr val="FFFFFF"/>
          </a:solidFill>
          <a:ln w="6350">
            <a:solidFill>
              <a:srgbClr val="DDE1E7"/>
            </a:solidFill>
            <a:prstDash val="solid"/>
          </a:ln>
        </p:spPr>
      </p:sp>
      <p:sp>
        <p:nvSpPr>
          <p:cNvPr id="14" name="Text 12"/>
          <p:cNvSpPr/>
          <p:nvPr/>
        </p:nvSpPr>
        <p:spPr>
          <a:xfrm>
            <a:off x="347472" y="2148840"/>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Mobile Platform</a:t>
            </a:r>
            <a:endParaRPr lang="en-US" sz="950" dirty="0"/>
          </a:p>
        </p:txBody>
      </p:sp>
      <p:sp>
        <p:nvSpPr>
          <p:cNvPr id="15" name="Text 13"/>
          <p:cNvSpPr/>
          <p:nvPr/>
        </p:nvSpPr>
        <p:spPr>
          <a:xfrm>
            <a:off x="1783080" y="2148840"/>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React Native (Expo SDK 54) — iOS launch, Android roadmap</a:t>
            </a:r>
            <a:endParaRPr lang="en-US" sz="950" dirty="0"/>
          </a:p>
        </p:txBody>
      </p:sp>
      <p:sp>
        <p:nvSpPr>
          <p:cNvPr id="16" name="Shape 14"/>
          <p:cNvSpPr/>
          <p:nvPr/>
        </p:nvSpPr>
        <p:spPr>
          <a:xfrm>
            <a:off x="256032" y="2514600"/>
            <a:ext cx="4251960" cy="347472"/>
          </a:xfrm>
          <a:prstGeom prst="rect">
            <a:avLst/>
          </a:prstGeom>
          <a:solidFill>
            <a:srgbClr val="F4F6F9"/>
          </a:solidFill>
          <a:ln w="6350">
            <a:solidFill>
              <a:srgbClr val="DDE1E7"/>
            </a:solidFill>
            <a:prstDash val="solid"/>
          </a:ln>
        </p:spPr>
      </p:sp>
      <p:sp>
        <p:nvSpPr>
          <p:cNvPr id="17" name="Text 15"/>
          <p:cNvSpPr/>
          <p:nvPr/>
        </p:nvSpPr>
        <p:spPr>
          <a:xfrm>
            <a:off x="347472" y="2542032"/>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Backend</a:t>
            </a:r>
            <a:endParaRPr lang="en-US" sz="950" dirty="0"/>
          </a:p>
        </p:txBody>
      </p:sp>
      <p:sp>
        <p:nvSpPr>
          <p:cNvPr id="18" name="Text 16"/>
          <p:cNvSpPr/>
          <p:nvPr/>
        </p:nvSpPr>
        <p:spPr>
          <a:xfrm>
            <a:off x="1783080" y="2542032"/>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Supabase (PostgreSQL) — 46 production migrations, row-level security</a:t>
            </a:r>
            <a:endParaRPr lang="en-US" sz="950" dirty="0"/>
          </a:p>
        </p:txBody>
      </p:sp>
      <p:sp>
        <p:nvSpPr>
          <p:cNvPr id="19" name="Shape 17"/>
          <p:cNvSpPr/>
          <p:nvPr/>
        </p:nvSpPr>
        <p:spPr>
          <a:xfrm>
            <a:off x="256032" y="2907792"/>
            <a:ext cx="4251960" cy="347472"/>
          </a:xfrm>
          <a:prstGeom prst="rect">
            <a:avLst/>
          </a:prstGeom>
          <a:solidFill>
            <a:srgbClr val="FFFFFF"/>
          </a:solidFill>
          <a:ln w="6350">
            <a:solidFill>
              <a:srgbClr val="DDE1E7"/>
            </a:solidFill>
            <a:prstDash val="solid"/>
          </a:ln>
        </p:spPr>
      </p:sp>
      <p:sp>
        <p:nvSpPr>
          <p:cNvPr id="20" name="Text 18"/>
          <p:cNvSpPr/>
          <p:nvPr/>
        </p:nvSpPr>
        <p:spPr>
          <a:xfrm>
            <a:off x="347472" y="2935224"/>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Edge Functions</a:t>
            </a:r>
            <a:endParaRPr lang="en-US" sz="950" dirty="0"/>
          </a:p>
        </p:txBody>
      </p:sp>
      <p:sp>
        <p:nvSpPr>
          <p:cNvPr id="21" name="Text 19"/>
          <p:cNvSpPr/>
          <p:nvPr/>
        </p:nvSpPr>
        <p:spPr>
          <a:xfrm>
            <a:off x="1783080" y="2935224"/>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15 deployed Deno serverless functions (Supabase Edge)</a:t>
            </a:r>
            <a:endParaRPr lang="en-US" sz="950" dirty="0"/>
          </a:p>
        </p:txBody>
      </p:sp>
      <p:sp>
        <p:nvSpPr>
          <p:cNvPr id="22" name="Shape 20"/>
          <p:cNvSpPr/>
          <p:nvPr/>
        </p:nvSpPr>
        <p:spPr>
          <a:xfrm>
            <a:off x="256032" y="3300984"/>
            <a:ext cx="4251960" cy="347472"/>
          </a:xfrm>
          <a:prstGeom prst="rect">
            <a:avLst/>
          </a:prstGeom>
          <a:solidFill>
            <a:srgbClr val="F4F6F9"/>
          </a:solidFill>
          <a:ln w="6350">
            <a:solidFill>
              <a:srgbClr val="DDE1E7"/>
            </a:solidFill>
            <a:prstDash val="solid"/>
          </a:ln>
        </p:spPr>
      </p:sp>
      <p:sp>
        <p:nvSpPr>
          <p:cNvPr id="23" name="Text 21"/>
          <p:cNvSpPr/>
          <p:nvPr/>
        </p:nvSpPr>
        <p:spPr>
          <a:xfrm>
            <a:off x="347472" y="3328416"/>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AI Engine</a:t>
            </a:r>
            <a:endParaRPr lang="en-US" sz="950" dirty="0"/>
          </a:p>
        </p:txBody>
      </p:sp>
      <p:sp>
        <p:nvSpPr>
          <p:cNvPr id="24" name="Text 22"/>
          <p:cNvSpPr/>
          <p:nvPr/>
        </p:nvSpPr>
        <p:spPr>
          <a:xfrm>
            <a:off x="1783080" y="3328416"/>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OpenAI GPT-4o-mini — contextual memory assistant</a:t>
            </a:r>
            <a:endParaRPr lang="en-US" sz="950" dirty="0"/>
          </a:p>
        </p:txBody>
      </p:sp>
      <p:sp>
        <p:nvSpPr>
          <p:cNvPr id="25" name="Shape 23"/>
          <p:cNvSpPr/>
          <p:nvPr/>
        </p:nvSpPr>
        <p:spPr>
          <a:xfrm>
            <a:off x="256032" y="3694176"/>
            <a:ext cx="4251960" cy="347472"/>
          </a:xfrm>
          <a:prstGeom prst="rect">
            <a:avLst/>
          </a:prstGeom>
          <a:solidFill>
            <a:srgbClr val="FFFFFF"/>
          </a:solidFill>
          <a:ln w="6350">
            <a:solidFill>
              <a:srgbClr val="DDE1E7"/>
            </a:solidFill>
            <a:prstDash val="solid"/>
          </a:ln>
        </p:spPr>
      </p:sp>
      <p:sp>
        <p:nvSpPr>
          <p:cNvPr id="26" name="Text 24"/>
          <p:cNvSpPr/>
          <p:nvPr/>
        </p:nvSpPr>
        <p:spPr>
          <a:xfrm>
            <a:off x="347472" y="3721608"/>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Payments</a:t>
            </a:r>
            <a:endParaRPr lang="en-US" sz="950" dirty="0"/>
          </a:p>
        </p:txBody>
      </p:sp>
      <p:sp>
        <p:nvSpPr>
          <p:cNvPr id="27" name="Text 25"/>
          <p:cNvSpPr/>
          <p:nvPr/>
        </p:nvSpPr>
        <p:spPr>
          <a:xfrm>
            <a:off x="1783080" y="3721608"/>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Stripe — PCI-compliant, CAD and USD supported</a:t>
            </a:r>
            <a:endParaRPr lang="en-US" sz="950" dirty="0"/>
          </a:p>
        </p:txBody>
      </p:sp>
      <p:sp>
        <p:nvSpPr>
          <p:cNvPr id="28" name="Shape 26"/>
          <p:cNvSpPr/>
          <p:nvPr/>
        </p:nvSpPr>
        <p:spPr>
          <a:xfrm>
            <a:off x="256032" y="4087368"/>
            <a:ext cx="4251960" cy="347472"/>
          </a:xfrm>
          <a:prstGeom prst="rect">
            <a:avLst/>
          </a:prstGeom>
          <a:solidFill>
            <a:srgbClr val="F4F6F9"/>
          </a:solidFill>
          <a:ln w="6350">
            <a:solidFill>
              <a:srgbClr val="DDE1E7"/>
            </a:solidFill>
            <a:prstDash val="solid"/>
          </a:ln>
        </p:spPr>
      </p:sp>
      <p:sp>
        <p:nvSpPr>
          <p:cNvPr id="29" name="Text 27"/>
          <p:cNvSpPr/>
          <p:nvPr/>
        </p:nvSpPr>
        <p:spPr>
          <a:xfrm>
            <a:off x="347472" y="4114800"/>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Infrastructure</a:t>
            </a:r>
            <a:endParaRPr lang="en-US" sz="950" dirty="0"/>
          </a:p>
        </p:txBody>
      </p:sp>
      <p:sp>
        <p:nvSpPr>
          <p:cNvPr id="30" name="Text 28"/>
          <p:cNvSpPr/>
          <p:nvPr/>
        </p:nvSpPr>
        <p:spPr>
          <a:xfrm>
            <a:off x="1783080" y="4114800"/>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Netlify CDN (landing) + Supabase cloud (app)</a:t>
            </a:r>
            <a:endParaRPr lang="en-US" sz="950" dirty="0"/>
          </a:p>
        </p:txBody>
      </p:sp>
      <p:sp>
        <p:nvSpPr>
          <p:cNvPr id="31" name="Shape 29"/>
          <p:cNvSpPr/>
          <p:nvPr/>
        </p:nvSpPr>
        <p:spPr>
          <a:xfrm>
            <a:off x="256032" y="4480560"/>
            <a:ext cx="4251960" cy="347472"/>
          </a:xfrm>
          <a:prstGeom prst="rect">
            <a:avLst/>
          </a:prstGeom>
          <a:solidFill>
            <a:srgbClr val="FFFFFF"/>
          </a:solidFill>
          <a:ln w="6350">
            <a:solidFill>
              <a:srgbClr val="DDE1E7"/>
            </a:solidFill>
            <a:prstDash val="solid"/>
          </a:ln>
        </p:spPr>
      </p:sp>
      <p:sp>
        <p:nvSpPr>
          <p:cNvPr id="32" name="Text 30"/>
          <p:cNvSpPr/>
          <p:nvPr/>
        </p:nvSpPr>
        <p:spPr>
          <a:xfrm>
            <a:off x="347472" y="4507992"/>
            <a:ext cx="1417320" cy="274320"/>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Security</a:t>
            </a:r>
            <a:endParaRPr lang="en-US" sz="950" dirty="0"/>
          </a:p>
        </p:txBody>
      </p:sp>
      <p:sp>
        <p:nvSpPr>
          <p:cNvPr id="33" name="Text 31"/>
          <p:cNvSpPr/>
          <p:nvPr/>
        </p:nvSpPr>
        <p:spPr>
          <a:xfrm>
            <a:off x="1783080" y="4507992"/>
            <a:ext cx="2633472" cy="274320"/>
          </a:xfrm>
          <a:prstGeom prst="rect">
            <a:avLst/>
          </a:prstGeom>
          <a:noFill/>
          <a:ln/>
        </p:spPr>
        <p:txBody>
          <a:bodyPr wrap="square" lIns="0" tIns="0" rIns="0" bIns="0" rtlCol="0" anchor="ctr"/>
          <a:lstStyle/>
          <a:p>
            <a:pPr indent="0" marL="0">
              <a:buNone/>
            </a:pPr>
            <a:r>
              <a:rPr lang="en-US" sz="950" dirty="0">
                <a:solidFill>
                  <a:srgbClr val="1A252F"/>
                </a:solidFill>
                <a:latin typeface="Calibri" pitchFamily="34" charset="0"/>
                <a:ea typeface="Calibri" pitchFamily="34" charset="-122"/>
                <a:cs typeface="Calibri" pitchFamily="34" charset="-120"/>
              </a:rPr>
              <a:t>JWT auth, RLS policies, encrypted vault storage</a:t>
            </a:r>
            <a:endParaRPr lang="en-US" sz="950" dirty="0"/>
          </a:p>
        </p:txBody>
      </p:sp>
      <p:sp>
        <p:nvSpPr>
          <p:cNvPr id="34" name="Text 32"/>
          <p:cNvSpPr/>
          <p:nvPr/>
        </p:nvSpPr>
        <p:spPr>
          <a:xfrm>
            <a:off x="4800600" y="1719072"/>
            <a:ext cx="4069080" cy="320040"/>
          </a:xfrm>
          <a:prstGeom prst="rect">
            <a:avLst/>
          </a:prstGeom>
          <a:noFill/>
          <a:ln/>
        </p:spPr>
        <p:txBody>
          <a:bodyPr wrap="square" lIns="0" tIns="0" rIns="0" bIns="0" rtlCol="0" anchor="ctr"/>
          <a:lstStyle/>
          <a:p>
            <a:pPr indent="0" marL="0">
              <a:buNone/>
            </a:pPr>
            <a:r>
              <a:rPr lang="en-US" sz="1400" b="1" dirty="0">
                <a:solidFill>
                  <a:srgbClr val="1B3A6B"/>
                </a:solidFill>
                <a:latin typeface="Calibri" pitchFamily="34" charset="0"/>
                <a:ea typeface="Calibri" pitchFamily="34" charset="-122"/>
                <a:cs typeface="Calibri" pitchFamily="34" charset="-120"/>
              </a:rPr>
              <a:t>SR&amp;ED-Eligible R&amp;D Activities</a:t>
            </a:r>
            <a:endParaRPr lang="en-US" sz="1400" dirty="0"/>
          </a:p>
        </p:txBody>
      </p:sp>
      <p:sp>
        <p:nvSpPr>
          <p:cNvPr id="35" name="Shape 33"/>
          <p:cNvSpPr/>
          <p:nvPr/>
        </p:nvSpPr>
        <p:spPr>
          <a:xfrm>
            <a:off x="4800600" y="2121408"/>
            <a:ext cx="4069080" cy="841248"/>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36" name="Shape 34"/>
          <p:cNvSpPr/>
          <p:nvPr/>
        </p:nvSpPr>
        <p:spPr>
          <a:xfrm>
            <a:off x="4800600" y="2121408"/>
            <a:ext cx="73152" cy="841248"/>
          </a:xfrm>
          <a:prstGeom prst="rect">
            <a:avLst/>
          </a:prstGeom>
          <a:solidFill>
            <a:srgbClr val="006B6B"/>
          </a:solidFill>
          <a:ln w="12700">
            <a:solidFill>
              <a:srgbClr val="006B6B"/>
            </a:solidFill>
            <a:prstDash val="solid"/>
          </a:ln>
        </p:spPr>
      </p:sp>
      <p:sp>
        <p:nvSpPr>
          <p:cNvPr id="37" name="Text 35"/>
          <p:cNvSpPr/>
          <p:nvPr/>
        </p:nvSpPr>
        <p:spPr>
          <a:xfrm>
            <a:off x="4956048" y="2148840"/>
            <a:ext cx="3822192" cy="256032"/>
          </a:xfrm>
          <a:prstGeom prst="rect">
            <a:avLst/>
          </a:prstGeom>
          <a:noFill/>
          <a:ln/>
        </p:spPr>
        <p:txBody>
          <a:bodyPr wrap="square" lIns="0" tIns="0" rIns="0" bIns="0" rtlCol="0" anchor="ctr"/>
          <a:lstStyle/>
          <a:p>
            <a:pPr indent="0" marL="0">
              <a:buNone/>
            </a:pPr>
            <a:r>
              <a:rPr lang="en-US" sz="1100" b="1" dirty="0">
                <a:solidFill>
                  <a:srgbClr val="006B6B"/>
                </a:solidFill>
                <a:latin typeface="Calibri" pitchFamily="34" charset="0"/>
                <a:ea typeface="Calibri" pitchFamily="34" charset="-122"/>
                <a:cs typeface="Calibri" pitchFamily="34" charset="-120"/>
              </a:rPr>
              <a:t>AI Personalisation Engine</a:t>
            </a:r>
            <a:endParaRPr lang="en-US" sz="1100" dirty="0"/>
          </a:p>
        </p:txBody>
      </p:sp>
      <p:sp>
        <p:nvSpPr>
          <p:cNvPr id="38" name="Text 36"/>
          <p:cNvSpPr/>
          <p:nvPr/>
        </p:nvSpPr>
        <p:spPr>
          <a:xfrm>
            <a:off x="4956048" y="2423160"/>
            <a:ext cx="3822192" cy="50292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Experimental development of contextual AI responses trained on individual user vault data — a novel application of LLM technology to the grief and legacy domain. No existing literature addresses this specific application.</a:t>
            </a:r>
            <a:endParaRPr lang="en-US" sz="950" dirty="0"/>
          </a:p>
        </p:txBody>
      </p:sp>
      <p:sp>
        <p:nvSpPr>
          <p:cNvPr id="39" name="Shape 37"/>
          <p:cNvSpPr/>
          <p:nvPr/>
        </p:nvSpPr>
        <p:spPr>
          <a:xfrm>
            <a:off x="4800600" y="3081528"/>
            <a:ext cx="4069080" cy="841248"/>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40" name="Shape 38"/>
          <p:cNvSpPr/>
          <p:nvPr/>
        </p:nvSpPr>
        <p:spPr>
          <a:xfrm>
            <a:off x="4800600" y="3081528"/>
            <a:ext cx="73152" cy="841248"/>
          </a:xfrm>
          <a:prstGeom prst="rect">
            <a:avLst/>
          </a:prstGeom>
          <a:solidFill>
            <a:srgbClr val="006B6B"/>
          </a:solidFill>
          <a:ln w="12700">
            <a:solidFill>
              <a:srgbClr val="006B6B"/>
            </a:solidFill>
            <a:prstDash val="solid"/>
          </a:ln>
        </p:spPr>
      </p:sp>
      <p:sp>
        <p:nvSpPr>
          <p:cNvPr id="41" name="Text 39"/>
          <p:cNvSpPr/>
          <p:nvPr/>
        </p:nvSpPr>
        <p:spPr>
          <a:xfrm>
            <a:off x="4956048" y="3108960"/>
            <a:ext cx="3822192" cy="256032"/>
          </a:xfrm>
          <a:prstGeom prst="rect">
            <a:avLst/>
          </a:prstGeom>
          <a:noFill/>
          <a:ln/>
        </p:spPr>
        <p:txBody>
          <a:bodyPr wrap="square" lIns="0" tIns="0" rIns="0" bIns="0" rtlCol="0" anchor="ctr"/>
          <a:lstStyle/>
          <a:p>
            <a:pPr indent="0" marL="0">
              <a:buNone/>
            </a:pPr>
            <a:r>
              <a:rPr lang="en-US" sz="1100" b="1" dirty="0">
                <a:solidFill>
                  <a:srgbClr val="006B6B"/>
                </a:solidFill>
                <a:latin typeface="Calibri" pitchFamily="34" charset="0"/>
                <a:ea typeface="Calibri" pitchFamily="34" charset="-122"/>
                <a:cs typeface="Calibri" pitchFamily="34" charset="-120"/>
              </a:rPr>
              <a:t>Automated Death Confirmation System</a:t>
            </a:r>
            <a:endParaRPr lang="en-US" sz="1100" dirty="0"/>
          </a:p>
        </p:txBody>
      </p:sp>
      <p:sp>
        <p:nvSpPr>
          <p:cNvPr id="42" name="Text 40"/>
          <p:cNvSpPr/>
          <p:nvPr/>
        </p:nvSpPr>
        <p:spPr>
          <a:xfrm>
            <a:off x="4956048" y="3383280"/>
            <a:ext cx="3822192" cy="50292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Novel protocol for detecting and confirming mortality events through a multi-party check-in system with escalation triggers. No standardised technical or legal framework exists for this workflow.</a:t>
            </a:r>
            <a:endParaRPr lang="en-US" sz="950" dirty="0"/>
          </a:p>
        </p:txBody>
      </p:sp>
      <p:sp>
        <p:nvSpPr>
          <p:cNvPr id="43" name="Shape 41"/>
          <p:cNvSpPr/>
          <p:nvPr/>
        </p:nvSpPr>
        <p:spPr>
          <a:xfrm>
            <a:off x="4800600" y="4041648"/>
            <a:ext cx="4069080" cy="841248"/>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44" name="Shape 42"/>
          <p:cNvSpPr/>
          <p:nvPr/>
        </p:nvSpPr>
        <p:spPr>
          <a:xfrm>
            <a:off x="4800600" y="4041648"/>
            <a:ext cx="73152" cy="841248"/>
          </a:xfrm>
          <a:prstGeom prst="rect">
            <a:avLst/>
          </a:prstGeom>
          <a:solidFill>
            <a:srgbClr val="006B6B"/>
          </a:solidFill>
          <a:ln w="12700">
            <a:solidFill>
              <a:srgbClr val="006B6B"/>
            </a:solidFill>
            <a:prstDash val="solid"/>
          </a:ln>
        </p:spPr>
      </p:sp>
      <p:sp>
        <p:nvSpPr>
          <p:cNvPr id="45" name="Text 43"/>
          <p:cNvSpPr/>
          <p:nvPr/>
        </p:nvSpPr>
        <p:spPr>
          <a:xfrm>
            <a:off x="4956048" y="4069080"/>
            <a:ext cx="3822192" cy="256032"/>
          </a:xfrm>
          <a:prstGeom prst="rect">
            <a:avLst/>
          </a:prstGeom>
          <a:noFill/>
          <a:ln/>
        </p:spPr>
        <p:txBody>
          <a:bodyPr wrap="square" lIns="0" tIns="0" rIns="0" bIns="0" rtlCol="0" anchor="ctr"/>
          <a:lstStyle/>
          <a:p>
            <a:pPr indent="0" marL="0">
              <a:buNone/>
            </a:pPr>
            <a:r>
              <a:rPr lang="en-US" sz="1100" b="1" dirty="0">
                <a:solidFill>
                  <a:srgbClr val="006B6B"/>
                </a:solidFill>
                <a:latin typeface="Calibri" pitchFamily="34" charset="0"/>
                <a:ea typeface="Calibri" pitchFamily="34" charset="-122"/>
                <a:cs typeface="Calibri" pitchFamily="34" charset="-120"/>
              </a:rPr>
              <a:t>Secure Legacy Data Architecture</a:t>
            </a:r>
            <a:endParaRPr lang="en-US" sz="1100" dirty="0"/>
          </a:p>
        </p:txBody>
      </p:sp>
      <p:sp>
        <p:nvSpPr>
          <p:cNvPr id="46" name="Text 44"/>
          <p:cNvSpPr/>
          <p:nvPr/>
        </p:nvSpPr>
        <p:spPr>
          <a:xfrm>
            <a:off x="4956048" y="4343400"/>
            <a:ext cx="3822192" cy="50292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Research into data custody frameworks for content owned by deceased persons — an unsolved problem in Canadian digital estate law and cloud infrastructure design.</a:t>
            </a:r>
            <a:endParaRPr lang="en-US" sz="950" dirty="0"/>
          </a:p>
        </p:txBody>
      </p:sp>
      <p:sp>
        <p:nvSpPr>
          <p:cNvPr id="47" name="Shape 45"/>
          <p:cNvSpPr/>
          <p:nvPr/>
        </p:nvSpPr>
        <p:spPr>
          <a:xfrm>
            <a:off x="0" y="4956048"/>
            <a:ext cx="9144000" cy="187452"/>
          </a:xfrm>
          <a:prstGeom prst="rect">
            <a:avLst/>
          </a:prstGeom>
          <a:solidFill>
            <a:srgbClr val="1B3A6B"/>
          </a:solidFill>
          <a:ln w="12700">
            <a:solidFill>
              <a:srgbClr val="1B3A6B"/>
            </a:solidFill>
            <a:prstDash val="solid"/>
          </a:ln>
        </p:spPr>
      </p:sp>
      <p:sp>
        <p:nvSpPr>
          <p:cNvPr id="48" name="Text 46"/>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7 of 13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Canadian Economic Impact</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Job creation, tax revenue, and industry development</a:t>
            </a:r>
            <a:endParaRPr lang="en-US" sz="1200" dirty="0"/>
          </a:p>
        </p:txBody>
      </p:sp>
      <p:sp>
        <p:nvSpPr>
          <p:cNvPr id="12" name="Text 10"/>
          <p:cNvSpPr/>
          <p:nvPr/>
        </p:nvSpPr>
        <p:spPr>
          <a:xfrm>
            <a:off x="256032" y="1719072"/>
            <a:ext cx="5486400" cy="292608"/>
          </a:xfrm>
          <a:prstGeom prst="rect">
            <a:avLst/>
          </a:prstGeom>
          <a:noFill/>
          <a:ln/>
        </p:spPr>
        <p:txBody>
          <a:bodyPr wrap="square" lIns="0" tIns="0" rIns="0" bIns="0"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Planned Canadian Hires — 12 Months Post-Funding</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56032" y="2048256"/>
          <a:ext cx="8631936" cy="1828800"/>
        </p:xfrm>
        <a:graphic>
          <a:graphicData uri="http://schemas.openxmlformats.org/drawingml/2006/table">
            <a:tbl>
              <a:tblPr/>
              <a:tblGrid>
                <a:gridCol w="2926080"/>
                <a:gridCol w="1645920"/>
                <a:gridCol w="1645920"/>
                <a:gridCol w="2423160"/>
              </a:tblGrid>
              <a:tr h="3048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Location</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Timeline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r>
              <a:tr h="30480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Business Development (B2B Partnerships)</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Part-time contract</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Vancouver / Remote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30480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Android Developer</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Contract</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Canada-wide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Month 3–4</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30480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Clinical Advisor (Grief Psychology)</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Part-time advisory</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Canada-wide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Month 2–3</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30480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Customer Success (Seniors Channel)</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Part-time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Vancouver</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Month 4–6</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304800">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Full-stack Developer</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Full-time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Canada-wide</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050" dirty="0">
                          <a:solidFill>
                            <a:srgbClr val="1A252F"/>
                          </a:solidFill>
                          <a:latin typeface="Calibri" pitchFamily="34" charset="0"/>
                          <a:ea typeface="Calibri" pitchFamily="34" charset="-122"/>
                          <a:cs typeface="Calibri" pitchFamily="34" charset="-120"/>
                        </a:rPr>
                        <a:t>Month 6–12</a:t>
                      </a:r>
                      <a:endParaRPr lang="en-US" sz="105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bl>
          </a:graphicData>
        </a:graphic>
      </p:graphicFrame>
      <p:sp>
        <p:nvSpPr>
          <p:cNvPr id="14" name="Shape 11"/>
          <p:cNvSpPr/>
          <p:nvPr/>
        </p:nvSpPr>
        <p:spPr>
          <a:xfrm>
            <a:off x="256032" y="4005072"/>
            <a:ext cx="2816352" cy="868680"/>
          </a:xfrm>
          <a:prstGeom prst="rect">
            <a:avLst/>
          </a:prstGeom>
          <a:solidFill>
            <a:srgbClr val="1B3A6B"/>
          </a:solidFill>
          <a:ln w="12700">
            <a:solidFill>
              <a:srgbClr val="1B3A6B"/>
            </a:solidFill>
            <a:prstDash val="solid"/>
          </a:ln>
          <a:effectLst>
            <a:outerShdw sx="100000" sy="100000" kx="0" ky="0" algn="bl" rotWithShape="0" blurRad="76200" dist="25400" dir="8100000">
              <a:srgbClr val="000000">
                <a:alpha val="10000"/>
              </a:srgbClr>
            </a:outerShdw>
          </a:effectLst>
        </p:spPr>
      </p:sp>
      <p:sp>
        <p:nvSpPr>
          <p:cNvPr id="15" name="Text 12"/>
          <p:cNvSpPr/>
          <p:nvPr/>
        </p:nvSpPr>
        <p:spPr>
          <a:xfrm>
            <a:off x="365760" y="4041648"/>
            <a:ext cx="109728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5+</a:t>
            </a:r>
            <a:endParaRPr lang="en-US" sz="3000" dirty="0"/>
          </a:p>
        </p:txBody>
      </p:sp>
      <p:sp>
        <p:nvSpPr>
          <p:cNvPr id="16" name="Text 13"/>
          <p:cNvSpPr/>
          <p:nvPr/>
        </p:nvSpPr>
        <p:spPr>
          <a:xfrm>
            <a:off x="1490472" y="4069080"/>
            <a:ext cx="1463040" cy="749808"/>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Canadian jobs created</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in year 1</a:t>
            </a:r>
            <a:endParaRPr lang="en-US" sz="1100" dirty="0"/>
          </a:p>
        </p:txBody>
      </p:sp>
      <p:sp>
        <p:nvSpPr>
          <p:cNvPr id="17" name="Shape 14"/>
          <p:cNvSpPr/>
          <p:nvPr/>
        </p:nvSpPr>
        <p:spPr>
          <a:xfrm>
            <a:off x="3227832" y="4005072"/>
            <a:ext cx="2816352" cy="868680"/>
          </a:xfrm>
          <a:prstGeom prst="rect">
            <a:avLst/>
          </a:prstGeom>
          <a:solidFill>
            <a:srgbClr val="006B6B"/>
          </a:solidFill>
          <a:ln w="12700">
            <a:solidFill>
              <a:srgbClr val="006B6B"/>
            </a:solidFill>
            <a:prstDash val="solid"/>
          </a:ln>
          <a:effectLst>
            <a:outerShdw sx="100000" sy="100000" kx="0" ky="0" algn="bl" rotWithShape="0" blurRad="76200" dist="25400" dir="8100000">
              <a:srgbClr val="000000">
                <a:alpha val="10000"/>
              </a:srgbClr>
            </a:outerShdw>
          </a:effectLst>
        </p:spPr>
      </p:sp>
      <p:sp>
        <p:nvSpPr>
          <p:cNvPr id="18" name="Text 15"/>
          <p:cNvSpPr/>
          <p:nvPr/>
        </p:nvSpPr>
        <p:spPr>
          <a:xfrm>
            <a:off x="3337560" y="4041648"/>
            <a:ext cx="109728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$280K+</a:t>
            </a:r>
            <a:endParaRPr lang="en-US" sz="3000" dirty="0"/>
          </a:p>
        </p:txBody>
      </p:sp>
      <p:sp>
        <p:nvSpPr>
          <p:cNvPr id="19" name="Text 16"/>
          <p:cNvSpPr/>
          <p:nvPr/>
        </p:nvSpPr>
        <p:spPr>
          <a:xfrm>
            <a:off x="4462272" y="4069080"/>
            <a:ext cx="1463040" cy="749808"/>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Projected Canadian</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wage payments (Yr 1)</a:t>
            </a:r>
            <a:endParaRPr lang="en-US" sz="1100" dirty="0"/>
          </a:p>
        </p:txBody>
      </p:sp>
      <p:sp>
        <p:nvSpPr>
          <p:cNvPr id="20" name="Shape 17"/>
          <p:cNvSpPr/>
          <p:nvPr/>
        </p:nvSpPr>
        <p:spPr>
          <a:xfrm>
            <a:off x="6199632" y="4005072"/>
            <a:ext cx="2816352" cy="868680"/>
          </a:xfrm>
          <a:prstGeom prst="rect">
            <a:avLst/>
          </a:prstGeom>
          <a:solidFill>
            <a:srgbClr val="CC0000"/>
          </a:solidFill>
          <a:ln w="12700">
            <a:solidFill>
              <a:srgbClr val="CC0000"/>
            </a:solidFill>
            <a:prstDash val="solid"/>
          </a:ln>
          <a:effectLst>
            <a:outerShdw sx="100000" sy="100000" kx="0" ky="0" algn="bl" rotWithShape="0" blurRad="76200" dist="25400" dir="8100000">
              <a:srgbClr val="000000">
                <a:alpha val="10000"/>
              </a:srgbClr>
            </a:outerShdw>
          </a:effectLst>
        </p:spPr>
      </p:sp>
      <p:sp>
        <p:nvSpPr>
          <p:cNvPr id="21" name="Text 18"/>
          <p:cNvSpPr/>
          <p:nvPr/>
        </p:nvSpPr>
        <p:spPr>
          <a:xfrm>
            <a:off x="6309360" y="4041648"/>
            <a:ext cx="109728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100%</a:t>
            </a:r>
            <a:endParaRPr lang="en-US" sz="3000" dirty="0"/>
          </a:p>
        </p:txBody>
      </p:sp>
      <p:sp>
        <p:nvSpPr>
          <p:cNvPr id="22" name="Text 19"/>
          <p:cNvSpPr/>
          <p:nvPr/>
        </p:nvSpPr>
        <p:spPr>
          <a:xfrm>
            <a:off x="7434072" y="4069080"/>
            <a:ext cx="1463040" cy="749808"/>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Canadian-owned</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and operated</a:t>
            </a:r>
            <a:endParaRPr lang="en-US" sz="1100" dirty="0"/>
          </a:p>
        </p:txBody>
      </p:sp>
      <p:sp>
        <p:nvSpPr>
          <p:cNvPr id="23" name="Shape 20"/>
          <p:cNvSpPr/>
          <p:nvPr/>
        </p:nvSpPr>
        <p:spPr>
          <a:xfrm>
            <a:off x="0" y="4956048"/>
            <a:ext cx="9144000" cy="187452"/>
          </a:xfrm>
          <a:prstGeom prst="rect">
            <a:avLst/>
          </a:prstGeom>
          <a:solidFill>
            <a:srgbClr val="1B3A6B"/>
          </a:solidFill>
          <a:ln w="12700">
            <a:solidFill>
              <a:srgbClr val="1B3A6B"/>
            </a:solidFill>
            <a:prstDash val="solid"/>
          </a:ln>
        </p:spPr>
      </p:sp>
      <p:sp>
        <p:nvSpPr>
          <p:cNvPr id="24" name="Text 21"/>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8 of 13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Leadership &amp; Advisory Team</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Experienced operators with domain expertise</a:t>
            </a:r>
            <a:endParaRPr lang="en-US" sz="1200" dirty="0"/>
          </a:p>
        </p:txBody>
      </p:sp>
      <p:sp>
        <p:nvSpPr>
          <p:cNvPr id="12" name="Shape 10"/>
          <p:cNvSpPr/>
          <p:nvPr/>
        </p:nvSpPr>
        <p:spPr>
          <a:xfrm>
            <a:off x="256032" y="1719072"/>
            <a:ext cx="4251960" cy="263347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256032" y="1719072"/>
            <a:ext cx="4251960" cy="502920"/>
          </a:xfrm>
          <a:prstGeom prst="rect">
            <a:avLst/>
          </a:prstGeom>
          <a:solidFill>
            <a:srgbClr val="1B3A6B"/>
          </a:solidFill>
          <a:ln w="12700">
            <a:solidFill>
              <a:srgbClr val="1B3A6B"/>
            </a:solidFill>
            <a:prstDash val="solid"/>
          </a:ln>
        </p:spPr>
      </p:sp>
      <p:sp>
        <p:nvSpPr>
          <p:cNvPr id="14" name="Shape 12"/>
          <p:cNvSpPr/>
          <p:nvPr/>
        </p:nvSpPr>
        <p:spPr>
          <a:xfrm>
            <a:off x="420624" y="1874520"/>
            <a:ext cx="502920" cy="502920"/>
          </a:xfrm>
          <a:prstGeom prst="rect">
            <a:avLst/>
          </a:prstGeom>
          <a:solidFill>
            <a:srgbClr val="FFFFFF">
              <a:alpha val="75000"/>
            </a:srgbClr>
          </a:solidFill>
          <a:ln w="12700">
            <a:solidFill>
              <a:srgbClr val="FFFFFF"/>
            </a:solidFill>
            <a:prstDash val="solid"/>
          </a:ln>
        </p:spPr>
      </p:sp>
      <p:sp>
        <p:nvSpPr>
          <p:cNvPr id="15" name="Text 13"/>
          <p:cNvSpPr/>
          <p:nvPr/>
        </p:nvSpPr>
        <p:spPr>
          <a:xfrm>
            <a:off x="420624"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16" name="Text 14"/>
          <p:cNvSpPr/>
          <p:nvPr/>
        </p:nvSpPr>
        <p:spPr>
          <a:xfrm>
            <a:off x="1060704" y="1792224"/>
            <a:ext cx="32918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Sokha Eang</a:t>
            </a:r>
            <a:endParaRPr lang="en-US" sz="1400" dirty="0"/>
          </a:p>
        </p:txBody>
      </p:sp>
      <p:sp>
        <p:nvSpPr>
          <p:cNvPr id="17" name="Text 15"/>
          <p:cNvSpPr/>
          <p:nvPr/>
        </p:nvSpPr>
        <p:spPr>
          <a:xfrm>
            <a:off x="1060704" y="2084832"/>
            <a:ext cx="3291840" cy="182880"/>
          </a:xfrm>
          <a:prstGeom prst="rect">
            <a:avLst/>
          </a:prstGeom>
          <a:noFill/>
          <a:ln/>
        </p:spPr>
        <p:txBody>
          <a:bodyPr wrap="square" lIns="0" tIns="0" rIns="0" bIns="0" rtlCol="0" anchor="ctr"/>
          <a:lstStyle/>
          <a:p>
            <a:pPr indent="0" marL="0">
              <a:buNone/>
            </a:pPr>
            <a:r>
              <a:rPr lang="en-US" sz="950" dirty="0">
                <a:solidFill>
                  <a:srgbClr val="FFFFFF">
                    <a:alpha val="80000"/>
                  </a:srgbClr>
                </a:solidFill>
                <a:latin typeface="Calibri" pitchFamily="34" charset="0"/>
                <a:ea typeface="Calibri" pitchFamily="34" charset="-122"/>
                <a:cs typeface="Calibri" pitchFamily="34" charset="-120"/>
              </a:rPr>
              <a:t>Founder &amp; CEO  ·  Vancouver, BC</a:t>
            </a:r>
            <a:endParaRPr lang="en-US" sz="950" dirty="0"/>
          </a:p>
        </p:txBody>
      </p:sp>
      <p:sp>
        <p:nvSpPr>
          <p:cNvPr id="18" name="Text 16"/>
          <p:cNvSpPr/>
          <p:nvPr/>
        </p:nvSpPr>
        <p:spPr>
          <a:xfrm>
            <a:off x="438912" y="2331720"/>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Conceived, designed, and built the Solace Life platform end-to-end</a:t>
            </a:r>
            <a:endParaRPr lang="en-US" sz="1050" dirty="0"/>
          </a:p>
        </p:txBody>
      </p:sp>
      <p:sp>
        <p:nvSpPr>
          <p:cNvPr id="19" name="Text 17"/>
          <p:cNvSpPr/>
          <p:nvPr/>
        </p:nvSpPr>
        <p:spPr>
          <a:xfrm>
            <a:off x="438912" y="2807208"/>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Led product through 46 database migrations and 15 production deployments</a:t>
            </a:r>
            <a:endParaRPr lang="en-US" sz="1050" dirty="0"/>
          </a:p>
        </p:txBody>
      </p:sp>
      <p:sp>
        <p:nvSpPr>
          <p:cNvPr id="20" name="Text 18"/>
          <p:cNvSpPr/>
          <p:nvPr/>
        </p:nvSpPr>
        <p:spPr>
          <a:xfrm>
            <a:off x="438912" y="3282696"/>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Manages investor relations, A-Team coordination, and GTM strategy</a:t>
            </a:r>
            <a:endParaRPr lang="en-US" sz="1050" dirty="0"/>
          </a:p>
        </p:txBody>
      </p:sp>
      <p:sp>
        <p:nvSpPr>
          <p:cNvPr id="21" name="Text 19"/>
          <p:cNvSpPr/>
          <p:nvPr/>
        </p:nvSpPr>
        <p:spPr>
          <a:xfrm>
            <a:off x="438912" y="3758184"/>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Responsible for government funding applications and compliance</a:t>
            </a:r>
            <a:endParaRPr lang="en-US" sz="1050" dirty="0"/>
          </a:p>
        </p:txBody>
      </p:sp>
      <p:sp>
        <p:nvSpPr>
          <p:cNvPr id="22" name="Shape 20"/>
          <p:cNvSpPr/>
          <p:nvPr/>
        </p:nvSpPr>
        <p:spPr>
          <a:xfrm>
            <a:off x="4690872" y="1719072"/>
            <a:ext cx="4251960" cy="263347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4690872" y="1719072"/>
            <a:ext cx="4251960" cy="502920"/>
          </a:xfrm>
          <a:prstGeom prst="rect">
            <a:avLst/>
          </a:prstGeom>
          <a:solidFill>
            <a:srgbClr val="006B6B"/>
          </a:solidFill>
          <a:ln w="12700">
            <a:solidFill>
              <a:srgbClr val="006B6B"/>
            </a:solidFill>
            <a:prstDash val="solid"/>
          </a:ln>
        </p:spPr>
      </p:sp>
      <p:sp>
        <p:nvSpPr>
          <p:cNvPr id="24" name="Shape 22"/>
          <p:cNvSpPr/>
          <p:nvPr/>
        </p:nvSpPr>
        <p:spPr>
          <a:xfrm>
            <a:off x="4855464" y="1874520"/>
            <a:ext cx="502920" cy="502920"/>
          </a:xfrm>
          <a:prstGeom prst="rect">
            <a:avLst/>
          </a:prstGeom>
          <a:solidFill>
            <a:srgbClr val="FFFFFF">
              <a:alpha val="75000"/>
            </a:srgbClr>
          </a:solidFill>
          <a:ln w="12700">
            <a:solidFill>
              <a:srgbClr val="FFFFFF"/>
            </a:solidFill>
            <a:prstDash val="solid"/>
          </a:ln>
        </p:spPr>
      </p:sp>
      <p:sp>
        <p:nvSpPr>
          <p:cNvPr id="25" name="Text 23"/>
          <p:cNvSpPr/>
          <p:nvPr/>
        </p:nvSpPr>
        <p:spPr>
          <a:xfrm>
            <a:off x="4855464"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J</a:t>
            </a:r>
            <a:endParaRPr lang="en-US" sz="1600" dirty="0"/>
          </a:p>
        </p:txBody>
      </p:sp>
      <p:sp>
        <p:nvSpPr>
          <p:cNvPr id="26" name="Text 24"/>
          <p:cNvSpPr/>
          <p:nvPr/>
        </p:nvSpPr>
        <p:spPr>
          <a:xfrm>
            <a:off x="5495544" y="1792224"/>
            <a:ext cx="32918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Jordan Park</a:t>
            </a:r>
            <a:endParaRPr lang="en-US" sz="1400" dirty="0"/>
          </a:p>
        </p:txBody>
      </p:sp>
      <p:sp>
        <p:nvSpPr>
          <p:cNvPr id="27" name="Text 25"/>
          <p:cNvSpPr/>
          <p:nvPr/>
        </p:nvSpPr>
        <p:spPr>
          <a:xfrm>
            <a:off x="5495544" y="2084832"/>
            <a:ext cx="3291840" cy="182880"/>
          </a:xfrm>
          <a:prstGeom prst="rect">
            <a:avLst/>
          </a:prstGeom>
          <a:noFill/>
          <a:ln/>
        </p:spPr>
        <p:txBody>
          <a:bodyPr wrap="square" lIns="0" tIns="0" rIns="0" bIns="0" rtlCol="0" anchor="ctr"/>
          <a:lstStyle/>
          <a:p>
            <a:pPr indent="0" marL="0">
              <a:buNone/>
            </a:pPr>
            <a:r>
              <a:rPr lang="en-US" sz="950" dirty="0">
                <a:solidFill>
                  <a:srgbClr val="FFFFFF">
                    <a:alpha val="80000"/>
                  </a:srgbClr>
                </a:solidFill>
                <a:latin typeface="Calibri" pitchFamily="34" charset="0"/>
                <a:ea typeface="Calibri" pitchFamily="34" charset="-122"/>
                <a:cs typeface="Calibri" pitchFamily="34" charset="-120"/>
              </a:rPr>
              <a:t>Development Lead  ·  0-to-1 Mobile Specialist</a:t>
            </a:r>
            <a:endParaRPr lang="en-US" sz="950" dirty="0"/>
          </a:p>
        </p:txBody>
      </p:sp>
      <p:sp>
        <p:nvSpPr>
          <p:cNvPr id="28" name="Text 26"/>
          <p:cNvSpPr/>
          <p:nvPr/>
        </p:nvSpPr>
        <p:spPr>
          <a:xfrm>
            <a:off x="4873752" y="2331720"/>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Specialist in taking mobile applications from development through App Store launch</a:t>
            </a:r>
            <a:endParaRPr lang="en-US" sz="1050" dirty="0"/>
          </a:p>
        </p:txBody>
      </p:sp>
      <p:sp>
        <p:nvSpPr>
          <p:cNvPr id="29" name="Text 27"/>
          <p:cNvSpPr/>
          <p:nvPr/>
        </p:nvSpPr>
        <p:spPr>
          <a:xfrm>
            <a:off x="4873752" y="2807208"/>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Responsible for iOS App Store submission, compliance, and launch execution</a:t>
            </a:r>
            <a:endParaRPr lang="en-US" sz="1050" dirty="0"/>
          </a:p>
        </p:txBody>
      </p:sp>
      <p:sp>
        <p:nvSpPr>
          <p:cNvPr id="30" name="Text 28"/>
          <p:cNvSpPr/>
          <p:nvPr/>
        </p:nvSpPr>
        <p:spPr>
          <a:xfrm>
            <a:off x="4873752" y="3282696"/>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Leading the 30-day production launch plan</a:t>
            </a:r>
            <a:endParaRPr lang="en-US" sz="1050" dirty="0"/>
          </a:p>
        </p:txBody>
      </p:sp>
      <p:sp>
        <p:nvSpPr>
          <p:cNvPr id="31" name="Text 29"/>
          <p:cNvSpPr/>
          <p:nvPr/>
        </p:nvSpPr>
        <p:spPr>
          <a:xfrm>
            <a:off x="4873752" y="3758184"/>
            <a:ext cx="3950208" cy="384048"/>
          </a:xfrm>
          <a:prstGeom prst="rect">
            <a:avLst/>
          </a:prstGeom>
          <a:noFill/>
          <a:ln/>
        </p:spPr>
        <p:txBody>
          <a:bodyPr wrap="square" lIns="0" tIns="0" rIns="0" bIns="0" rtlCol="0" anchor="ctr"/>
          <a:lstStyle/>
          <a:p>
            <a:pPr indent="0" marL="0">
              <a:lnSpc>
                <a:spcPct val="120000"/>
              </a:lnSpc>
              <a:buNone/>
            </a:pPr>
            <a:r>
              <a:rPr lang="en-US" sz="1050" dirty="0">
                <a:solidFill>
                  <a:srgbClr val="1A252F"/>
                </a:solidFill>
                <a:latin typeface="Calibri" pitchFamily="34" charset="0"/>
                <a:ea typeface="Calibri" pitchFamily="34" charset="-122"/>
                <a:cs typeface="Calibri" pitchFamily="34" charset="-120"/>
              </a:rPr>
              <a:t>→  Android roadmap owner for Q3 2026</a:t>
            </a:r>
            <a:endParaRPr lang="en-US" sz="1050" dirty="0"/>
          </a:p>
        </p:txBody>
      </p:sp>
      <p:sp>
        <p:nvSpPr>
          <p:cNvPr id="32" name="Shape 30"/>
          <p:cNvSpPr/>
          <p:nvPr/>
        </p:nvSpPr>
        <p:spPr>
          <a:xfrm>
            <a:off x="256032" y="4462272"/>
            <a:ext cx="8631936" cy="438912"/>
          </a:xfrm>
          <a:prstGeom prst="rect">
            <a:avLst/>
          </a:prstGeom>
          <a:solidFill>
            <a:srgbClr val="1B3A6B"/>
          </a:solidFill>
          <a:ln w="12700">
            <a:solidFill>
              <a:srgbClr val="1B3A6B"/>
            </a:solidFill>
            <a:prstDash val="solid"/>
          </a:ln>
        </p:spPr>
      </p:sp>
      <p:sp>
        <p:nvSpPr>
          <p:cNvPr id="33" name="Text 31"/>
          <p:cNvSpPr/>
          <p:nvPr/>
        </p:nvSpPr>
        <p:spPr>
          <a:xfrm>
            <a:off x="347472" y="4462272"/>
            <a:ext cx="8449056" cy="438912"/>
          </a:xfrm>
          <a:prstGeom prst="rect">
            <a:avLst/>
          </a:prstGeom>
          <a:noFill/>
          <a:ln/>
        </p:spPr>
        <p:txBody>
          <a:bodyPr wrap="square" lIns="0" tIns="0" rIns="0" bIns="0" rtlCol="0" anchor="ctr"/>
          <a:lstStyle/>
          <a:p>
            <a:pPr algn="ctr" indent="0" marL="0">
              <a:buNone/>
            </a:pPr>
            <a:r>
              <a:rPr lang="en-US" sz="1000" spc="30" kern="0" dirty="0">
                <a:solidFill>
                  <a:srgbClr val="FFFFFF"/>
                </a:solidFill>
                <a:latin typeface="Calibri" pitchFamily="34" charset="0"/>
                <a:ea typeface="Calibri" pitchFamily="34" charset="-122"/>
                <a:cs typeface="Calibri" pitchFamily="34" charset="-120"/>
              </a:rPr>
              <a:t>A-TEAM ADVISORS  ·  Strategic billing &amp; pricing  ·  End-of-life UI/UX psychology  ·  Clinical language &amp; ethics  ·  Professional services networks</a:t>
            </a:r>
            <a:endParaRPr lang="en-US" sz="1000" dirty="0"/>
          </a:p>
        </p:txBody>
      </p:sp>
      <p:sp>
        <p:nvSpPr>
          <p:cNvPr id="34" name="Shape 32"/>
          <p:cNvSpPr/>
          <p:nvPr/>
        </p:nvSpPr>
        <p:spPr>
          <a:xfrm>
            <a:off x="0" y="4956048"/>
            <a:ext cx="9144000" cy="187452"/>
          </a:xfrm>
          <a:prstGeom prst="rect">
            <a:avLst/>
          </a:prstGeom>
          <a:solidFill>
            <a:srgbClr val="1B3A6B"/>
          </a:solidFill>
          <a:ln w="12700">
            <a:solidFill>
              <a:srgbClr val="1B3A6B"/>
            </a:solidFill>
            <a:prstDash val="solid"/>
          </a:ln>
        </p:spPr>
      </p:sp>
      <p:sp>
        <p:nvSpPr>
          <p:cNvPr id="35" name="Text 33"/>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9 of 13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Commercialisation Strategy</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Professional referral network — a proven B2B distribution model</a:t>
            </a:r>
            <a:endParaRPr lang="en-US" sz="1200" dirty="0"/>
          </a:p>
        </p:txBody>
      </p:sp>
      <p:sp>
        <p:nvSpPr>
          <p:cNvPr id="12" name="Text 10"/>
          <p:cNvSpPr/>
          <p:nvPr/>
        </p:nvSpPr>
        <p:spPr>
          <a:xfrm>
            <a:off x="256032" y="1755648"/>
            <a:ext cx="8631936" cy="530352"/>
          </a:xfrm>
          <a:prstGeom prst="rect">
            <a:avLst/>
          </a:prstGeom>
          <a:noFill/>
          <a:ln/>
        </p:spPr>
        <p:txBody>
          <a:bodyPr wrap="square" rtlCol="0" anchor="ctr"/>
          <a:lstStyle/>
          <a:p>
            <a:pPr indent="0" marL="0">
              <a:lnSpc>
                <a:spcPct val="140000"/>
              </a:lnSpc>
              <a:buNone/>
            </a:pPr>
            <a:r>
              <a:rPr lang="en-US" sz="1200" dirty="0">
                <a:solidFill>
                  <a:srgbClr val="1A252F"/>
                </a:solidFill>
                <a:latin typeface="Calibri" pitchFamily="34" charset="0"/>
                <a:ea typeface="Calibri" pitchFamily="34" charset="-122"/>
                <a:cs typeface="Calibri" pitchFamily="34" charset="-120"/>
              </a:rPr>
              <a:t>Solace Life does not rely on digital advertising to reach its target demographic. The commercialisation strategy is built on professional trust — the same channel used by insurance, legal, and healthcare services.</a:t>
            </a:r>
            <a:endParaRPr lang="en-US" sz="1200" dirty="0"/>
          </a:p>
        </p:txBody>
      </p:sp>
      <p:sp>
        <p:nvSpPr>
          <p:cNvPr id="13" name="Shape 11"/>
          <p:cNvSpPr/>
          <p:nvPr/>
        </p:nvSpPr>
        <p:spPr>
          <a:xfrm>
            <a:off x="256032" y="2395728"/>
            <a:ext cx="4251960" cy="126187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4" name="Shape 12"/>
          <p:cNvSpPr/>
          <p:nvPr/>
        </p:nvSpPr>
        <p:spPr>
          <a:xfrm>
            <a:off x="256032" y="2395728"/>
            <a:ext cx="4251960" cy="73152"/>
          </a:xfrm>
          <a:prstGeom prst="rect">
            <a:avLst/>
          </a:prstGeom>
          <a:solidFill>
            <a:srgbClr val="1B3A6B"/>
          </a:solidFill>
          <a:ln w="12700">
            <a:solidFill>
              <a:srgbClr val="1B3A6B"/>
            </a:solidFill>
            <a:prstDash val="solid"/>
          </a:ln>
        </p:spPr>
      </p:sp>
      <p:sp>
        <p:nvSpPr>
          <p:cNvPr id="15" name="Text 13"/>
          <p:cNvSpPr/>
          <p:nvPr/>
        </p:nvSpPr>
        <p:spPr>
          <a:xfrm>
            <a:off x="384048" y="2505456"/>
            <a:ext cx="3977640" cy="274320"/>
          </a:xfrm>
          <a:prstGeom prst="rect">
            <a:avLst/>
          </a:prstGeom>
          <a:noFill/>
          <a:ln/>
        </p:spPr>
        <p:txBody>
          <a:bodyPr wrap="square" lIns="0" tIns="0" rIns="0" bIns="0"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Long-Term Care Facilities</a:t>
            </a:r>
            <a:endParaRPr lang="en-US" sz="1200" dirty="0"/>
          </a:p>
        </p:txBody>
      </p:sp>
      <p:sp>
        <p:nvSpPr>
          <p:cNvPr id="16" name="Text 14"/>
          <p:cNvSpPr/>
          <p:nvPr/>
        </p:nvSpPr>
        <p:spPr>
          <a:xfrm>
            <a:off x="384048" y="2807208"/>
            <a:ext cx="3995928" cy="59436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2,000+ licensed facilities in Canada (Chartwell, Sienna, Extendicare, Revera). Partner model: facility endorses Solace Life to residents and families. Each partnership provides access to 100–200 residents per site.</a:t>
            </a:r>
            <a:endParaRPr lang="en-US" sz="950" dirty="0"/>
          </a:p>
        </p:txBody>
      </p:sp>
      <p:sp>
        <p:nvSpPr>
          <p:cNvPr id="17" name="Text 15"/>
          <p:cNvSpPr/>
          <p:nvPr/>
        </p:nvSpPr>
        <p:spPr>
          <a:xfrm>
            <a:off x="384048" y="3438144"/>
            <a:ext cx="3995928" cy="182880"/>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  10 facilities = 1,500 warm leads</a:t>
            </a:r>
            <a:endParaRPr lang="en-US" sz="900" dirty="0"/>
          </a:p>
        </p:txBody>
      </p:sp>
      <p:sp>
        <p:nvSpPr>
          <p:cNvPr id="18" name="Shape 16"/>
          <p:cNvSpPr/>
          <p:nvPr/>
        </p:nvSpPr>
        <p:spPr>
          <a:xfrm>
            <a:off x="4690872" y="2395728"/>
            <a:ext cx="4251960" cy="126187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19" name="Shape 17"/>
          <p:cNvSpPr/>
          <p:nvPr/>
        </p:nvSpPr>
        <p:spPr>
          <a:xfrm>
            <a:off x="4690872" y="2395728"/>
            <a:ext cx="4251960" cy="73152"/>
          </a:xfrm>
          <a:prstGeom prst="rect">
            <a:avLst/>
          </a:prstGeom>
          <a:solidFill>
            <a:srgbClr val="006B6B"/>
          </a:solidFill>
          <a:ln w="12700">
            <a:solidFill>
              <a:srgbClr val="006B6B"/>
            </a:solidFill>
            <a:prstDash val="solid"/>
          </a:ln>
        </p:spPr>
      </p:sp>
      <p:sp>
        <p:nvSpPr>
          <p:cNvPr id="20" name="Text 18"/>
          <p:cNvSpPr/>
          <p:nvPr/>
        </p:nvSpPr>
        <p:spPr>
          <a:xfrm>
            <a:off x="4818888" y="2505456"/>
            <a:ext cx="3977640" cy="274320"/>
          </a:xfrm>
          <a:prstGeom prst="rect">
            <a:avLst/>
          </a:prstGeom>
          <a:noFill/>
          <a:ln/>
        </p:spPr>
        <p:txBody>
          <a:bodyPr wrap="square" lIns="0" tIns="0" rIns="0" bIns="0" rtlCol="0" anchor="ctr"/>
          <a:lstStyle/>
          <a:p>
            <a:pPr indent="0" marL="0">
              <a:buNone/>
            </a:pPr>
            <a:r>
              <a:rPr lang="en-US" sz="1200" b="1" dirty="0">
                <a:solidFill>
                  <a:srgbClr val="006B6B"/>
                </a:solidFill>
                <a:latin typeface="Calibri" pitchFamily="34" charset="0"/>
                <a:ea typeface="Calibri" pitchFamily="34" charset="-122"/>
                <a:cs typeface="Calibri" pitchFamily="34" charset="-120"/>
              </a:rPr>
              <a:t>Grief Counsellors &amp; Social Workers</a:t>
            </a:r>
            <a:endParaRPr lang="en-US" sz="1200" dirty="0"/>
          </a:p>
        </p:txBody>
      </p:sp>
      <p:sp>
        <p:nvSpPr>
          <p:cNvPr id="21" name="Text 19"/>
          <p:cNvSpPr/>
          <p:nvPr/>
        </p:nvSpPr>
        <p:spPr>
          <a:xfrm>
            <a:off x="4818888" y="2807208"/>
            <a:ext cx="3995928" cy="59436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CASW (Canadian Association of Social Workers) has 15,000+ members. Bereavement counsellors, hospital social workers, and palliative care teams recommend Solace Life as part of end-of-life planning conversations.</a:t>
            </a:r>
            <a:endParaRPr lang="en-US" sz="950" dirty="0"/>
          </a:p>
        </p:txBody>
      </p:sp>
      <p:sp>
        <p:nvSpPr>
          <p:cNvPr id="22" name="Text 20"/>
          <p:cNvSpPr/>
          <p:nvPr/>
        </p:nvSpPr>
        <p:spPr>
          <a:xfrm>
            <a:off x="4818888" y="3438144"/>
            <a:ext cx="3995928" cy="182880"/>
          </a:xfrm>
          <a:prstGeom prst="rect">
            <a:avLst/>
          </a:prstGeom>
          <a:noFill/>
          <a:ln/>
        </p:spPr>
        <p:txBody>
          <a:bodyPr wrap="square" lIns="0" tIns="0" rIns="0" bIns="0" rtlCol="0" anchor="ctr"/>
          <a:lstStyle/>
          <a:p>
            <a:pPr indent="0" marL="0">
              <a:buNone/>
            </a:pPr>
            <a:r>
              <a:rPr lang="en-US" sz="900" b="1" dirty="0">
                <a:solidFill>
                  <a:srgbClr val="006B6B"/>
                </a:solidFill>
                <a:latin typeface="Calibri" pitchFamily="34" charset="0"/>
                <a:ea typeface="Calibri" pitchFamily="34" charset="-122"/>
                <a:cs typeface="Calibri" pitchFamily="34" charset="-120"/>
              </a:rPr>
              <a:t>◆  Professional referrals convert at 3-5x digital ads</a:t>
            </a:r>
            <a:endParaRPr lang="en-US" sz="900" dirty="0"/>
          </a:p>
        </p:txBody>
      </p:sp>
      <p:sp>
        <p:nvSpPr>
          <p:cNvPr id="23" name="Shape 21"/>
          <p:cNvSpPr/>
          <p:nvPr/>
        </p:nvSpPr>
        <p:spPr>
          <a:xfrm>
            <a:off x="256032" y="3749040"/>
            <a:ext cx="4251960" cy="126187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4" name="Shape 22"/>
          <p:cNvSpPr/>
          <p:nvPr/>
        </p:nvSpPr>
        <p:spPr>
          <a:xfrm>
            <a:off x="256032" y="3749040"/>
            <a:ext cx="4251960" cy="73152"/>
          </a:xfrm>
          <a:prstGeom prst="rect">
            <a:avLst/>
          </a:prstGeom>
          <a:solidFill>
            <a:srgbClr val="CC0000"/>
          </a:solidFill>
          <a:ln w="12700">
            <a:solidFill>
              <a:srgbClr val="CC0000"/>
            </a:solidFill>
            <a:prstDash val="solid"/>
          </a:ln>
        </p:spPr>
      </p:sp>
      <p:sp>
        <p:nvSpPr>
          <p:cNvPr id="25" name="Text 23"/>
          <p:cNvSpPr/>
          <p:nvPr/>
        </p:nvSpPr>
        <p:spPr>
          <a:xfrm>
            <a:off x="384048" y="3858768"/>
            <a:ext cx="3977640" cy="274320"/>
          </a:xfrm>
          <a:prstGeom prst="rect">
            <a:avLst/>
          </a:prstGeom>
          <a:noFill/>
          <a:ln/>
        </p:spPr>
        <p:txBody>
          <a:bodyPr wrap="square" lIns="0" tIns="0" rIns="0" bIns="0" rtlCol="0" anchor="ctr"/>
          <a:lstStyle/>
          <a:p>
            <a:pPr indent="0" marL="0">
              <a:buNone/>
            </a:pPr>
            <a:r>
              <a:rPr lang="en-US" sz="1200" b="1" dirty="0">
                <a:solidFill>
                  <a:srgbClr val="CC0000"/>
                </a:solidFill>
                <a:latin typeface="Calibri" pitchFamily="34" charset="0"/>
                <a:ea typeface="Calibri" pitchFamily="34" charset="-122"/>
                <a:cs typeface="Calibri" pitchFamily="34" charset="-120"/>
              </a:rPr>
              <a:t>Estate Lawyers &amp; Notaries</a:t>
            </a:r>
            <a:endParaRPr lang="en-US" sz="1200" dirty="0"/>
          </a:p>
        </p:txBody>
      </p:sp>
      <p:sp>
        <p:nvSpPr>
          <p:cNvPr id="26" name="Text 24"/>
          <p:cNvSpPr/>
          <p:nvPr/>
        </p:nvSpPr>
        <p:spPr>
          <a:xfrm>
            <a:off x="384048" y="4160520"/>
            <a:ext cx="3995928" cy="59436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The Law Society of BC alone has 14,000+ active members. Estate lawyers discuss digital legacy during will-writing and estate planning appointments — a natural introduction for Solace Life.</a:t>
            </a:r>
            <a:endParaRPr lang="en-US" sz="950" dirty="0"/>
          </a:p>
        </p:txBody>
      </p:sp>
      <p:sp>
        <p:nvSpPr>
          <p:cNvPr id="27" name="Text 25"/>
          <p:cNvSpPr/>
          <p:nvPr/>
        </p:nvSpPr>
        <p:spPr>
          <a:xfrm>
            <a:off x="384048" y="4791456"/>
            <a:ext cx="3995928" cy="182880"/>
          </a:xfrm>
          <a:prstGeom prst="rect">
            <a:avLst/>
          </a:prstGeom>
          <a:noFill/>
          <a:ln/>
        </p:spPr>
        <p:txBody>
          <a:bodyPr wrap="square" lIns="0" tIns="0" rIns="0" bIns="0" rtlCol="0" anchor="ctr"/>
          <a:lstStyle/>
          <a:p>
            <a:pPr indent="0" marL="0">
              <a:buNone/>
            </a:pPr>
            <a:r>
              <a:rPr lang="en-US" sz="900" b="1" dirty="0">
                <a:solidFill>
                  <a:srgbClr val="CC0000"/>
                </a:solidFill>
                <a:latin typeface="Calibri" pitchFamily="34" charset="0"/>
                <a:ea typeface="Calibri" pitchFamily="34" charset="-122"/>
                <a:cs typeface="Calibri" pitchFamily="34" charset="-120"/>
              </a:rPr>
              <a:t>◆  50 law firms = 500+ annual referrals</a:t>
            </a:r>
            <a:endParaRPr lang="en-US" sz="900" dirty="0"/>
          </a:p>
        </p:txBody>
      </p:sp>
      <p:sp>
        <p:nvSpPr>
          <p:cNvPr id="28" name="Shape 26"/>
          <p:cNvSpPr/>
          <p:nvPr/>
        </p:nvSpPr>
        <p:spPr>
          <a:xfrm>
            <a:off x="4690872" y="3749040"/>
            <a:ext cx="4251960" cy="1261872"/>
          </a:xfrm>
          <a:prstGeom prst="rect">
            <a:avLst/>
          </a:prstGeom>
          <a:solidFill>
            <a:srgbClr val="FFFFFF"/>
          </a:solidFill>
          <a:ln w="12700">
            <a:solidFill>
              <a:srgbClr val="DDE1E7"/>
            </a:solidFill>
            <a:prstDash val="solid"/>
          </a:ln>
          <a:effectLst>
            <a:outerShdw sx="100000" sy="100000" kx="0" ky="0" algn="bl" rotWithShape="0" blurRad="76200" dist="25400" dir="8100000">
              <a:srgbClr val="000000">
                <a:alpha val="10000"/>
              </a:srgbClr>
            </a:outerShdw>
          </a:effectLst>
        </p:spPr>
      </p:sp>
      <p:sp>
        <p:nvSpPr>
          <p:cNvPr id="29" name="Shape 27"/>
          <p:cNvSpPr/>
          <p:nvPr/>
        </p:nvSpPr>
        <p:spPr>
          <a:xfrm>
            <a:off x="4690872" y="3749040"/>
            <a:ext cx="4251960" cy="73152"/>
          </a:xfrm>
          <a:prstGeom prst="rect">
            <a:avLst/>
          </a:prstGeom>
          <a:solidFill>
            <a:srgbClr val="C49A3C"/>
          </a:solidFill>
          <a:ln w="12700">
            <a:solidFill>
              <a:srgbClr val="C49A3C"/>
            </a:solidFill>
            <a:prstDash val="solid"/>
          </a:ln>
        </p:spPr>
      </p:sp>
      <p:sp>
        <p:nvSpPr>
          <p:cNvPr id="30" name="Text 28"/>
          <p:cNvSpPr/>
          <p:nvPr/>
        </p:nvSpPr>
        <p:spPr>
          <a:xfrm>
            <a:off x="4818888" y="3858768"/>
            <a:ext cx="3977640" cy="274320"/>
          </a:xfrm>
          <a:prstGeom prst="rect">
            <a:avLst/>
          </a:prstGeom>
          <a:noFill/>
          <a:ln/>
        </p:spPr>
        <p:txBody>
          <a:bodyPr wrap="square" lIns="0" tIns="0" rIns="0" bIns="0" rtlCol="0" anchor="ctr"/>
          <a:lstStyle/>
          <a:p>
            <a:pPr indent="0" marL="0">
              <a:buNone/>
            </a:pPr>
            <a:r>
              <a:rPr lang="en-US" sz="1200" b="1" dirty="0">
                <a:solidFill>
                  <a:srgbClr val="C49A3C"/>
                </a:solidFill>
                <a:latin typeface="Calibri" pitchFamily="34" charset="0"/>
                <a:ea typeface="Calibri" pitchFamily="34" charset="-122"/>
                <a:cs typeface="Calibri" pitchFamily="34" charset="-120"/>
              </a:rPr>
              <a:t>Funeral &amp; Memorial Services</a:t>
            </a:r>
            <a:endParaRPr lang="en-US" sz="1200" dirty="0"/>
          </a:p>
        </p:txBody>
      </p:sp>
      <p:sp>
        <p:nvSpPr>
          <p:cNvPr id="31" name="Text 29"/>
          <p:cNvSpPr/>
          <p:nvPr/>
        </p:nvSpPr>
        <p:spPr>
          <a:xfrm>
            <a:off x="4818888" y="4160520"/>
            <a:ext cx="3995928" cy="594360"/>
          </a:xfrm>
          <a:prstGeom prst="rect">
            <a:avLst/>
          </a:prstGeom>
          <a:noFill/>
          <a:ln/>
        </p:spPr>
        <p:txBody>
          <a:bodyPr wrap="square" rtlCol="0" anchor="ctr"/>
          <a:lstStyle/>
          <a:p>
            <a:pPr indent="0" marL="0">
              <a:lnSpc>
                <a:spcPct val="125000"/>
              </a:lnSpc>
              <a:buNone/>
            </a:pPr>
            <a:r>
              <a:rPr lang="en-US" sz="950" dirty="0">
                <a:solidFill>
                  <a:srgbClr val="1A252F"/>
                </a:solidFill>
                <a:latin typeface="Calibri" pitchFamily="34" charset="0"/>
                <a:ea typeface="Calibri" pitchFamily="34" charset="-122"/>
                <a:cs typeface="Calibri" pitchFamily="34" charset="-120"/>
              </a:rPr>
              <a:t>4,800+ funeral homes in Canada interact with families at the moment of highest need. A Solace Life referral from a funeral director carries immediate credibility and serves as a grief support tool.</a:t>
            </a:r>
            <a:endParaRPr lang="en-US" sz="950" dirty="0"/>
          </a:p>
        </p:txBody>
      </p:sp>
      <p:sp>
        <p:nvSpPr>
          <p:cNvPr id="32" name="Text 30"/>
          <p:cNvSpPr/>
          <p:nvPr/>
        </p:nvSpPr>
        <p:spPr>
          <a:xfrm>
            <a:off x="4818888" y="4791456"/>
            <a:ext cx="3995928" cy="182880"/>
          </a:xfrm>
          <a:prstGeom prst="rect">
            <a:avLst/>
          </a:prstGeom>
          <a:noFill/>
          <a:ln/>
        </p:spPr>
        <p:txBody>
          <a:bodyPr wrap="square" lIns="0" tIns="0" rIns="0" bIns="0" rtlCol="0" anchor="ctr"/>
          <a:lstStyle/>
          <a:p>
            <a:pPr indent="0" marL="0">
              <a:buNone/>
            </a:pPr>
            <a:r>
              <a:rPr lang="en-US" sz="900" b="1" dirty="0">
                <a:solidFill>
                  <a:srgbClr val="C49A3C"/>
                </a:solidFill>
                <a:latin typeface="Calibri" pitchFamily="34" charset="0"/>
                <a:ea typeface="Calibri" pitchFamily="34" charset="-122"/>
                <a:cs typeface="Calibri" pitchFamily="34" charset="-120"/>
              </a:rPr>
              <a:t>◆  Largest single referral channel</a:t>
            </a:r>
            <a:endParaRPr lang="en-US" sz="900" dirty="0"/>
          </a:p>
        </p:txBody>
      </p:sp>
      <p:sp>
        <p:nvSpPr>
          <p:cNvPr id="33" name="Shape 31"/>
          <p:cNvSpPr/>
          <p:nvPr/>
        </p:nvSpPr>
        <p:spPr>
          <a:xfrm>
            <a:off x="0" y="4956048"/>
            <a:ext cx="9144000" cy="187452"/>
          </a:xfrm>
          <a:prstGeom prst="rect">
            <a:avLst/>
          </a:prstGeom>
          <a:solidFill>
            <a:srgbClr val="1B3A6B"/>
          </a:solidFill>
          <a:ln w="12700">
            <a:solidFill>
              <a:srgbClr val="1B3A6B"/>
            </a:solidFill>
            <a:prstDash val="solid"/>
          </a:ln>
        </p:spPr>
      </p:sp>
      <p:sp>
        <p:nvSpPr>
          <p:cNvPr id="34" name="Text 32"/>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10 of 13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Financial Projections</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3-year outlook — conservative case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56032" y="1737360"/>
          <a:ext cx="8631936" cy="1874520"/>
        </p:xfrm>
        <a:graphic>
          <a:graphicData uri="http://schemas.openxmlformats.org/drawingml/2006/table">
            <a:tbl>
              <a:tblPr/>
              <a:tblGrid>
                <a:gridCol w="3200400"/>
                <a:gridCol w="1810512"/>
                <a:gridCol w="1810512"/>
                <a:gridCol w="1810512"/>
              </a:tblGrid>
              <a:tr h="267789">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Year 1</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Year 2</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Year 3</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1B3A6B"/>
                    </a:solidFill>
                  </a:tcPr>
                </a:tc>
              </a:tr>
              <a:tr h="267789">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App Store launch</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Month 1</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67789">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Paying users</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2,500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67789">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Consumer ARR ($49/yr avg)</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$24,500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$122,500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$490,000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67789">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B2B partner listings ($300/6mo)</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$3,600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$18,000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$54,000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67789">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Total ARR</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$28,100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$140,500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$544,000</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r h="267789">
                <a:tc>
                  <a:txBody>
                    <a:bodyPr/>
                    <a:lstStyle/>
                    <a:p>
                      <a:pPr indent="0" marL="0">
                        <a:buNone/>
                      </a:pPr>
                      <a:r>
                        <a:rPr lang="en-US" sz="1100" i="1" dirty="0">
                          <a:solidFill>
                            <a:srgbClr val="1A252F"/>
                          </a:solidFill>
                          <a:latin typeface="Calibri" pitchFamily="34" charset="0"/>
                          <a:ea typeface="Calibri" pitchFamily="34" charset="-122"/>
                          <a:cs typeface="Calibri" pitchFamily="34" charset="-120"/>
                        </a:rPr>
                        <a:t>Gross margin (est.)</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c>
                  <a:txBody>
                    <a:bodyPr/>
                    <a:lstStyle/>
                    <a:p>
                      <a:pPr indent="0" marL="0">
                        <a:buNone/>
                      </a:pPr>
                      <a:r>
                        <a:rPr lang="en-US" sz="1100" dirty="0">
                          <a:solidFill>
                            <a:srgbClr val="1A252F"/>
                          </a:solidFill>
                          <a:latin typeface="Calibri" pitchFamily="34" charset="0"/>
                          <a:ea typeface="Calibri" pitchFamily="34" charset="-122"/>
                          <a:cs typeface="Calibri" pitchFamily="34" charset="-120"/>
                        </a:rPr>
                        <a:t>~78%</a:t>
                      </a:r>
                      <a:endParaRPr lang="en-US" sz="1100" dirty="0">
                        <a:latin typeface="Calibri" charset="0"/>
                        <a:ea typeface="Calibri" charset="0"/>
                        <a:cs typeface="Calibri" charset="0"/>
                      </a:endParaRPr>
                    </a:p>
                  </a:txBody>
                  <a:tcPr marL="91440" marR="91440" marT="45720" marB="45720">
                    <a:lnL w="6350" cap="flat" cmpd="sng" algn="ctr">
                      <a:solidFill>
                        <a:srgbClr val="DDE1E7"/>
                      </a:solidFill>
                      <a:prstDash val="solid"/>
                      <a:round/>
                      <a:headEnd type="none" w="med" len="med"/>
                      <a:tailEnd type="none" w="med" len="med"/>
                    </a:lnL>
                    <a:lnR w="6350" cap="flat" cmpd="sng" algn="ctr">
                      <a:solidFill>
                        <a:srgbClr val="DDE1E7"/>
                      </a:solidFill>
                      <a:prstDash val="solid"/>
                      <a:round/>
                      <a:headEnd type="none" w="med" len="med"/>
                      <a:tailEnd type="none" w="med" len="med"/>
                    </a:lnR>
                    <a:lnT w="6350" cap="flat" cmpd="sng" algn="ctr">
                      <a:solidFill>
                        <a:srgbClr val="DDE1E7"/>
                      </a:solidFill>
                      <a:prstDash val="solid"/>
                      <a:round/>
                      <a:headEnd type="none" w="med" len="med"/>
                      <a:tailEnd type="none" w="med" len="med"/>
                    </a:lnT>
                    <a:lnB w="6350" cap="flat" cmpd="sng" algn="ctr">
                      <a:solidFill>
                        <a:srgbClr val="DDE1E7"/>
                      </a:solidFill>
                      <a:prstDash val="solid"/>
                      <a:round/>
                      <a:headEnd type="none" w="med" len="med"/>
                      <a:tailEnd type="none" w="med" len="med"/>
                    </a:lnB>
                    <a:solidFill>
                      <a:srgbClr val="FFFFFF"/>
                    </a:solidFill>
                  </a:tcPr>
                </a:tc>
              </a:tr>
            </a:tbl>
          </a:graphicData>
        </a:graphic>
      </p:graphicFrame>
      <p:graphicFrame>
        <p:nvGraphicFramePr>
          <p:cNvPr id="13" name="Chart 0" descr=""/>
          <p:cNvGraphicFramePr/>
          <p:nvPr/>
        </p:nvGraphicFramePr>
        <p:xfrm>
          <a:off x="256032" y="3703320"/>
          <a:ext cx="8631936" cy="1078992"/>
        </p:xfrm>
        <a:graphic xmlns:a="http://schemas.openxmlformats.org/drawingml/2006/main">
          <a:graphicData uri="http://schemas.openxmlformats.org/drawingml/2006/chart">
            <c:chart xmlns:c="http://schemas.openxmlformats.org/drawingml/2006/chart" r:id="rId1"/>
          </a:graphicData>
        </a:graphic>
      </p:graphicFrame>
      <p:sp>
        <p:nvSpPr>
          <p:cNvPr id="14" name="Shape 10"/>
          <p:cNvSpPr/>
          <p:nvPr/>
        </p:nvSpPr>
        <p:spPr>
          <a:xfrm>
            <a:off x="0" y="4956048"/>
            <a:ext cx="9144000" cy="187452"/>
          </a:xfrm>
          <a:prstGeom prst="rect">
            <a:avLst/>
          </a:prstGeom>
          <a:solidFill>
            <a:srgbClr val="1B3A6B"/>
          </a:solidFill>
          <a:ln w="12700">
            <a:solidFill>
              <a:srgbClr val="1B3A6B"/>
            </a:solidFill>
            <a:prstDash val="solid"/>
          </a:ln>
        </p:spPr>
      </p:sp>
      <p:sp>
        <p:nvSpPr>
          <p:cNvPr id="15" name="Text 11"/>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11 of 13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201168" y="109728"/>
            <a:ext cx="36576" cy="438912"/>
          </a:xfrm>
          <a:prstGeom prst="rect">
            <a:avLst/>
          </a:prstGeom>
          <a:solidFill>
            <a:srgbClr val="C49A3C"/>
          </a:solidFill>
          <a:ln w="12700">
            <a:solidFill>
              <a:srgbClr val="C49A3C"/>
            </a:solidFill>
            <a:prstDash val="solid"/>
          </a:ln>
        </p:spPr>
      </p:sp>
      <p:sp>
        <p:nvSpPr>
          <p:cNvPr id="4" name="Text 2"/>
          <p:cNvSpPr/>
          <p:nvPr/>
        </p:nvSpPr>
        <p:spPr>
          <a:xfrm>
            <a:off x="310896" y="109728"/>
            <a:ext cx="914400" cy="219456"/>
          </a:xfrm>
          <a:prstGeom prst="rect">
            <a:avLst/>
          </a:prstGeom>
          <a:noFill/>
          <a:ln/>
        </p:spPr>
        <p:txBody>
          <a:bodyPr wrap="square" lIns="0" tIns="0" rIns="0" bIns="0" rtlCol="0" anchor="b"/>
          <a:lstStyle/>
          <a:p>
            <a:pPr indent="0" marL="0">
              <a:buNone/>
            </a:pPr>
            <a:r>
              <a:rPr lang="en-US" sz="900" b="1" spc="250" kern="0" dirty="0">
                <a:solidFill>
                  <a:srgbClr val="FFFFFF"/>
                </a:solidFill>
                <a:latin typeface="Calibri" pitchFamily="34" charset="0"/>
                <a:ea typeface="Calibri" pitchFamily="34" charset="-122"/>
                <a:cs typeface="Calibri" pitchFamily="34" charset="-120"/>
              </a:rPr>
              <a:t>SOLACE</a:t>
            </a:r>
            <a:endParaRPr lang="en-US" sz="900" dirty="0"/>
          </a:p>
        </p:txBody>
      </p:sp>
      <p:sp>
        <p:nvSpPr>
          <p:cNvPr id="5" name="Text 3"/>
          <p:cNvSpPr/>
          <p:nvPr/>
        </p:nvSpPr>
        <p:spPr>
          <a:xfrm>
            <a:off x="310896" y="320040"/>
            <a:ext cx="914400" cy="219456"/>
          </a:xfrm>
          <a:prstGeom prst="rect">
            <a:avLst/>
          </a:prstGeom>
          <a:noFill/>
          <a:ln/>
        </p:spPr>
        <p:txBody>
          <a:bodyPr wrap="square" lIns="0" tIns="0" rIns="0" bIns="0" rtlCol="0" anchor="t"/>
          <a:lstStyle/>
          <a:p>
            <a:pPr indent="0" marL="0">
              <a:buNone/>
            </a:pPr>
            <a:r>
              <a:rPr lang="en-US" sz="900" b="1" spc="400" kern="0" dirty="0">
                <a:solidFill>
                  <a:srgbClr val="C49A3C"/>
                </a:solidFill>
                <a:latin typeface="Calibri" pitchFamily="34" charset="0"/>
                <a:ea typeface="Calibri" pitchFamily="34" charset="-122"/>
                <a:cs typeface="Calibri" pitchFamily="34" charset="-120"/>
              </a:rPr>
              <a:t>LIFE</a:t>
            </a:r>
            <a:endParaRPr lang="en-US" sz="900" dirty="0"/>
          </a:p>
        </p:txBody>
      </p:sp>
      <p:sp>
        <p:nvSpPr>
          <p:cNvPr id="6" name="Text 4"/>
          <p:cNvSpPr/>
          <p:nvPr/>
        </p:nvSpPr>
        <p:spPr>
          <a:xfrm>
            <a:off x="1298448" y="201168"/>
            <a:ext cx="2743200" cy="256032"/>
          </a:xfrm>
          <a:prstGeom prst="rect">
            <a:avLst/>
          </a:prstGeom>
          <a:noFill/>
          <a:ln/>
        </p:spPr>
        <p:txBody>
          <a:bodyPr wrap="square" lIns="0" tIns="0" rIns="0" bIns="0" rtlCol="0" anchor="ctr"/>
          <a:lstStyle/>
          <a:p>
            <a:pPr indent="0" marL="0">
              <a:buNone/>
            </a:pPr>
            <a:r>
              <a:rPr lang="en-US" sz="750" spc="100" kern="0" dirty="0">
                <a:solidFill>
                  <a:srgbClr val="FFFFFF">
                    <a:alpha val="70000"/>
                  </a:srgbClr>
                </a:solidFill>
                <a:latin typeface="Calibri" pitchFamily="34" charset="0"/>
                <a:ea typeface="Calibri" pitchFamily="34" charset="-122"/>
                <a:cs typeface="Calibri" pitchFamily="34" charset="-120"/>
              </a:rPr>
              <a:t>GRANT &amp; FUNDING APPLICATION</a:t>
            </a:r>
            <a:endParaRPr lang="en-US" sz="750" dirty="0"/>
          </a:p>
        </p:txBody>
      </p:sp>
      <p:sp>
        <p:nvSpPr>
          <p:cNvPr id="7" name="Text 5"/>
          <p:cNvSpPr/>
          <p:nvPr/>
        </p:nvSpPr>
        <p:spPr>
          <a:xfrm>
            <a:off x="8503920" y="73152"/>
            <a:ext cx="45720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Shape 6"/>
          <p:cNvSpPr/>
          <p:nvPr/>
        </p:nvSpPr>
        <p:spPr>
          <a:xfrm>
            <a:off x="0" y="658368"/>
            <a:ext cx="9144000" cy="914400"/>
          </a:xfrm>
          <a:prstGeom prst="rect">
            <a:avLst/>
          </a:prstGeom>
          <a:solidFill>
            <a:srgbClr val="F4F6F9"/>
          </a:solidFill>
          <a:ln w="12700">
            <a:solidFill>
              <a:srgbClr val="DDE1E7"/>
            </a:solidFill>
            <a:prstDash val="solid"/>
          </a:ln>
        </p:spPr>
      </p:sp>
      <p:sp>
        <p:nvSpPr>
          <p:cNvPr id="9" name="Shape 7"/>
          <p:cNvSpPr/>
          <p:nvPr/>
        </p:nvSpPr>
        <p:spPr>
          <a:xfrm>
            <a:off x="0" y="658368"/>
            <a:ext cx="201168" cy="914400"/>
          </a:xfrm>
          <a:prstGeom prst="rect">
            <a:avLst/>
          </a:prstGeom>
          <a:solidFill>
            <a:srgbClr val="CC0000"/>
          </a:solidFill>
          <a:ln w="12700">
            <a:solidFill>
              <a:srgbClr val="CC0000"/>
            </a:solidFill>
            <a:prstDash val="solid"/>
          </a:ln>
        </p:spPr>
      </p:sp>
      <p:sp>
        <p:nvSpPr>
          <p:cNvPr id="10" name="Text 8"/>
          <p:cNvSpPr/>
          <p:nvPr/>
        </p:nvSpPr>
        <p:spPr>
          <a:xfrm>
            <a:off x="384048" y="713232"/>
            <a:ext cx="8503920" cy="475488"/>
          </a:xfrm>
          <a:prstGeom prst="rect">
            <a:avLst/>
          </a:prstGeom>
          <a:noFill/>
          <a:ln/>
        </p:spPr>
        <p:txBody>
          <a:bodyPr wrap="square" lIns="0" tIns="0" rIns="0" bIns="0" rtlCol="0" anchor="ctr"/>
          <a:lstStyle/>
          <a:p>
            <a:pPr indent="0" marL="0">
              <a:buNone/>
            </a:pPr>
            <a:r>
              <a:rPr lang="en-US" sz="2200" b="1" dirty="0">
                <a:solidFill>
                  <a:srgbClr val="1B3A6B"/>
                </a:solidFill>
                <a:latin typeface="Calibri" pitchFamily="34" charset="0"/>
                <a:ea typeface="Calibri" pitchFamily="34" charset="-122"/>
                <a:cs typeface="Calibri" pitchFamily="34" charset="-120"/>
              </a:rPr>
              <a:t>Funding Request</a:t>
            </a:r>
            <a:endParaRPr lang="en-US" sz="2200" dirty="0"/>
          </a:p>
        </p:txBody>
      </p:sp>
      <p:sp>
        <p:nvSpPr>
          <p:cNvPr id="11" name="Text 9"/>
          <p:cNvSpPr/>
          <p:nvPr/>
        </p:nvSpPr>
        <p:spPr>
          <a:xfrm>
            <a:off x="384048" y="1188720"/>
            <a:ext cx="8503920" cy="27432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NRC IRAP application — $150,000 non-dilutive contribution</a:t>
            </a:r>
            <a:endParaRPr lang="en-US" sz="1200" dirty="0"/>
          </a:p>
        </p:txBody>
      </p:sp>
      <p:sp>
        <p:nvSpPr>
          <p:cNvPr id="12" name="Shape 10"/>
          <p:cNvSpPr/>
          <p:nvPr/>
        </p:nvSpPr>
        <p:spPr>
          <a:xfrm>
            <a:off x="256032" y="1737360"/>
            <a:ext cx="4160520" cy="2999232"/>
          </a:xfrm>
          <a:prstGeom prst="rect">
            <a:avLst/>
          </a:prstGeom>
          <a:solidFill>
            <a:srgbClr val="1B3A6B"/>
          </a:solidFill>
          <a:ln w="12700">
            <a:solidFill>
              <a:srgbClr val="1B3A6B"/>
            </a:solidFill>
            <a:prstDash val="solid"/>
          </a:ln>
          <a:effectLst>
            <a:outerShdw sx="100000" sy="100000" kx="0" ky="0" algn="bl" rotWithShape="0" blurRad="76200" dist="25400" dir="8100000">
              <a:srgbClr val="000000">
                <a:alpha val="10000"/>
              </a:srgbClr>
            </a:outerShdw>
          </a:effectLst>
        </p:spPr>
      </p:sp>
      <p:sp>
        <p:nvSpPr>
          <p:cNvPr id="13" name="Text 11"/>
          <p:cNvSpPr/>
          <p:nvPr/>
        </p:nvSpPr>
        <p:spPr>
          <a:xfrm>
            <a:off x="384048" y="1828800"/>
            <a:ext cx="3904488" cy="256032"/>
          </a:xfrm>
          <a:prstGeom prst="rect">
            <a:avLst/>
          </a:prstGeom>
          <a:noFill/>
          <a:ln/>
        </p:spPr>
        <p:txBody>
          <a:bodyPr wrap="square" lIns="0" tIns="0" rIns="0" bIns="0" rtlCol="0" anchor="ctr"/>
          <a:lstStyle/>
          <a:p>
            <a:pPr indent="0" marL="0">
              <a:buNone/>
            </a:pPr>
            <a:r>
              <a:rPr lang="en-US" sz="950" b="1" spc="200" kern="0" dirty="0">
                <a:solidFill>
                  <a:srgbClr val="FFFFFF">
                    <a:alpha val="70000"/>
                  </a:srgbClr>
                </a:solidFill>
                <a:latin typeface="Calibri" pitchFamily="34" charset="0"/>
                <a:ea typeface="Calibri" pitchFamily="34" charset="-122"/>
                <a:cs typeface="Calibri" pitchFamily="34" charset="-120"/>
              </a:rPr>
              <a:t>PRIMARY REQUEST</a:t>
            </a:r>
            <a:endParaRPr lang="en-US" sz="950" dirty="0"/>
          </a:p>
        </p:txBody>
      </p:sp>
      <p:sp>
        <p:nvSpPr>
          <p:cNvPr id="14" name="Text 12"/>
          <p:cNvSpPr/>
          <p:nvPr/>
        </p:nvSpPr>
        <p:spPr>
          <a:xfrm>
            <a:off x="384048" y="2103120"/>
            <a:ext cx="3904488" cy="43891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NRC IRAP</a:t>
            </a:r>
            <a:endParaRPr lang="en-US" sz="2200" dirty="0"/>
          </a:p>
        </p:txBody>
      </p:sp>
      <p:sp>
        <p:nvSpPr>
          <p:cNvPr id="15" name="Text 13"/>
          <p:cNvSpPr/>
          <p:nvPr/>
        </p:nvSpPr>
        <p:spPr>
          <a:xfrm>
            <a:off x="384048" y="2542032"/>
            <a:ext cx="3904488" cy="777240"/>
          </a:xfrm>
          <a:prstGeom prst="rect">
            <a:avLst/>
          </a:prstGeom>
          <a:noFill/>
          <a:ln/>
        </p:spPr>
        <p:txBody>
          <a:bodyPr wrap="square" lIns="0" tIns="0" rIns="0" bIns="0" rtlCol="0" anchor="ctr"/>
          <a:lstStyle/>
          <a:p>
            <a:pPr indent="0" marL="0">
              <a:buNone/>
            </a:pPr>
            <a:r>
              <a:rPr lang="en-US" sz="4800" b="1" dirty="0">
                <a:solidFill>
                  <a:srgbClr val="C49A3C"/>
                </a:solidFill>
                <a:latin typeface="Calibri" pitchFamily="34" charset="0"/>
                <a:ea typeface="Calibri" pitchFamily="34" charset="-122"/>
                <a:cs typeface="Calibri" pitchFamily="34" charset="-120"/>
              </a:rPr>
              <a:t>$150,000</a:t>
            </a:r>
            <a:endParaRPr lang="en-US" sz="4800" dirty="0"/>
          </a:p>
        </p:txBody>
      </p:sp>
      <p:sp>
        <p:nvSpPr>
          <p:cNvPr id="16" name="Text 14"/>
          <p:cNvSpPr/>
          <p:nvPr/>
        </p:nvSpPr>
        <p:spPr>
          <a:xfrm>
            <a:off x="384048" y="3337560"/>
            <a:ext cx="3904488" cy="502920"/>
          </a:xfrm>
          <a:prstGeom prst="rect">
            <a:avLst/>
          </a:prstGeom>
          <a:noFill/>
          <a:ln/>
        </p:spPr>
        <p:txBody>
          <a:bodyPr wrap="square" lIns="0" tIns="0" rIns="0" bIns="0" rtlCol="0" anchor="ctr"/>
          <a:lstStyle/>
          <a:p>
            <a:pPr indent="0" marL="0">
              <a:lnSpc>
                <a:spcPct val="130000"/>
              </a:lnSpc>
              <a:buNone/>
            </a:pPr>
            <a:r>
              <a:rPr lang="en-US" sz="1100" dirty="0">
                <a:solidFill>
                  <a:srgbClr val="FFFFFF">
                    <a:alpha val="85000"/>
                  </a:srgbClr>
                </a:solidFill>
                <a:latin typeface="Calibri" pitchFamily="34" charset="0"/>
                <a:ea typeface="Calibri" pitchFamily="34" charset="-122"/>
                <a:cs typeface="Calibri" pitchFamily="34" charset="-120"/>
              </a:rPr>
              <a:t>Non-dilutive contribution</a:t>
            </a:r>
            <a:endParaRPr lang="en-US" sz="1100" dirty="0"/>
          </a:p>
          <a:p>
            <a:pPr indent="0" marL="0">
              <a:lnSpc>
                <a:spcPct val="130000"/>
              </a:lnSpc>
              <a:buNone/>
            </a:pPr>
            <a:r>
              <a:rPr lang="en-US" sz="1100" dirty="0">
                <a:solidFill>
                  <a:srgbClr val="FFFFFF">
                    <a:alpha val="85000"/>
                  </a:srgbClr>
                </a:solidFill>
                <a:latin typeface="Calibri" pitchFamily="34" charset="0"/>
                <a:ea typeface="Calibri" pitchFamily="34" charset="-122"/>
                <a:cs typeface="Calibri" pitchFamily="34" charset="-120"/>
              </a:rPr>
              <a:t>Toward eligible R&amp;D and commercialisation activities</a:t>
            </a:r>
            <a:endParaRPr lang="en-US" sz="1100" dirty="0"/>
          </a:p>
        </p:txBody>
      </p:sp>
      <p:sp>
        <p:nvSpPr>
          <p:cNvPr id="17" name="Shape 15"/>
          <p:cNvSpPr/>
          <p:nvPr/>
        </p:nvSpPr>
        <p:spPr>
          <a:xfrm>
            <a:off x="384048" y="3913632"/>
            <a:ext cx="3767328" cy="566928"/>
          </a:xfrm>
          <a:prstGeom prst="rect">
            <a:avLst/>
          </a:prstGeom>
          <a:solidFill>
            <a:srgbClr val="FFFFFF">
              <a:alpha val="15000"/>
            </a:srgbClr>
          </a:solidFill>
          <a:ln w="12700">
            <a:solidFill>
              <a:srgbClr val="FFFFFF"/>
            </a:solidFill>
            <a:prstDash val="solid"/>
          </a:ln>
        </p:spPr>
      </p:sp>
      <p:sp>
        <p:nvSpPr>
          <p:cNvPr id="18" name="Text 16"/>
          <p:cNvSpPr/>
          <p:nvPr/>
        </p:nvSpPr>
        <p:spPr>
          <a:xfrm>
            <a:off x="384048" y="3913632"/>
            <a:ext cx="3767328" cy="566928"/>
          </a:xfrm>
          <a:prstGeom prst="rect">
            <a:avLst/>
          </a:prstGeom>
          <a:noFill/>
          <a:ln/>
        </p:spPr>
        <p:txBody>
          <a:bodyPr wrap="square" lIns="0" tIns="0" rIns="0" bIns="0" rtlCol="0" anchor="ctr"/>
          <a:lstStyle/>
          <a:p>
            <a:pPr algn="ctr" indent="0" marL="0">
              <a:lnSpc>
                <a:spcPct val="130000"/>
              </a:lnSpc>
              <a:buNone/>
            </a:pPr>
            <a:r>
              <a:rPr lang="en-US" sz="950" dirty="0">
                <a:solidFill>
                  <a:srgbClr val="FFFFFF"/>
                </a:solidFill>
                <a:latin typeface="Calibri" pitchFamily="34" charset="0"/>
                <a:ea typeface="Calibri" pitchFamily="34" charset="-122"/>
                <a:cs typeface="Calibri" pitchFamily="34" charset="-120"/>
              </a:rPr>
              <a:t>Eligible under: NRC IRAP  ·  SR&amp;ED Tax Credits  ·  Canada Digital Adoption Program</a:t>
            </a:r>
            <a:endParaRPr lang="en-US" sz="950" dirty="0"/>
          </a:p>
        </p:txBody>
      </p:sp>
      <p:sp>
        <p:nvSpPr>
          <p:cNvPr id="19" name="Text 17"/>
          <p:cNvSpPr/>
          <p:nvPr/>
        </p:nvSpPr>
        <p:spPr>
          <a:xfrm>
            <a:off x="4681728" y="1737360"/>
            <a:ext cx="4206240" cy="292608"/>
          </a:xfrm>
          <a:prstGeom prst="rect">
            <a:avLst/>
          </a:prstGeom>
          <a:noFill/>
          <a:ln/>
        </p:spPr>
        <p:txBody>
          <a:bodyPr wrap="square" lIns="0" tIns="0" rIns="0" bIns="0"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Use of Funds — $150,000</a:t>
            </a:r>
            <a:endParaRPr lang="en-US" sz="1300" dirty="0"/>
          </a:p>
        </p:txBody>
      </p:sp>
      <p:sp>
        <p:nvSpPr>
          <p:cNvPr id="20" name="Shape 18"/>
          <p:cNvSpPr/>
          <p:nvPr/>
        </p:nvSpPr>
        <p:spPr>
          <a:xfrm>
            <a:off x="4681728" y="2103120"/>
            <a:ext cx="4206240" cy="438912"/>
          </a:xfrm>
          <a:prstGeom prst="rect">
            <a:avLst/>
          </a:prstGeom>
          <a:solidFill>
            <a:srgbClr val="FFFFFF"/>
          </a:solidFill>
          <a:ln w="6350">
            <a:solidFill>
              <a:srgbClr val="DDE1E7"/>
            </a:solidFill>
            <a:prstDash val="solid"/>
          </a:ln>
        </p:spPr>
      </p:sp>
      <p:sp>
        <p:nvSpPr>
          <p:cNvPr id="21" name="Shape 19"/>
          <p:cNvSpPr/>
          <p:nvPr/>
        </p:nvSpPr>
        <p:spPr>
          <a:xfrm>
            <a:off x="4681728" y="2103120"/>
            <a:ext cx="1682496" cy="438912"/>
          </a:xfrm>
          <a:prstGeom prst="rect">
            <a:avLst/>
          </a:prstGeom>
          <a:solidFill>
            <a:srgbClr val="1B3A6B">
              <a:alpha val="25000"/>
            </a:srgbClr>
          </a:solidFill>
          <a:ln w="12700">
            <a:solidFill>
              <a:srgbClr val="1B3A6B"/>
            </a:solidFill>
            <a:prstDash val="solid"/>
          </a:ln>
        </p:spPr>
      </p:sp>
      <p:sp>
        <p:nvSpPr>
          <p:cNvPr id="22" name="Text 20"/>
          <p:cNvSpPr/>
          <p:nvPr/>
        </p:nvSpPr>
        <p:spPr>
          <a:xfrm>
            <a:off x="4773168" y="2194560"/>
            <a:ext cx="3108960" cy="27432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40%  Technical R&amp;D (AI, check-in system, security)</a:t>
            </a:r>
            <a:endParaRPr lang="en-US" sz="1050" dirty="0"/>
          </a:p>
        </p:txBody>
      </p:sp>
      <p:sp>
        <p:nvSpPr>
          <p:cNvPr id="23" name="Text 21"/>
          <p:cNvSpPr/>
          <p:nvPr/>
        </p:nvSpPr>
        <p:spPr>
          <a:xfrm>
            <a:off x="8247888" y="2194560"/>
            <a:ext cx="548640" cy="274320"/>
          </a:xfrm>
          <a:prstGeom prst="rect">
            <a:avLst/>
          </a:prstGeom>
          <a:noFill/>
          <a:ln/>
        </p:spPr>
        <p:txBody>
          <a:bodyPr wrap="square" lIns="0" tIns="0" rIns="0" bIns="0" rtlCol="0" anchor="ctr"/>
          <a:lstStyle/>
          <a:p>
            <a:pPr algn="r" indent="0" marL="0">
              <a:buNone/>
            </a:pPr>
            <a:r>
              <a:rPr lang="en-US" sz="1050" b="1" dirty="0">
                <a:solidFill>
                  <a:srgbClr val="1B3A6B"/>
                </a:solidFill>
                <a:latin typeface="Calibri" pitchFamily="34" charset="0"/>
                <a:ea typeface="Calibri" pitchFamily="34" charset="-122"/>
                <a:cs typeface="Calibri" pitchFamily="34" charset="-120"/>
              </a:rPr>
              <a:t>$60,000</a:t>
            </a:r>
            <a:endParaRPr lang="en-US" sz="1050" dirty="0"/>
          </a:p>
        </p:txBody>
      </p:sp>
      <p:sp>
        <p:nvSpPr>
          <p:cNvPr id="24" name="Shape 22"/>
          <p:cNvSpPr/>
          <p:nvPr/>
        </p:nvSpPr>
        <p:spPr>
          <a:xfrm>
            <a:off x="4681728" y="2651760"/>
            <a:ext cx="4206240" cy="438912"/>
          </a:xfrm>
          <a:prstGeom prst="rect">
            <a:avLst/>
          </a:prstGeom>
          <a:solidFill>
            <a:srgbClr val="FFFFFF"/>
          </a:solidFill>
          <a:ln w="6350">
            <a:solidFill>
              <a:srgbClr val="DDE1E7"/>
            </a:solidFill>
            <a:prstDash val="solid"/>
          </a:ln>
        </p:spPr>
      </p:sp>
      <p:sp>
        <p:nvSpPr>
          <p:cNvPr id="25" name="Shape 23"/>
          <p:cNvSpPr/>
          <p:nvPr/>
        </p:nvSpPr>
        <p:spPr>
          <a:xfrm>
            <a:off x="4681728" y="2651760"/>
            <a:ext cx="841248" cy="438912"/>
          </a:xfrm>
          <a:prstGeom prst="rect">
            <a:avLst/>
          </a:prstGeom>
          <a:solidFill>
            <a:srgbClr val="006B6B">
              <a:alpha val="25000"/>
            </a:srgbClr>
          </a:solidFill>
          <a:ln w="12700">
            <a:solidFill>
              <a:srgbClr val="006B6B"/>
            </a:solidFill>
            <a:prstDash val="solid"/>
          </a:ln>
        </p:spPr>
      </p:sp>
      <p:sp>
        <p:nvSpPr>
          <p:cNvPr id="26" name="Text 24"/>
          <p:cNvSpPr/>
          <p:nvPr/>
        </p:nvSpPr>
        <p:spPr>
          <a:xfrm>
            <a:off x="4773168" y="2743200"/>
            <a:ext cx="3108960" cy="27432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20%  Android development</a:t>
            </a:r>
            <a:endParaRPr lang="en-US" sz="1050" dirty="0"/>
          </a:p>
        </p:txBody>
      </p:sp>
      <p:sp>
        <p:nvSpPr>
          <p:cNvPr id="27" name="Text 25"/>
          <p:cNvSpPr/>
          <p:nvPr/>
        </p:nvSpPr>
        <p:spPr>
          <a:xfrm>
            <a:off x="8247888" y="2743200"/>
            <a:ext cx="548640" cy="274320"/>
          </a:xfrm>
          <a:prstGeom prst="rect">
            <a:avLst/>
          </a:prstGeom>
          <a:noFill/>
          <a:ln/>
        </p:spPr>
        <p:txBody>
          <a:bodyPr wrap="square" lIns="0" tIns="0" rIns="0" bIns="0" rtlCol="0" anchor="ctr"/>
          <a:lstStyle/>
          <a:p>
            <a:pPr algn="r" indent="0" marL="0">
              <a:buNone/>
            </a:pPr>
            <a:r>
              <a:rPr lang="en-US" sz="1050" b="1" dirty="0">
                <a:solidFill>
                  <a:srgbClr val="006B6B"/>
                </a:solidFill>
                <a:latin typeface="Calibri" pitchFamily="34" charset="0"/>
                <a:ea typeface="Calibri" pitchFamily="34" charset="-122"/>
                <a:cs typeface="Calibri" pitchFamily="34" charset="-120"/>
              </a:rPr>
              <a:t>$30,000</a:t>
            </a:r>
            <a:endParaRPr lang="en-US" sz="1050" dirty="0"/>
          </a:p>
        </p:txBody>
      </p:sp>
      <p:sp>
        <p:nvSpPr>
          <p:cNvPr id="28" name="Shape 26"/>
          <p:cNvSpPr/>
          <p:nvPr/>
        </p:nvSpPr>
        <p:spPr>
          <a:xfrm>
            <a:off x="4681728" y="3200400"/>
            <a:ext cx="4206240" cy="438912"/>
          </a:xfrm>
          <a:prstGeom prst="rect">
            <a:avLst/>
          </a:prstGeom>
          <a:solidFill>
            <a:srgbClr val="FFFFFF"/>
          </a:solidFill>
          <a:ln w="6350">
            <a:solidFill>
              <a:srgbClr val="DDE1E7"/>
            </a:solidFill>
            <a:prstDash val="solid"/>
          </a:ln>
        </p:spPr>
      </p:sp>
      <p:sp>
        <p:nvSpPr>
          <p:cNvPr id="29" name="Shape 27"/>
          <p:cNvSpPr/>
          <p:nvPr/>
        </p:nvSpPr>
        <p:spPr>
          <a:xfrm>
            <a:off x="4681728" y="3200400"/>
            <a:ext cx="841248" cy="438912"/>
          </a:xfrm>
          <a:prstGeom prst="rect">
            <a:avLst/>
          </a:prstGeom>
          <a:solidFill>
            <a:srgbClr val="CC0000">
              <a:alpha val="25000"/>
            </a:srgbClr>
          </a:solidFill>
          <a:ln w="12700">
            <a:solidFill>
              <a:srgbClr val="CC0000"/>
            </a:solidFill>
            <a:prstDash val="solid"/>
          </a:ln>
        </p:spPr>
      </p:sp>
      <p:sp>
        <p:nvSpPr>
          <p:cNvPr id="30" name="Text 28"/>
          <p:cNvSpPr/>
          <p:nvPr/>
        </p:nvSpPr>
        <p:spPr>
          <a:xfrm>
            <a:off x="4773168" y="3291840"/>
            <a:ext cx="3108960" cy="27432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20%  B2B partner channel development</a:t>
            </a:r>
            <a:endParaRPr lang="en-US" sz="1050" dirty="0"/>
          </a:p>
        </p:txBody>
      </p:sp>
      <p:sp>
        <p:nvSpPr>
          <p:cNvPr id="31" name="Text 29"/>
          <p:cNvSpPr/>
          <p:nvPr/>
        </p:nvSpPr>
        <p:spPr>
          <a:xfrm>
            <a:off x="8247888" y="3291840"/>
            <a:ext cx="548640" cy="274320"/>
          </a:xfrm>
          <a:prstGeom prst="rect">
            <a:avLst/>
          </a:prstGeom>
          <a:noFill/>
          <a:ln/>
        </p:spPr>
        <p:txBody>
          <a:bodyPr wrap="square" lIns="0" tIns="0" rIns="0" bIns="0" rtlCol="0" anchor="ctr"/>
          <a:lstStyle/>
          <a:p>
            <a:pPr algn="r" indent="0" marL="0">
              <a:buNone/>
            </a:pPr>
            <a:r>
              <a:rPr lang="en-US" sz="1050" b="1" dirty="0">
                <a:solidFill>
                  <a:srgbClr val="CC0000"/>
                </a:solidFill>
                <a:latin typeface="Calibri" pitchFamily="34" charset="0"/>
                <a:ea typeface="Calibri" pitchFamily="34" charset="-122"/>
                <a:cs typeface="Calibri" pitchFamily="34" charset="-120"/>
              </a:rPr>
              <a:t>$30,000</a:t>
            </a:r>
            <a:endParaRPr lang="en-US" sz="1050" dirty="0"/>
          </a:p>
        </p:txBody>
      </p:sp>
      <p:sp>
        <p:nvSpPr>
          <p:cNvPr id="32" name="Shape 30"/>
          <p:cNvSpPr/>
          <p:nvPr/>
        </p:nvSpPr>
        <p:spPr>
          <a:xfrm>
            <a:off x="4681728" y="3749040"/>
            <a:ext cx="4206240" cy="438912"/>
          </a:xfrm>
          <a:prstGeom prst="rect">
            <a:avLst/>
          </a:prstGeom>
          <a:solidFill>
            <a:srgbClr val="FFFFFF"/>
          </a:solidFill>
          <a:ln w="6350">
            <a:solidFill>
              <a:srgbClr val="DDE1E7"/>
            </a:solidFill>
            <a:prstDash val="solid"/>
          </a:ln>
        </p:spPr>
      </p:sp>
      <p:sp>
        <p:nvSpPr>
          <p:cNvPr id="33" name="Shape 31"/>
          <p:cNvSpPr/>
          <p:nvPr/>
        </p:nvSpPr>
        <p:spPr>
          <a:xfrm>
            <a:off x="4681728" y="3749040"/>
            <a:ext cx="504749" cy="438912"/>
          </a:xfrm>
          <a:prstGeom prst="rect">
            <a:avLst/>
          </a:prstGeom>
          <a:solidFill>
            <a:srgbClr val="C49A3C">
              <a:alpha val="25000"/>
            </a:srgbClr>
          </a:solidFill>
          <a:ln w="12700">
            <a:solidFill>
              <a:srgbClr val="C49A3C"/>
            </a:solidFill>
            <a:prstDash val="solid"/>
          </a:ln>
        </p:spPr>
      </p:sp>
      <p:sp>
        <p:nvSpPr>
          <p:cNvPr id="34" name="Text 32"/>
          <p:cNvSpPr/>
          <p:nvPr/>
        </p:nvSpPr>
        <p:spPr>
          <a:xfrm>
            <a:off x="4773168" y="3840480"/>
            <a:ext cx="3108960" cy="27432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12%  Clinical advisory &amp; compliance</a:t>
            </a:r>
            <a:endParaRPr lang="en-US" sz="1050" dirty="0"/>
          </a:p>
        </p:txBody>
      </p:sp>
      <p:sp>
        <p:nvSpPr>
          <p:cNvPr id="35" name="Text 33"/>
          <p:cNvSpPr/>
          <p:nvPr/>
        </p:nvSpPr>
        <p:spPr>
          <a:xfrm>
            <a:off x="8247888" y="3840480"/>
            <a:ext cx="548640" cy="274320"/>
          </a:xfrm>
          <a:prstGeom prst="rect">
            <a:avLst/>
          </a:prstGeom>
          <a:noFill/>
          <a:ln/>
        </p:spPr>
        <p:txBody>
          <a:bodyPr wrap="square" lIns="0" tIns="0" rIns="0" bIns="0" rtlCol="0" anchor="ctr"/>
          <a:lstStyle/>
          <a:p>
            <a:pPr algn="r" indent="0" marL="0">
              <a:buNone/>
            </a:pPr>
            <a:r>
              <a:rPr lang="en-US" sz="1050" b="1" dirty="0">
                <a:solidFill>
                  <a:srgbClr val="C49A3C"/>
                </a:solidFill>
                <a:latin typeface="Calibri" pitchFamily="34" charset="0"/>
                <a:ea typeface="Calibri" pitchFamily="34" charset="-122"/>
                <a:cs typeface="Calibri" pitchFamily="34" charset="-120"/>
              </a:rPr>
              <a:t>$18,000</a:t>
            </a:r>
            <a:endParaRPr lang="en-US" sz="1050" dirty="0"/>
          </a:p>
        </p:txBody>
      </p:sp>
      <p:sp>
        <p:nvSpPr>
          <p:cNvPr id="36" name="Shape 34"/>
          <p:cNvSpPr/>
          <p:nvPr/>
        </p:nvSpPr>
        <p:spPr>
          <a:xfrm>
            <a:off x="4681728" y="4297680"/>
            <a:ext cx="4206240" cy="438912"/>
          </a:xfrm>
          <a:prstGeom prst="rect">
            <a:avLst/>
          </a:prstGeom>
          <a:solidFill>
            <a:srgbClr val="FFFFFF"/>
          </a:solidFill>
          <a:ln w="6350">
            <a:solidFill>
              <a:srgbClr val="DDE1E7"/>
            </a:solidFill>
            <a:prstDash val="solid"/>
          </a:ln>
        </p:spPr>
      </p:sp>
      <p:sp>
        <p:nvSpPr>
          <p:cNvPr id="37" name="Shape 35"/>
          <p:cNvSpPr/>
          <p:nvPr/>
        </p:nvSpPr>
        <p:spPr>
          <a:xfrm>
            <a:off x="4681728" y="4297680"/>
            <a:ext cx="336499" cy="438912"/>
          </a:xfrm>
          <a:prstGeom prst="rect">
            <a:avLst/>
          </a:prstGeom>
          <a:solidFill>
            <a:srgbClr val="2C3E50">
              <a:alpha val="25000"/>
            </a:srgbClr>
          </a:solidFill>
          <a:ln w="12700">
            <a:solidFill>
              <a:srgbClr val="2C3E50"/>
            </a:solidFill>
            <a:prstDash val="solid"/>
          </a:ln>
        </p:spPr>
      </p:sp>
      <p:sp>
        <p:nvSpPr>
          <p:cNvPr id="38" name="Text 36"/>
          <p:cNvSpPr/>
          <p:nvPr/>
        </p:nvSpPr>
        <p:spPr>
          <a:xfrm>
            <a:off x="4773168" y="4389120"/>
            <a:ext cx="3108960" cy="274320"/>
          </a:xfrm>
          <a:prstGeom prst="rect">
            <a:avLst/>
          </a:prstGeom>
          <a:noFill/>
          <a:ln/>
        </p:spPr>
        <p:txBody>
          <a:bodyPr wrap="square" lIns="0" tIns="0" rIns="0" bIns="0" rtlCol="0" anchor="ctr"/>
          <a:lstStyle/>
          <a:p>
            <a:pPr indent="0" marL="0">
              <a:buNone/>
            </a:pPr>
            <a:r>
              <a:rPr lang="en-US" sz="1050" dirty="0">
                <a:solidFill>
                  <a:srgbClr val="1A252F"/>
                </a:solidFill>
                <a:latin typeface="Calibri" pitchFamily="34" charset="0"/>
                <a:ea typeface="Calibri" pitchFamily="34" charset="-122"/>
                <a:cs typeface="Calibri" pitchFamily="34" charset="-120"/>
              </a:rPr>
              <a:t>8%  Marketing (Canadian market)</a:t>
            </a:r>
            <a:endParaRPr lang="en-US" sz="1050" dirty="0"/>
          </a:p>
        </p:txBody>
      </p:sp>
      <p:sp>
        <p:nvSpPr>
          <p:cNvPr id="39" name="Text 37"/>
          <p:cNvSpPr/>
          <p:nvPr/>
        </p:nvSpPr>
        <p:spPr>
          <a:xfrm>
            <a:off x="8247888" y="4389120"/>
            <a:ext cx="548640" cy="274320"/>
          </a:xfrm>
          <a:prstGeom prst="rect">
            <a:avLst/>
          </a:prstGeom>
          <a:noFill/>
          <a:ln/>
        </p:spPr>
        <p:txBody>
          <a:bodyPr wrap="square" lIns="0" tIns="0" rIns="0" bIns="0" rtlCol="0" anchor="ctr"/>
          <a:lstStyle/>
          <a:p>
            <a:pPr algn="r" indent="0" marL="0">
              <a:buNone/>
            </a:pPr>
            <a:r>
              <a:rPr lang="en-US" sz="1050" b="1" dirty="0">
                <a:solidFill>
                  <a:srgbClr val="2C3E50"/>
                </a:solidFill>
                <a:latin typeface="Calibri" pitchFamily="34" charset="0"/>
                <a:ea typeface="Calibri" pitchFamily="34" charset="-122"/>
                <a:cs typeface="Calibri" pitchFamily="34" charset="-120"/>
              </a:rPr>
              <a:t>$12,000</a:t>
            </a:r>
            <a:endParaRPr lang="en-US" sz="1050" dirty="0"/>
          </a:p>
        </p:txBody>
      </p:sp>
      <p:sp>
        <p:nvSpPr>
          <p:cNvPr id="40" name="Shape 38"/>
          <p:cNvSpPr/>
          <p:nvPr/>
        </p:nvSpPr>
        <p:spPr>
          <a:xfrm>
            <a:off x="4681728" y="3977640"/>
            <a:ext cx="4206240" cy="758952"/>
          </a:xfrm>
          <a:prstGeom prst="rect">
            <a:avLst/>
          </a:prstGeom>
          <a:solidFill>
            <a:srgbClr val="F4F6F9"/>
          </a:solidFill>
          <a:ln w="6350">
            <a:solidFill>
              <a:srgbClr val="DDE1E7"/>
            </a:solidFill>
            <a:prstDash val="solid"/>
          </a:ln>
        </p:spPr>
      </p:sp>
      <p:sp>
        <p:nvSpPr>
          <p:cNvPr id="41" name="Text 39"/>
          <p:cNvSpPr/>
          <p:nvPr/>
        </p:nvSpPr>
        <p:spPr>
          <a:xfrm>
            <a:off x="4773168" y="4041648"/>
            <a:ext cx="4023360" cy="621792"/>
          </a:xfrm>
          <a:prstGeom prst="rect">
            <a:avLst/>
          </a:prstGeom>
          <a:noFill/>
          <a:ln/>
        </p:spPr>
        <p:txBody>
          <a:bodyPr wrap="square" rtlCol="0" anchor="ctr"/>
          <a:lstStyle/>
          <a:p>
            <a:pPr indent="0" marL="0">
              <a:lnSpc>
                <a:spcPct val="125000"/>
              </a:lnSpc>
              <a:buNone/>
            </a:pPr>
            <a:r>
              <a:rPr lang="en-US" sz="950" dirty="0">
                <a:solidFill>
                  <a:srgbClr val="5D6D7E"/>
                </a:solidFill>
                <a:latin typeface="Calibri" pitchFamily="34" charset="0"/>
                <a:ea typeface="Calibri" pitchFamily="34" charset="-122"/>
                <a:cs typeface="Calibri" pitchFamily="34" charset="-120"/>
              </a:rPr>
              <a:t>SR&amp;ED Note: Solace Life's AI development and automated death-confirmation system qualify as experimental development under CRA SR&amp;ED guidelines. Estimated annual SR&amp;ED tax credit: $28,000–$42,000 (35% on eligible expenditures). This is in addition to the IRAP request.</a:t>
            </a:r>
            <a:endParaRPr lang="en-US" sz="950" dirty="0"/>
          </a:p>
        </p:txBody>
      </p:sp>
      <p:sp>
        <p:nvSpPr>
          <p:cNvPr id="42" name="Shape 40"/>
          <p:cNvSpPr/>
          <p:nvPr/>
        </p:nvSpPr>
        <p:spPr>
          <a:xfrm>
            <a:off x="0" y="4956048"/>
            <a:ext cx="9144000" cy="187452"/>
          </a:xfrm>
          <a:prstGeom prst="rect">
            <a:avLst/>
          </a:prstGeom>
          <a:solidFill>
            <a:srgbClr val="1B3A6B"/>
          </a:solidFill>
          <a:ln w="12700">
            <a:solidFill>
              <a:srgbClr val="1B3A6B"/>
            </a:solidFill>
            <a:prstDash val="solid"/>
          </a:ln>
        </p:spPr>
      </p:sp>
      <p:sp>
        <p:nvSpPr>
          <p:cNvPr id="43" name="Text 41"/>
          <p:cNvSpPr/>
          <p:nvPr/>
        </p:nvSpPr>
        <p:spPr>
          <a:xfrm>
            <a:off x="274320" y="4956048"/>
            <a:ext cx="8595360" cy="187452"/>
          </a:xfrm>
          <a:prstGeom prst="rect">
            <a:avLst/>
          </a:prstGeom>
          <a:noFill/>
          <a:ln/>
        </p:spPr>
        <p:txBody>
          <a:bodyPr wrap="square" lIns="0" tIns="0" rIns="0" bIns="0" rtlCol="0" anchor="ctr"/>
          <a:lstStyle/>
          <a:p>
            <a:pPr indent="0" marL="0">
              <a:buNone/>
            </a:pPr>
            <a:r>
              <a:rPr lang="en-US" sz="850" dirty="0">
                <a:solidFill>
                  <a:srgbClr val="FFFFFF">
                    <a:alpha val="70000"/>
                  </a:srgbClr>
                </a:solidFill>
                <a:latin typeface="Calibri" pitchFamily="34" charset="0"/>
                <a:ea typeface="Calibri" pitchFamily="34" charset="-122"/>
                <a:cs typeface="Calibri" pitchFamily="34" charset="-120"/>
              </a:rPr>
              <a:t>Solace Life — Government Funding Presentation  ·  Confidential  ·  12 of 13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240"/>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CC0000"/>
          </a:solidFill>
          <a:ln w="12700">
            <a:solidFill>
              <a:srgbClr val="CC0000"/>
            </a:solidFill>
            <a:prstDash val="solid"/>
          </a:ln>
        </p:spPr>
      </p:sp>
      <p:sp>
        <p:nvSpPr>
          <p:cNvPr id="3" name="Shape 1"/>
          <p:cNvSpPr/>
          <p:nvPr/>
        </p:nvSpPr>
        <p:spPr>
          <a:xfrm>
            <a:off x="685800" y="320040"/>
            <a:ext cx="1234440" cy="1234440"/>
          </a:xfrm>
          <a:prstGeom prst="oval">
            <a:avLst/>
          </a:prstGeom>
          <a:solidFill>
            <a:srgbClr val="FFFFFF">
              <a:alpha val="10000"/>
            </a:srgbClr>
          </a:solidFill>
          <a:ln w="19050">
            <a:solidFill>
              <a:srgbClr val="C49A3C"/>
            </a:solidFill>
            <a:prstDash val="solid"/>
          </a:ln>
        </p:spPr>
      </p:sp>
      <p:sp>
        <p:nvSpPr>
          <p:cNvPr id="4" name="Text 2"/>
          <p:cNvSpPr/>
          <p:nvPr/>
        </p:nvSpPr>
        <p:spPr>
          <a:xfrm>
            <a:off x="685800" y="320040"/>
            <a:ext cx="1234440" cy="1234440"/>
          </a:xfrm>
          <a:prstGeom prst="rect">
            <a:avLst/>
          </a:prstGeom>
          <a:noFill/>
          <a:ln/>
        </p:spPr>
        <p:txBody>
          <a:bodyPr wrap="square" lIns="0" tIns="0" rIns="0" bIns="0" rtlCol="0" anchor="ctr"/>
          <a:lstStyle/>
          <a:p>
            <a:pPr algn="ctr" indent="0" marL="0">
              <a:buNone/>
            </a:pPr>
            <a:r>
              <a:rPr lang="en-US" sz="3200" b="1" i="1" dirty="0">
                <a:solidFill>
                  <a:srgbClr val="FFFFFF"/>
                </a:solidFill>
                <a:latin typeface="Georgia" pitchFamily="34" charset="0"/>
                <a:ea typeface="Georgia" pitchFamily="34" charset="-122"/>
                <a:cs typeface="Georgia" pitchFamily="34" charset="-120"/>
              </a:rPr>
              <a:t>SL</a:t>
            </a:r>
            <a:endParaRPr lang="en-US" sz="3200" dirty="0"/>
          </a:p>
        </p:txBody>
      </p:sp>
      <p:sp>
        <p:nvSpPr>
          <p:cNvPr id="5" name="Text 3"/>
          <p:cNvSpPr/>
          <p:nvPr/>
        </p:nvSpPr>
        <p:spPr>
          <a:xfrm>
            <a:off x="685800" y="1618488"/>
            <a:ext cx="1417320" cy="201168"/>
          </a:xfrm>
          <a:prstGeom prst="rect">
            <a:avLst/>
          </a:prstGeom>
          <a:noFill/>
          <a:ln/>
        </p:spPr>
        <p:txBody>
          <a:bodyPr wrap="square" lIns="0" tIns="0" rIns="0" bIns="0" rtlCol="0" anchor="ctr"/>
          <a:lstStyle/>
          <a:p>
            <a:pPr algn="ctr" indent="0" marL="0">
              <a:buNone/>
            </a:pPr>
            <a:r>
              <a:rPr lang="en-US" sz="850" b="1" spc="200" kern="0" dirty="0">
                <a:solidFill>
                  <a:srgbClr val="FFFFFF"/>
                </a:solidFill>
                <a:latin typeface="Calibri" pitchFamily="34" charset="0"/>
                <a:ea typeface="Calibri" pitchFamily="34" charset="-122"/>
                <a:cs typeface="Calibri" pitchFamily="34" charset="-120"/>
              </a:rPr>
              <a:t>SOLACE LIFE</a:t>
            </a:r>
            <a:endParaRPr lang="en-US" sz="850" dirty="0"/>
          </a:p>
        </p:txBody>
      </p:sp>
      <p:sp>
        <p:nvSpPr>
          <p:cNvPr id="6" name="Shape 4"/>
          <p:cNvSpPr/>
          <p:nvPr/>
        </p:nvSpPr>
        <p:spPr>
          <a:xfrm>
            <a:off x="685800" y="1901952"/>
            <a:ext cx="3200400" cy="36576"/>
          </a:xfrm>
          <a:prstGeom prst="rect">
            <a:avLst/>
          </a:prstGeom>
          <a:solidFill>
            <a:srgbClr val="C49A3C"/>
          </a:solidFill>
          <a:ln w="12700">
            <a:solidFill>
              <a:srgbClr val="C49A3C"/>
            </a:solidFill>
            <a:prstDash val="solid"/>
          </a:ln>
        </p:spPr>
      </p:sp>
      <p:sp>
        <p:nvSpPr>
          <p:cNvPr id="7" name="Text 5"/>
          <p:cNvSpPr/>
          <p:nvPr/>
        </p:nvSpPr>
        <p:spPr>
          <a:xfrm>
            <a:off x="685800" y="2011680"/>
            <a:ext cx="5029200" cy="1005840"/>
          </a:xfrm>
          <a:prstGeom prst="rect">
            <a:avLst/>
          </a:prstGeom>
          <a:noFill/>
          <a:ln/>
        </p:spPr>
        <p:txBody>
          <a:bodyPr wrap="square" rtlCol="0" anchor="ctr"/>
          <a:lstStyle/>
          <a:p>
            <a:pPr indent="0" marL="0">
              <a:lnSpc>
                <a:spcPct val="130000"/>
              </a:lnSpc>
              <a:buNone/>
            </a:pPr>
            <a:r>
              <a:rPr lang="en-US" sz="2200" b="1" dirty="0">
                <a:solidFill>
                  <a:srgbClr val="FFFFFF"/>
                </a:solidFill>
                <a:latin typeface="Calibri" pitchFamily="34" charset="0"/>
                <a:ea typeface="Calibri" pitchFamily="34" charset="-122"/>
                <a:cs typeface="Calibri" pitchFamily="34" charset="-120"/>
              </a:rPr>
              <a:t>Canada has an opportunity to lead the world in digital legacy technology.</a:t>
            </a:r>
            <a:endParaRPr lang="en-US" sz="2200" dirty="0"/>
          </a:p>
        </p:txBody>
      </p:sp>
      <p:sp>
        <p:nvSpPr>
          <p:cNvPr id="8" name="Text 6"/>
          <p:cNvSpPr/>
          <p:nvPr/>
        </p:nvSpPr>
        <p:spPr>
          <a:xfrm>
            <a:off x="685800" y="3127248"/>
            <a:ext cx="5029200" cy="914400"/>
          </a:xfrm>
          <a:prstGeom prst="rect">
            <a:avLst/>
          </a:prstGeom>
          <a:noFill/>
          <a:ln/>
        </p:spPr>
        <p:txBody>
          <a:bodyPr wrap="square" rtlCol="0" anchor="ctr"/>
          <a:lstStyle/>
          <a:p>
            <a:pPr indent="0" marL="0">
              <a:lnSpc>
                <a:spcPct val="145000"/>
              </a:lnSpc>
              <a:buNone/>
            </a:pPr>
            <a:r>
              <a:rPr lang="en-US" sz="1300" dirty="0">
                <a:solidFill>
                  <a:srgbClr val="FFFFFF">
                    <a:alpha val="85000"/>
                  </a:srgbClr>
                </a:solidFill>
                <a:latin typeface="Calibri" pitchFamily="34" charset="0"/>
                <a:ea typeface="Calibri" pitchFamily="34" charset="-122"/>
                <a:cs typeface="Calibri" pitchFamily="34" charset="-120"/>
              </a:rPr>
              <a:t>Solace Life is the vehicle. The NRC IRAP program is the accelerant. The outcome is a Canadian-owned platform serving millions of aging Canadians — and the families who love them.</a:t>
            </a:r>
            <a:endParaRPr lang="en-US" sz="1300" dirty="0"/>
          </a:p>
        </p:txBody>
      </p:sp>
      <p:sp>
        <p:nvSpPr>
          <p:cNvPr id="9" name="Shape 7"/>
          <p:cNvSpPr/>
          <p:nvPr/>
        </p:nvSpPr>
        <p:spPr>
          <a:xfrm>
            <a:off x="6172200" y="658368"/>
            <a:ext cx="2743200" cy="4224528"/>
          </a:xfrm>
          <a:prstGeom prst="rect">
            <a:avLst/>
          </a:prstGeom>
          <a:solidFill>
            <a:srgbClr val="FFFFFF">
              <a:alpha val="95000"/>
            </a:srgbClr>
          </a:solidFill>
          <a:ln w="12700">
            <a:solidFill>
              <a:srgbClr val="FFFFFF"/>
            </a:solidFill>
            <a:prstDash val="solid"/>
          </a:ln>
        </p:spPr>
      </p:sp>
      <p:sp>
        <p:nvSpPr>
          <p:cNvPr id="10" name="Text 8"/>
          <p:cNvSpPr/>
          <p:nvPr/>
        </p:nvSpPr>
        <p:spPr>
          <a:xfrm>
            <a:off x="6291072" y="777240"/>
            <a:ext cx="2514600" cy="274320"/>
          </a:xfrm>
          <a:prstGeom prst="rect">
            <a:avLst/>
          </a:prstGeom>
          <a:noFill/>
          <a:ln/>
        </p:spPr>
        <p:txBody>
          <a:bodyPr wrap="square" lIns="0" tIns="0" rIns="0" bIns="0" rtlCol="0" anchor="ctr"/>
          <a:lstStyle/>
          <a:p>
            <a:pPr indent="0" marL="0">
              <a:buNone/>
            </a:pPr>
            <a:r>
              <a:rPr lang="en-US" sz="900" b="1" spc="150" kern="0" dirty="0">
                <a:solidFill>
                  <a:srgbClr val="C49A3C"/>
                </a:solidFill>
                <a:latin typeface="Calibri" pitchFamily="34" charset="0"/>
                <a:ea typeface="Calibri" pitchFamily="34" charset="-122"/>
                <a:cs typeface="Calibri" pitchFamily="34" charset="-120"/>
              </a:rPr>
              <a:t>CONTACT &amp; NEXT STEPS</a:t>
            </a:r>
            <a:endParaRPr lang="en-US" sz="900" dirty="0"/>
          </a:p>
        </p:txBody>
      </p:sp>
      <p:sp>
        <p:nvSpPr>
          <p:cNvPr id="11" name="Text 9"/>
          <p:cNvSpPr/>
          <p:nvPr/>
        </p:nvSpPr>
        <p:spPr>
          <a:xfrm>
            <a:off x="6291072" y="1143000"/>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Applicant</a:t>
            </a:r>
            <a:endParaRPr lang="en-US" sz="950" dirty="0"/>
          </a:p>
        </p:txBody>
      </p:sp>
      <p:sp>
        <p:nvSpPr>
          <p:cNvPr id="12" name="Text 10"/>
          <p:cNvSpPr/>
          <p:nvPr/>
        </p:nvSpPr>
        <p:spPr>
          <a:xfrm>
            <a:off x="7333488" y="1143000"/>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Sokha Eang</a:t>
            </a:r>
            <a:endParaRPr lang="en-US" sz="950" dirty="0"/>
          </a:p>
        </p:txBody>
      </p:sp>
      <p:sp>
        <p:nvSpPr>
          <p:cNvPr id="13" name="Text 11"/>
          <p:cNvSpPr/>
          <p:nvPr/>
        </p:nvSpPr>
        <p:spPr>
          <a:xfrm>
            <a:off x="6291072" y="1472184"/>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Role</a:t>
            </a:r>
            <a:endParaRPr lang="en-US" sz="950" dirty="0"/>
          </a:p>
        </p:txBody>
      </p:sp>
      <p:sp>
        <p:nvSpPr>
          <p:cNvPr id="14" name="Text 12"/>
          <p:cNvSpPr/>
          <p:nvPr/>
        </p:nvSpPr>
        <p:spPr>
          <a:xfrm>
            <a:off x="7333488" y="1472184"/>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Founder &amp; CEO</a:t>
            </a:r>
            <a:endParaRPr lang="en-US" sz="950" dirty="0"/>
          </a:p>
        </p:txBody>
      </p:sp>
      <p:sp>
        <p:nvSpPr>
          <p:cNvPr id="15" name="Text 13"/>
          <p:cNvSpPr/>
          <p:nvPr/>
        </p:nvSpPr>
        <p:spPr>
          <a:xfrm>
            <a:off x="6291072" y="1801368"/>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Company</a:t>
            </a:r>
            <a:endParaRPr lang="en-US" sz="950" dirty="0"/>
          </a:p>
        </p:txBody>
      </p:sp>
      <p:sp>
        <p:nvSpPr>
          <p:cNvPr id="16" name="Text 14"/>
          <p:cNvSpPr/>
          <p:nvPr/>
        </p:nvSpPr>
        <p:spPr>
          <a:xfrm>
            <a:off x="7333488" y="1801368"/>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Solace Life Inc.</a:t>
            </a:r>
            <a:endParaRPr lang="en-US" sz="950" dirty="0"/>
          </a:p>
        </p:txBody>
      </p:sp>
      <p:sp>
        <p:nvSpPr>
          <p:cNvPr id="17" name="Text 15"/>
          <p:cNvSpPr/>
          <p:nvPr/>
        </p:nvSpPr>
        <p:spPr>
          <a:xfrm>
            <a:off x="6291072" y="2130552"/>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Email</a:t>
            </a:r>
            <a:endParaRPr lang="en-US" sz="950" dirty="0"/>
          </a:p>
        </p:txBody>
      </p:sp>
      <p:sp>
        <p:nvSpPr>
          <p:cNvPr id="18" name="Text 16"/>
          <p:cNvSpPr/>
          <p:nvPr/>
        </p:nvSpPr>
        <p:spPr>
          <a:xfrm>
            <a:off x="7333488" y="2130552"/>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sokhaeang@gmail.com</a:t>
            </a:r>
            <a:endParaRPr lang="en-US" sz="950" dirty="0"/>
          </a:p>
        </p:txBody>
      </p:sp>
      <p:sp>
        <p:nvSpPr>
          <p:cNvPr id="19" name="Text 17"/>
          <p:cNvSpPr/>
          <p:nvPr/>
        </p:nvSpPr>
        <p:spPr>
          <a:xfrm>
            <a:off x="6291072" y="2459736"/>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Website</a:t>
            </a:r>
            <a:endParaRPr lang="en-US" sz="950" dirty="0"/>
          </a:p>
        </p:txBody>
      </p:sp>
      <p:sp>
        <p:nvSpPr>
          <p:cNvPr id="20" name="Text 18"/>
          <p:cNvSpPr/>
          <p:nvPr/>
        </p:nvSpPr>
        <p:spPr>
          <a:xfrm>
            <a:off x="7333488" y="2459736"/>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solacelife.ca</a:t>
            </a:r>
            <a:endParaRPr lang="en-US" sz="950" dirty="0"/>
          </a:p>
        </p:txBody>
      </p:sp>
      <p:sp>
        <p:nvSpPr>
          <p:cNvPr id="21" name="Text 19"/>
          <p:cNvSpPr/>
          <p:nvPr/>
        </p:nvSpPr>
        <p:spPr>
          <a:xfrm>
            <a:off x="6291072" y="2788920"/>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Location</a:t>
            </a:r>
            <a:endParaRPr lang="en-US" sz="950" dirty="0"/>
          </a:p>
        </p:txBody>
      </p:sp>
      <p:sp>
        <p:nvSpPr>
          <p:cNvPr id="22" name="Text 20"/>
          <p:cNvSpPr/>
          <p:nvPr/>
        </p:nvSpPr>
        <p:spPr>
          <a:xfrm>
            <a:off x="7333488" y="2788920"/>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Vancouver, BC, Canada</a:t>
            </a:r>
            <a:endParaRPr lang="en-US" sz="950" dirty="0"/>
          </a:p>
        </p:txBody>
      </p:sp>
      <p:sp>
        <p:nvSpPr>
          <p:cNvPr id="23" name="Text 21"/>
          <p:cNvSpPr/>
          <p:nvPr/>
        </p:nvSpPr>
        <p:spPr>
          <a:xfrm>
            <a:off x="6291072" y="3447288"/>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Next step</a:t>
            </a:r>
            <a:endParaRPr lang="en-US" sz="950" dirty="0"/>
          </a:p>
        </p:txBody>
      </p:sp>
      <p:sp>
        <p:nvSpPr>
          <p:cNvPr id="24" name="Text 22"/>
          <p:cNvSpPr/>
          <p:nvPr/>
        </p:nvSpPr>
        <p:spPr>
          <a:xfrm>
            <a:off x="7333488" y="3447288"/>
            <a:ext cx="1444752"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Schedule IRAP advisor meeting</a:t>
            </a:r>
            <a:endParaRPr lang="en-US" sz="950" dirty="0"/>
          </a:p>
        </p:txBody>
      </p:sp>
      <p:sp>
        <p:nvSpPr>
          <p:cNvPr id="25" name="Text 23"/>
          <p:cNvSpPr/>
          <p:nvPr/>
        </p:nvSpPr>
        <p:spPr>
          <a:xfrm>
            <a:off x="6291072" y="3776472"/>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SR&amp;ED filing</a:t>
            </a:r>
            <a:endParaRPr lang="en-US" sz="950" dirty="0"/>
          </a:p>
        </p:txBody>
      </p:sp>
      <p:sp>
        <p:nvSpPr>
          <p:cNvPr id="26" name="Text 24"/>
          <p:cNvSpPr/>
          <p:nvPr/>
        </p:nvSpPr>
        <p:spPr>
          <a:xfrm>
            <a:off x="7333488" y="3776472"/>
            <a:ext cx="144475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In preparation — Q3 2026</a:t>
            </a:r>
            <a:endParaRPr lang="en-US" sz="950" dirty="0"/>
          </a:p>
        </p:txBody>
      </p:sp>
      <p:sp>
        <p:nvSpPr>
          <p:cNvPr id="27" name="Text 25"/>
          <p:cNvSpPr/>
          <p:nvPr/>
        </p:nvSpPr>
        <p:spPr>
          <a:xfrm>
            <a:off x="6291072" y="4105656"/>
            <a:ext cx="1005840" cy="274320"/>
          </a:xfrm>
          <a:prstGeom prst="rect">
            <a:avLst/>
          </a:prstGeom>
          <a:noFill/>
          <a:ln/>
        </p:spPr>
        <p:txBody>
          <a:bodyPr wrap="square" lIns="0" tIns="0" rIns="0" bIns="0" rtlCol="0" anchor="ctr"/>
          <a:lstStyle/>
          <a:p>
            <a:pPr indent="0" marL="0">
              <a:buNone/>
            </a:pPr>
            <a:r>
              <a:rPr lang="en-US" sz="950" dirty="0">
                <a:solidFill>
                  <a:srgbClr val="FFFFFF">
                    <a:alpha val="70000"/>
                  </a:srgbClr>
                </a:solidFill>
                <a:latin typeface="Calibri" pitchFamily="34" charset="0"/>
                <a:ea typeface="Calibri" pitchFamily="34" charset="-122"/>
                <a:cs typeface="Calibri" pitchFamily="34" charset="-120"/>
              </a:rPr>
              <a:t>App Store</a:t>
            </a:r>
            <a:endParaRPr lang="en-US" sz="950" dirty="0"/>
          </a:p>
        </p:txBody>
      </p:sp>
      <p:sp>
        <p:nvSpPr>
          <p:cNvPr id="28" name="Text 26"/>
          <p:cNvSpPr/>
          <p:nvPr/>
        </p:nvSpPr>
        <p:spPr>
          <a:xfrm>
            <a:off x="7333488" y="4105656"/>
            <a:ext cx="1444752" cy="2743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Launch within 30 days</a:t>
            </a:r>
            <a:endParaRPr lang="en-US" sz="950" dirty="0"/>
          </a:p>
        </p:txBody>
      </p:sp>
      <p:sp>
        <p:nvSpPr>
          <p:cNvPr id="29" name="Text 27"/>
          <p:cNvSpPr/>
          <p:nvPr/>
        </p:nvSpPr>
        <p:spPr>
          <a:xfrm>
            <a:off x="8321040" y="4919472"/>
            <a:ext cx="594360" cy="182880"/>
          </a:xfrm>
          <a:prstGeom prst="rect">
            <a:avLst/>
          </a:prstGeom>
          <a:noFill/>
          <a:ln/>
        </p:spPr>
        <p:txBody>
          <a:bodyPr wrap="square" lIns="0" tIns="0" rIns="0" bIns="0" rtlCol="0" anchor="ctr"/>
          <a:lstStyle/>
          <a:p>
            <a:pPr algn="r" indent="0" marL="0">
              <a:buNone/>
            </a:pPr>
            <a:r>
              <a:rPr lang="en-US" sz="800" dirty="0">
                <a:solidFill>
                  <a:srgbClr val="FFFFFF">
                    <a:alpha val="60000"/>
                  </a:srgbClr>
                </a:solidFill>
                <a:latin typeface="Calibri" pitchFamily="34" charset="0"/>
                <a:ea typeface="Calibri" pitchFamily="34" charset="-122"/>
                <a:cs typeface="Calibri" pitchFamily="34" charset="-120"/>
              </a:rPr>
              <a:t>13 of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Solace Life — Government Funding Application</dc:title>
  <dc:subject>PptxGenJS Presentation</dc:subject>
  <dc:creator>PptxGenJS</dc:creator>
  <cp:lastModifiedBy>PptxGenJS</cp:lastModifiedBy>
  <cp:revision>1</cp:revision>
  <dcterms:created xsi:type="dcterms:W3CDTF">2026-05-28T19:15:29Z</dcterms:created>
  <dcterms:modified xsi:type="dcterms:W3CDTF">2026-05-28T19:15:29Z</dcterms:modified>
</cp:coreProperties>
</file>