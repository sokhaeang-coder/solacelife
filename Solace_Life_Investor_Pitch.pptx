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21"/>
    <p:sldId id="271" r:id="rId22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23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102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D1020"/>
                </a:solidFill>
                <a:latin typeface="Arial"/>
              </a:rPr>
              <a:t>ARR Growth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($)</c:v>
                </c:pt>
              </c:strCache>
            </c:strRef>
          </c:tx>
          <c:spPr>
            <a:solidFill>
              <a:srgbClr val="F062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D10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 6</c:v>
                  </c:pt>
                  <c:pt idx="1">
                    <c:v>Month 12</c:v>
                  </c:pt>
                  <c:pt idx="2">
                    <c:v>Month 18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200000</c:v>
                </c:pt>
                <c:pt idx="1">
                  <c:v>1100000</c:v>
                </c:pt>
                <c:pt idx="2">
                  <c:v>2400000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D10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34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5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344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8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74320"/>
            <a:ext cx="3657600" cy="3657600"/>
          </a:xfrm>
          <a:prstGeom prst="ellipse">
            <a:avLst/>
          </a:prstGeom>
          <a:solidFill>
            <a:srgbClr val="5C1530">
              <a:alpha val="50000"/>
            </a:srgbClr>
          </a:solidFill>
          <a:ln w="12700">
            <a:solidFill>
              <a:srgbClr val="1A0A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5C1530">
              <a:alpha val="80000"/>
            </a:srgbClr>
          </a:solidFill>
          <a:ln w="25400">
            <a:solidFill>
              <a:srgbClr val="F062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*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8F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Solace Life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907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908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memory vault families never knew they needed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—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8F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billion people will die this decade.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8F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Most will leave nothing behind.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2029968"/>
            <a:ext cx="2697480" cy="1691640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8483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70%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724912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adults have no voice or video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for their family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029968"/>
            <a:ext cx="2697480" cy="1691640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08483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$3.8T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29000" y="2724912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assets lost or disputed annually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poor estate planning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029968"/>
            <a:ext cx="2697480" cy="1691640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8483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 apps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55080" y="2724912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you schedule messages for dates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after your death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913632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908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problem isn't that people don't want to leave something behind.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9908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It's that no one gave them a way to do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Solace Life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Record. Protect. Deliver.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269748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63040"/>
            <a:ext cx="2697480" cy="91440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7592" y="1645920"/>
            <a:ext cx="914400" cy="914400"/>
          </a:xfrm>
          <a:prstGeom prst="ellipse">
            <a:avLst/>
          </a:prstGeom>
          <a:solidFill>
            <a:srgbClr val="F8E8EC"/>
          </a:solidFill>
          <a:ln w="19050">
            <a:solidFill>
              <a:srgbClr val="F062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7592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Video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6334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RECORD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" y="3035808"/>
            <a:ext cx="247802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memos, video, letters,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— captured in minutes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69748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463040"/>
            <a:ext cx="2697480" cy="91440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3672" y="1645920"/>
            <a:ext cx="914400" cy="914400"/>
          </a:xfrm>
          <a:prstGeom prst="ellipse">
            <a:avLst/>
          </a:prstGeom>
          <a:solidFill>
            <a:srgbClr val="F8E8EC"/>
          </a:solidFill>
          <a:ln w="19050">
            <a:solidFill>
              <a:srgbClr val="F062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26334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PROTECT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47288" y="3035808"/>
            <a:ext cx="247802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 vault.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family ever sees it.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1463040"/>
            <a:ext cx="269748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463040"/>
            <a:ext cx="2697480" cy="91440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9752" y="1645920"/>
            <a:ext cx="914400" cy="914400"/>
          </a:xfrm>
          <a:prstGeom prst="ellipse">
            <a:avLst/>
          </a:prstGeom>
          <a:solidFill>
            <a:srgbClr val="F8E8EC"/>
          </a:solidFill>
          <a:ln w="19050">
            <a:solidFill>
              <a:srgbClr val="F0629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26334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DELIVER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3368" y="3035808"/>
            <a:ext cx="247802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to arrive on birthdays,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anniversaries, or after you're gone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Simple to start. Priceless to receive.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170432"/>
            <a:ext cx="19659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41832" y="1280160"/>
            <a:ext cx="914400" cy="914400"/>
          </a:xfrm>
          <a:prstGeom prst="ellipse">
            <a:avLst/>
          </a:prstGeom>
          <a:solidFill>
            <a:srgbClr val="F8E8EC"/>
          </a:solidFill>
          <a:ln w="19050">
            <a:solidFill>
              <a:srgbClr val="F0629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84632" y="2286000"/>
            <a:ext cx="1819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Sign Up &amp; Record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2779776"/>
            <a:ext cx="18196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 and record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memory in 5 minutes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170432"/>
            <a:ext cx="19659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90672" y="1280160"/>
            <a:ext cx="914400" cy="914400"/>
          </a:xfrm>
          <a:prstGeom prst="ellipse">
            <a:avLst/>
          </a:prstGeom>
          <a:solidFill>
            <a:srgbClr val="F8E8EC"/>
          </a:solidFill>
          <a:ln w="19050">
            <a:solidFill>
              <a:srgbClr val="F062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33472" y="2286000"/>
            <a:ext cx="1819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Add Family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33472" y="2779776"/>
            <a:ext cx="18196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family members and assign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 to each person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170432"/>
            <a:ext cx="19659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39512" y="1280160"/>
            <a:ext cx="914400" cy="914400"/>
          </a:xfrm>
          <a:prstGeom prst="ellipse">
            <a:avLst/>
          </a:prstGeom>
          <a:solidFill>
            <a:srgbClr val="F8E8EC"/>
          </a:solidFill>
          <a:ln w="19050">
            <a:solidFill>
              <a:srgbClr val="F062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82312" y="2286000"/>
            <a:ext cx="1819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Schedule Delivery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82312" y="2779776"/>
            <a:ext cx="18196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any date, any occasion,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year — even decades away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1170432"/>
            <a:ext cx="19659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88352" y="1280160"/>
            <a:ext cx="914400" cy="914400"/>
          </a:xfrm>
          <a:prstGeom prst="ellipse">
            <a:avLst/>
          </a:prstGeom>
          <a:solidFill>
            <a:srgbClr val="F06292"/>
          </a:solidFill>
          <a:ln w="19050">
            <a:solidFill>
              <a:srgbClr val="F062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31152" y="2286000"/>
            <a:ext cx="1819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They Receive 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31152" y="2779776"/>
            <a:ext cx="18196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family receives your message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even if you're no longer here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92608"/>
            <a:ext cx="1463040" cy="365760"/>
          </a:xfrm>
          <a:prstGeom prst="rect">
            <a:avLst/>
          </a:prstGeom>
          <a:solidFill>
            <a:srgbClr val="5C1530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79552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8F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"A parent collapses in public. A bystander picks up their phone to call for help — but it's locked. No access to contacts. No way to reach the family. Every second counts, and no one knows who to call."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349300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Solace Life is built to prevent.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041648"/>
            <a:ext cx="8138160" cy="777240"/>
          </a:xfrm>
          <a:prstGeom prst="rect">
            <a:avLst/>
          </a:prstGeom>
          <a:solidFill>
            <a:srgbClr val="2A0A18"/>
          </a:solidFill>
          <a:ln w="19050">
            <a:solidFill>
              <a:srgbClr val="F062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059936"/>
            <a:ext cx="79552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emergency contact. Visible without unlocking. No other app does this.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market hiding in plain sight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14600" cy="2514600"/>
          </a:xfrm>
          <a:prstGeom prst="ellipse">
            <a:avLst/>
          </a:prstGeom>
          <a:solidFill>
            <a:srgbClr val="F8E8EC"/>
          </a:solidFill>
          <a:ln w="25400">
            <a:solidFill>
              <a:srgbClr val="F06292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155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$15B+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legacy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planning market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2514600" cy="2514600"/>
          </a:xfrm>
          <a:prstGeom prst="ellipse">
            <a:avLst/>
          </a:prstGeom>
          <a:solidFill>
            <a:srgbClr val="F4D0D9"/>
          </a:solidFill>
          <a:ln w="25400">
            <a:solidFill>
              <a:srgbClr val="F06292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155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57276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120M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37560" y="22860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American adults 35-75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smartphones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514600" cy="2514600"/>
          </a:xfrm>
          <a:prstGeom prst="ellipse">
            <a:avLst/>
          </a:prstGeom>
          <a:solidFill>
            <a:srgbClr val="EFBFCC"/>
          </a:solidFill>
          <a:ln w="25400">
            <a:solidFill>
              <a:srgbClr val="F06292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155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57276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600K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by Year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(0.5% penetration)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8229600" cy="777240"/>
          </a:xfrm>
          <a:prstGeom prst="rect">
            <a:avLst/>
          </a:prstGeom>
          <a:solidFill>
            <a:srgbClr val="F8E8EC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40480"/>
            <a:ext cx="79552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Death care is a $20B industry. Digital legacy is its fastest-growing segment. No one owns it yet.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tiers. Growing LTV. Minimal churn.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" y="987552"/>
            <a:ext cx="2670048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" y="987552"/>
            <a:ext cx="2670048" cy="530352"/>
          </a:xfrm>
          <a:prstGeom prst="rect">
            <a:avLst/>
          </a:prstGeom>
          <a:solidFill>
            <a:srgbClr val="F8E8EC"/>
          </a:solidFill>
          <a:ln w="12700">
            <a:solidFill>
              <a:srgbClr val="F8E8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87552"/>
            <a:ext cx="2670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1572768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30 Days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210312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vault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family member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memories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access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987552"/>
            <a:ext cx="2670048" cy="3154680"/>
          </a:xfrm>
          <a:prstGeom prst="rect">
            <a:avLst/>
          </a:prstGeom>
          <a:solidFill>
            <a:srgbClr val="2A0A18"/>
          </a:solidFill>
          <a:ln w="25400">
            <a:solidFill>
              <a:srgbClr val="F06292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87552"/>
            <a:ext cx="2670048" cy="530352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87552"/>
            <a:ext cx="2670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572768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$49 / yr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29000" y="210312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memories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family members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delivery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987552"/>
            <a:ext cx="2670048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987552"/>
            <a:ext cx="2670048" cy="530352"/>
          </a:xfrm>
          <a:prstGeom prst="rect">
            <a:avLst/>
          </a:prstGeom>
          <a:solidFill>
            <a:srgbClr val="F8E8EC"/>
          </a:solidFill>
          <a:ln w="12700">
            <a:solidFill>
              <a:srgbClr val="F8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987552"/>
            <a:ext cx="2670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91072" y="1572768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$149 / yr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36792" y="210312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Annual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planning tools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delivery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180-day protected delivery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4279392"/>
            <a:ext cx="8375904" cy="594360"/>
          </a:xfrm>
          <a:prstGeom prst="rect">
            <a:avLst/>
          </a:prstGeom>
          <a:solidFill>
            <a:srgbClr val="F8E8EC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297680"/>
            <a:ext cx="8193024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20% paid conversion  •  60/40 Annual / Legacy split  •  Blended ARPU $89  •  Year 1 ARR target: $900K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Built. Live. Ready to scale.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4048" y="1005840"/>
            <a:ext cx="402336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" y="1005840"/>
            <a:ext cx="4023360" cy="475488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058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 --  What's Built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374904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React Native app (iOS + Android)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backend with RLS &amp; encrypted vault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delivery engine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 lock screen 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suggestion engine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invite &amp; onboarding flows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landing page: solacelife.ca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36592" y="1005840"/>
            <a:ext cx="402336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36592" y="1005840"/>
            <a:ext cx="4023360" cy="475488"/>
          </a:xfrm>
          <a:prstGeom prst="rect">
            <a:avLst/>
          </a:prstGeom>
          <a:solidFill>
            <a:srgbClr val="B04070"/>
          </a:solidFill>
          <a:ln w="12700">
            <a:solidFill>
              <a:srgbClr val="B04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0058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 --  Early Signals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82896" y="1536192"/>
            <a:ext cx="374904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founding member spots (waitlist open)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 infrastructure live (Resend)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 integration complete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marketplace designed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10 domain experts assembled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Jordan Park's Launch Sequence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founder  .  Raised angel, pre-seed &amp; Series A  .  App Store / ASO expert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325880"/>
            <a:ext cx="269748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389888"/>
            <a:ext cx="713232" cy="713232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3898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5488" y="21762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24688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7614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Founding 100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" y="3200400"/>
            <a:ext cx="247802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100 founding families, generate real testimonials, and refine the core product loop.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0128" y="1325880"/>
            <a:ext cx="269748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389888"/>
            <a:ext cx="713232" cy="713232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3898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01568" y="21762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01568" y="24688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4-9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27614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Organic &amp; ASO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19856" y="3200400"/>
            <a:ext cx="247802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optimization, content marketing around grief &amp; legacy, SEO, influencer outreach.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6208" y="1325880"/>
            <a:ext cx="269748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  <a:prstDash val="solid"/>
          </a:ln>
          <a:effectLst>
            <a:outerShdw sx="100000" sy="100000" kx="0" ky="0" algn="bl" rotWithShape="0" blurRad="101600" dist="25400" dir="8100000">
              <a:srgbClr val="3D102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23760" y="1389888"/>
            <a:ext cx="713232" cy="713232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3898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27648" y="21762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27648" y="24688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10-18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27614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B2B Distribution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45936" y="3200400"/>
            <a:ext cx="247802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Funeral homes, estate lawyers, HR benefit programs, hospice organizations.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one does what we 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15768" y="960120"/>
            <a:ext cx="1481328" cy="475488"/>
          </a:xfrm>
          <a:prstGeom prst="rect">
            <a:avLst/>
          </a:prstGeom>
          <a:solidFill>
            <a:srgbClr val="2A0A18"/>
          </a:solidFill>
          <a:ln w="12700">
            <a:solidFill>
              <a:srgbClr val="1A0A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15768" y="96012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Solace Life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97096" y="960120"/>
            <a:ext cx="1481328" cy="475488"/>
          </a:xfrm>
          <a:prstGeom prst="rect">
            <a:avLst/>
          </a:prstGeom>
          <a:solidFill>
            <a:srgbClr val="3E1020"/>
          </a:solidFill>
          <a:ln w="12700">
            <a:solidFill>
              <a:srgbClr val="1A0A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97096" y="96012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StoryWorth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78424" y="960120"/>
            <a:ext cx="1481328" cy="475488"/>
          </a:xfrm>
          <a:prstGeom prst="rect">
            <a:avLst/>
          </a:prstGeom>
          <a:solidFill>
            <a:srgbClr val="3E1020"/>
          </a:solidFill>
          <a:ln w="12700">
            <a:solidFill>
              <a:srgbClr val="1A0A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78424" y="96012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Everplans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59752" y="960120"/>
            <a:ext cx="1481328" cy="475488"/>
          </a:xfrm>
          <a:prstGeom prst="rect">
            <a:avLst/>
          </a:prstGeom>
          <a:solidFill>
            <a:srgbClr val="3E1020"/>
          </a:solidFill>
          <a:ln w="12700">
            <a:solidFill>
              <a:srgbClr val="1A0A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9752" y="96012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60120"/>
            <a:ext cx="2331720" cy="475488"/>
          </a:xfrm>
          <a:prstGeom prst="rect">
            <a:avLst/>
          </a:prstGeom>
          <a:solidFill>
            <a:srgbClr val="1A0A10"/>
          </a:solidFill>
          <a:ln w="12700">
            <a:solidFill>
              <a:srgbClr val="1A0A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960120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1435608"/>
            <a:ext cx="2331720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43560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delivery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15768" y="1435608"/>
            <a:ext cx="1481328" cy="475488"/>
          </a:xfrm>
          <a:prstGeom prst="rect">
            <a:avLst/>
          </a:prstGeom>
          <a:solidFill>
            <a:srgbClr val="FFF0F3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5768" y="14356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97096" y="1435608"/>
            <a:ext cx="1481328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4356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78424" y="1435608"/>
            <a:ext cx="1481328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78424" y="14356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59752" y="1435608"/>
            <a:ext cx="1481328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14356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84048" y="1911096"/>
            <a:ext cx="2331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1911096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lock screen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15768" y="1911096"/>
            <a:ext cx="1481328" cy="475488"/>
          </a:xfrm>
          <a:prstGeom prst="rect">
            <a:avLst/>
          </a:prstGeom>
          <a:solidFill>
            <a:srgbClr val="FFF0F3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15768" y="1911096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197096" y="1911096"/>
            <a:ext cx="14813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7096" y="1911096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78424" y="1911096"/>
            <a:ext cx="14813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78424" y="1911096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159752" y="1911096"/>
            <a:ext cx="14813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9752" y="1911096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84048" y="2386584"/>
            <a:ext cx="2331720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2386584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vault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15768" y="2386584"/>
            <a:ext cx="1481328" cy="475488"/>
          </a:xfrm>
          <a:prstGeom prst="rect">
            <a:avLst/>
          </a:prstGeom>
          <a:solidFill>
            <a:srgbClr val="FFF0F3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15768" y="2386584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197096" y="2386584"/>
            <a:ext cx="1481328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97096" y="2386584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678424" y="2386584"/>
            <a:ext cx="1481328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78424" y="2386584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159752" y="2386584"/>
            <a:ext cx="1481328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9752" y="2386584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48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84048" y="2862072"/>
            <a:ext cx="2331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" y="286207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reminders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15768" y="2862072"/>
            <a:ext cx="1481328" cy="475488"/>
          </a:xfrm>
          <a:prstGeom prst="rect">
            <a:avLst/>
          </a:prstGeom>
          <a:solidFill>
            <a:srgbClr val="FFF0F3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15768" y="286207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197096" y="2862072"/>
            <a:ext cx="14813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97096" y="286207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48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678424" y="2862072"/>
            <a:ext cx="14813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78424" y="286207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48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159752" y="2862072"/>
            <a:ext cx="14813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9752" y="286207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384048" y="3337560"/>
            <a:ext cx="2331720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" y="3337560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715768" y="3337560"/>
            <a:ext cx="1481328" cy="475488"/>
          </a:xfrm>
          <a:prstGeom prst="rect">
            <a:avLst/>
          </a:prstGeom>
          <a:solidFill>
            <a:srgbClr val="FFF0F3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15768" y="333756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4197096" y="3337560"/>
            <a:ext cx="1481328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97096" y="333756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5678424" y="3337560"/>
            <a:ext cx="1481328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78424" y="333756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7159752" y="3337560"/>
            <a:ext cx="1481328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59752" y="333756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48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384048" y="3813048"/>
            <a:ext cx="2331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" y="381304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tools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715768" y="3813048"/>
            <a:ext cx="1481328" cy="475488"/>
          </a:xfrm>
          <a:prstGeom prst="rect">
            <a:avLst/>
          </a:prstGeom>
          <a:solidFill>
            <a:srgbClr val="FFF0F3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15768" y="381304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4197096" y="3813048"/>
            <a:ext cx="14813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97096" y="381304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5678424" y="3813048"/>
            <a:ext cx="14813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78424" y="381304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7159752" y="3813048"/>
            <a:ext cx="14813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59752" y="381304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384048" y="4288536"/>
            <a:ext cx="2331720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" y="4288536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pricing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715768" y="4288536"/>
            <a:ext cx="1481328" cy="475488"/>
          </a:xfrm>
          <a:prstGeom prst="rect">
            <a:avLst/>
          </a:prstGeom>
          <a:solidFill>
            <a:srgbClr val="FFF0F3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15768" y="4288536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4197096" y="4288536"/>
            <a:ext cx="1481328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97096" y="4288536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79" name="Shape 77"/>
          <p:cNvSpPr/>
          <p:nvPr/>
        </p:nvSpPr>
        <p:spPr>
          <a:xfrm>
            <a:off x="5678424" y="4288536"/>
            <a:ext cx="1481328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78424" y="4288536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>
            <a:off x="7159752" y="4288536"/>
            <a:ext cx="1481328" cy="475488"/>
          </a:xfrm>
          <a:prstGeom prst="rect">
            <a:avLst/>
          </a:prstGeom>
          <a:solidFill>
            <a:srgbClr val="FAEEF2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59752" y="4288536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8F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Team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932688"/>
            <a:ext cx="6400800" cy="685800"/>
          </a:xfrm>
          <a:prstGeom prst="rect">
            <a:avLst/>
          </a:prstGeom>
          <a:solidFill>
            <a:srgbClr val="2A0A18"/>
          </a:solidFill>
          <a:ln w="19050">
            <a:solidFill>
              <a:srgbClr val="F062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950976"/>
            <a:ext cx="201168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Sokha Eang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0" y="950976"/>
            <a:ext cx="41148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--  Visionary behind Solace Life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908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Advised by a world-class A Team: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2176272"/>
            <a:ext cx="4069080" cy="475488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2194560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Alex Chen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" y="2414016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 .  M.Sc. CS MIT  .  Ex-Stripe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2176272"/>
            <a:ext cx="4069080" cy="475488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194560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Maya Torres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414016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UX  .  Ex-Calm/Headspace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706624"/>
            <a:ext cx="4069080" cy="475488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724912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James Okafor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" y="2944368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 .  MBA Wharton  .  Ex-Everplans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90872" y="2706624"/>
            <a:ext cx="4069080" cy="475488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724912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Dr. Sarah Kim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944368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Psychology  .  PhD Stanford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236976"/>
            <a:ext cx="4069080" cy="475488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255264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Michael Reeves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" y="3474720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  .  CFA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3236976"/>
            <a:ext cx="4069080" cy="475488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55264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Diana Lowe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474720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CSO  .  Ex-LegalZoom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3767328"/>
            <a:ext cx="4069080" cy="475488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3785616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Robert Chang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" y="4005072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Advisor  .  Ex-KPMG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90872" y="3767328"/>
            <a:ext cx="4069080" cy="475488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785616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Emma Walsh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4005072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 .  JD Osgoode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" y="4297680"/>
            <a:ext cx="4069080" cy="475488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4315968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Dr. Marcus Webb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" y="4535424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Economist  .  PhD LSE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90872" y="4297680"/>
            <a:ext cx="4069080" cy="475488"/>
          </a:xfrm>
          <a:prstGeom prst="rect">
            <a:avLst/>
          </a:prstGeom>
          <a:solidFill>
            <a:srgbClr val="2A0A18"/>
          </a:solidFill>
          <a:ln w="12700">
            <a:solidFill>
              <a:srgbClr val="4A1A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315968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Jordan Park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4535424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  .  ASO Expert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18-Month Projection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84048" y="914400"/>
          <a:ext cx="48463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394960" y="9326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102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394960" y="1417320"/>
            <a:ext cx="2926080" cy="502920"/>
          </a:xfrm>
          <a:prstGeom prst="rect">
            <a:avLst/>
          </a:prstGeom>
          <a:solidFill>
            <a:srgbClr val="F8E8EC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94960" y="1417320"/>
            <a:ext cx="1170432" cy="502920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406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0" y="14173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94960" y="2084832"/>
            <a:ext cx="2926080" cy="502920"/>
          </a:xfrm>
          <a:prstGeom prst="rect">
            <a:avLst/>
          </a:prstGeom>
          <a:solidFill>
            <a:srgbClr val="F8E8EC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94960" y="2084832"/>
            <a:ext cx="731520" cy="502920"/>
          </a:xfrm>
          <a:prstGeom prst="rect">
            <a:avLst/>
          </a:prstGeom>
          <a:solidFill>
            <a:srgbClr val="D4608A"/>
          </a:solidFill>
          <a:ln w="12700">
            <a:solidFill>
              <a:srgbClr val="D460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068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0" y="20848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Marketing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94960" y="2752344"/>
            <a:ext cx="2926080" cy="502920"/>
          </a:xfrm>
          <a:prstGeom prst="rect">
            <a:avLst/>
          </a:prstGeom>
          <a:solidFill>
            <a:srgbClr val="F8E8EC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94960" y="2752344"/>
            <a:ext cx="585216" cy="502920"/>
          </a:xfrm>
          <a:prstGeom prst="rect">
            <a:avLst/>
          </a:prstGeom>
          <a:solidFill>
            <a:srgbClr val="B04070"/>
          </a:solidFill>
          <a:ln w="12700">
            <a:solidFill>
              <a:srgbClr val="B040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0680" y="2752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275234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94960" y="3419856"/>
            <a:ext cx="2926080" cy="502920"/>
          </a:xfrm>
          <a:prstGeom prst="rect">
            <a:avLst/>
          </a:prstGeom>
          <a:solidFill>
            <a:srgbClr val="F8E8EC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94960" y="3419856"/>
            <a:ext cx="438912" cy="502920"/>
          </a:xfrm>
          <a:prstGeom prst="rect">
            <a:avLst/>
          </a:prstGeom>
          <a:solidFill>
            <a:srgbClr val="7A3448"/>
          </a:solidFill>
          <a:ln w="12700">
            <a:solidFill>
              <a:srgbClr val="7A344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0680" y="3419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43600" y="341985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Reserve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$750,000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5727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Pre-Seed Round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2267712"/>
            <a:ext cx="1993392" cy="2194560"/>
          </a:xfrm>
          <a:prstGeom prst="rect">
            <a:avLst/>
          </a:prstGeom>
          <a:solidFill>
            <a:srgbClr val="2A0A18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2322576"/>
            <a:ext cx="731520" cy="731520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23225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" y="3127248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Product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3511296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engineering team,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42032" y="2267712"/>
            <a:ext cx="1993392" cy="2194560"/>
          </a:xfrm>
          <a:prstGeom prst="rect">
            <a:avLst/>
          </a:prstGeom>
          <a:solidFill>
            <a:srgbClr val="2A0A18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2322576"/>
            <a:ext cx="731520" cy="731520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23225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33472" y="3127248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Growth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33472" y="3511296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Jordan's launch plan,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 &amp; paid acquisition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0016" y="2267712"/>
            <a:ext cx="1993392" cy="2194560"/>
          </a:xfrm>
          <a:prstGeom prst="rect">
            <a:avLst/>
          </a:prstGeom>
          <a:solidFill>
            <a:srgbClr val="2A0A18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30952" y="2322576"/>
            <a:ext cx="731520" cy="731520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0952" y="23225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91456" y="3127248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Legal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91456" y="3511296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Walsh compliance,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digital estate law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2267712"/>
            <a:ext cx="1993392" cy="2194560"/>
          </a:xfrm>
          <a:prstGeom prst="rect">
            <a:avLst/>
          </a:prstGeom>
          <a:solidFill>
            <a:srgbClr val="2A0A18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2322576"/>
            <a:ext cx="731520" cy="731520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88936" y="23225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49440" y="3127248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0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511296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reserve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solacelife.ca  .  memories@solacelife.ca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5C1530">
              <a:alpha val="40000"/>
            </a:srgbClr>
          </a:solidFill>
          <a:ln w="12700">
            <a:solidFill>
              <a:srgbClr val="1A0A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6200" y="164592"/>
            <a:ext cx="1371600" cy="1371600"/>
          </a:xfrm>
          <a:prstGeom prst="ellipse">
            <a:avLst/>
          </a:prstGeom>
          <a:solidFill>
            <a:srgbClr val="5C1530">
              <a:alpha val="80000"/>
            </a:srgbClr>
          </a:solidFill>
          <a:ln w="25400">
            <a:solidFill>
              <a:srgbClr val="F062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164592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*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8F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world where no one dies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8F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without leaving something behind.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821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629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Solace Life  --  Round now open. 100 founding families. Join us.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solacelife.ca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venue Engines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3D1020"/>
                </a:solidFill>
                <a:latin typeface="Palatino" pitchFamily="34" charset="0"/>
              </a:rPr>
              <a:t>Two Revenue Engines. One Platform.</a:t>
            </a:r>
          </a:p>
        </p:txBody>
      </p:sp>
      <p:sp>
        <p:nvSpPr>
          <p:cNvPr id="3" name="SubBg"/>
          <p:cNvSpPr/>
          <p:nvPr/>
        </p:nvSpPr>
        <p:spPr>
          <a:xfrm>
            <a:off x="384048" y="868680"/>
            <a:ext cx="4105656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D9"/>
            </a:solidFill>
          </a:ln>
          <a:effectLst>
            <a:outerShdw blurRad="101600" dist="25400" dir="8100000" algn="bl" rotWithShape="0">
              <a:srgbClr val="3D1020">
                <a:alpha val="8000"/>
              </a:srgbClr>
            </a:outerShdw>
          </a:effectLst>
        </p:spPr>
      </p:sp>
      <p:sp>
        <p:nvSpPr>
          <p:cNvPr id="4" name="SubHdr"/>
          <p:cNvSpPr/>
          <p:nvPr/>
        </p:nvSpPr>
        <p:spPr>
          <a:xfrm>
            <a:off x="384048" y="868680"/>
            <a:ext cx="4105656" cy="475872"/>
          </a:xfrm>
          <a:prstGeom prst="rect">
            <a:avLst/>
          </a:prstGeom>
          <a:solidFill>
            <a:srgbClr val="F8E8EC"/>
          </a:solidFill>
          <a:ln w="12700">
            <a:solidFill>
              <a:srgbClr val="F8E8EC"/>
            </a:solidFill>
          </a:ln>
        </p:spPr>
      </p:sp>
      <p:sp>
        <p:nvSpPr>
          <p:cNvPr id="5" name="SubHdrTxt"/>
          <p:cNvSpPr/>
          <p:nvPr/>
        </p:nvSpPr>
        <p:spPr>
          <a:xfrm>
            <a:off x="384048" y="868680"/>
            <a:ext cx="4105656" cy="475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spc="200" dirty="0">
                <a:solidFill>
                  <a:srgbClr val="F06292"/>
                </a:solidFill>
                <a:latin typeface="Calibri" pitchFamily="34" charset="0"/>
              </a:rPr>
              <a:t>REVENUE ENGINE #1</a:t>
            </a:r>
          </a:p>
        </p:txBody>
      </p:sp>
      <p:sp>
        <p:nvSpPr>
          <p:cNvPr id="6" name="SubTitle"/>
          <p:cNvSpPr/>
          <p:nvPr/>
        </p:nvSpPr>
        <p:spPr>
          <a:xfrm>
            <a:off x="475488" y="1390680"/>
            <a:ext cx="392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3D1020"/>
                </a:solidFill>
                <a:latin typeface="Palatino" pitchFamily="34" charset="0"/>
              </a:rPr>
              <a:t>Subscription</a:t>
            </a:r>
          </a:p>
        </p:txBody>
      </p:sp>
      <p:sp>
        <p:nvSpPr>
          <p:cNvPr id="7" name="SubStat"/>
          <p:cNvSpPr/>
          <p:nvPr/>
        </p:nvSpPr>
        <p:spPr>
          <a:xfrm>
            <a:off x="475488" y="1847880"/>
            <a:ext cx="392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3D1020"/>
                </a:solidFill>
                <a:latin typeface="Palatino" pitchFamily="34" charset="0"/>
              </a:rPr>
              <a:t>$2.67M</a:t>
            </a:r>
          </a:p>
        </p:txBody>
      </p:sp>
      <p:sp>
        <p:nvSpPr>
          <p:cNvPr id="8" name="SubStatLabel"/>
          <p:cNvSpPr/>
          <p:nvPr/>
        </p:nvSpPr>
        <p:spPr>
          <a:xfrm>
            <a:off x="475488" y="2378232"/>
            <a:ext cx="39232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en-US" sz="1100" dirty="0">
                <a:solidFill>
                  <a:srgbClr val="7A3448"/>
                </a:solidFill>
                <a:latin typeface="Calibri" pitchFamily="34" charset="0"/>
              </a:rPr>
              <a:t>Year 2 ARR  •  30,000 paying users</a:t>
            </a:r>
          </a:p>
        </p:txBody>
      </p:sp>
      <p:sp>
        <p:nvSpPr>
          <p:cNvPr id="9" name="SubBullets"/>
          <p:cNvSpPr/>
          <p:nvPr/>
        </p:nvSpPr>
        <p:spPr>
          <a:xfrm>
            <a:off x="521208" y="2706048"/>
            <a:ext cx="3832032" cy="638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4320" indent="-274320">
              <a:buChar char="•"/>
            </a:pPr>
            <a:r>
              <a:rPr lang="en-US" sz="1100" dirty="0">
                <a:solidFill>
                  <a:srgbClr val="7A3448"/>
                </a:solidFill>
                <a:latin typeface="Calibri" pitchFamily="34" charset="0"/>
              </a:rPr>
              <a:t>Free (30-day) / Annual ($49/yr) / Legacy ($149/yr)</a:t>
            </a:r>
          </a:p>
          <a:p>
            <a:pPr marL="274320" indent="-274320">
              <a:buChar char="•"/>
            </a:pPr>
            <a:r>
              <a:rPr lang="en-US" sz="1100" dirty="0">
                <a:solidFill>
                  <a:srgbClr val="7A3448"/>
                </a:solidFill>
                <a:latin typeface="Calibri" pitchFamily="34" charset="0"/>
              </a:rPr>
              <a:t>Blended ARPU $89  •  LTV:CAC &gt;8:1</a:t>
            </a:r>
          </a:p>
          <a:p>
            <a:pPr marL="274320" indent="-274320">
              <a:buChar char="•"/>
            </a:pPr>
            <a:r>
              <a:rPr lang="en-US" sz="1100" dirty="0">
                <a:solidFill>
                  <a:srgbClr val="7A3448"/>
                </a:solidFill>
                <a:latin typeface="Calibri" pitchFamily="34" charset="0"/>
              </a:rPr>
              <a:t>90%+ gross margin  •  Annual billing</a:t>
            </a:r>
          </a:p>
        </p:txBody>
      </p:sp>
      <p:sp>
        <p:nvSpPr>
          <p:cNvPr id="10" name="PartnerBg"/>
          <p:cNvSpPr/>
          <p:nvPr/>
        </p:nvSpPr>
        <p:spPr>
          <a:xfrm>
            <a:off x="4653696" y="868680"/>
            <a:ext cx="4105656" cy="3566160"/>
          </a:xfrm>
          <a:prstGeom prst="rect">
            <a:avLst/>
          </a:prstGeom>
          <a:solidFill>
            <a:srgbClr val="2A0A18"/>
          </a:solidFill>
          <a:ln w="25400">
            <a:solidFill>
              <a:srgbClr val="F06292"/>
            </a:solidFill>
          </a:ln>
          <a:effectLst>
            <a:outerShdw blurRad="101600" dist="25400" dir="8100000" algn="bl" rotWithShape="0">
              <a:srgbClr val="3D1020">
                <a:alpha val="15000"/>
              </a:srgbClr>
            </a:outerShdw>
          </a:effectLst>
        </p:spPr>
      </p:sp>
      <p:sp>
        <p:nvSpPr>
          <p:cNvPr id="11" name="PartnerHdr"/>
          <p:cNvSpPr/>
          <p:nvPr/>
        </p:nvSpPr>
        <p:spPr>
          <a:xfrm>
            <a:off x="4653696" y="868680"/>
            <a:ext cx="4105656" cy="475872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</a:ln>
        </p:spPr>
      </p:sp>
      <p:sp>
        <p:nvSpPr>
          <p:cNvPr id="12" name="PartnerHdrTxt"/>
          <p:cNvSpPr/>
          <p:nvPr/>
        </p:nvSpPr>
        <p:spPr>
          <a:xfrm>
            <a:off x="4653696" y="868680"/>
            <a:ext cx="4105656" cy="475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spc="200" dirty="0">
                <a:solidFill>
                  <a:srgbClr val="FFFFFF"/>
                </a:solidFill>
                <a:latin typeface="Calibri" pitchFamily="34" charset="0"/>
              </a:rPr>
              <a:t>REVENUE ENGINE #2</a:t>
            </a:r>
          </a:p>
        </p:txBody>
      </p:sp>
      <p:sp>
        <p:nvSpPr>
          <p:cNvPr id="13" name="PartnerTitle"/>
          <p:cNvSpPr/>
          <p:nvPr/>
        </p:nvSpPr>
        <p:spPr>
          <a:xfrm>
            <a:off x="4745136" y="1390680"/>
            <a:ext cx="392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D07A"/>
                </a:solidFill>
                <a:latin typeface="Palatino" pitchFamily="34" charset="0"/>
              </a:rPr>
              <a:t>Partner Referral</a:t>
            </a:r>
          </a:p>
        </p:txBody>
      </p:sp>
      <p:sp>
        <p:nvSpPr>
          <p:cNvPr id="14" name="PartnerStat"/>
          <p:cNvSpPr/>
          <p:nvPr/>
        </p:nvSpPr>
        <p:spPr>
          <a:xfrm>
            <a:off x="4745136" y="1847880"/>
            <a:ext cx="392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FFD07A"/>
                </a:solidFill>
                <a:latin typeface="Palatino" pitchFamily="34" charset="0"/>
              </a:rPr>
              <a:t>$1.17M</a:t>
            </a:r>
          </a:p>
        </p:txBody>
      </p:sp>
      <p:sp>
        <p:nvSpPr>
          <p:cNvPr id="15" name="PartnerStatLabel"/>
          <p:cNvSpPr/>
          <p:nvPr/>
        </p:nvSpPr>
        <p:spPr>
          <a:xfrm>
            <a:off x="4745136" y="2378232"/>
            <a:ext cx="39232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en-US" sz="1100" dirty="0">
                <a:solidFill>
                  <a:srgbClr val="F8D0DC"/>
                </a:solidFill>
                <a:latin typeface="Calibri" pitchFamily="34" charset="0"/>
              </a:rPr>
              <a:t>Year 2 partner revenue  •  933 closed referrals</a:t>
            </a:r>
          </a:p>
        </p:txBody>
      </p:sp>
      <p:sp>
        <p:nvSpPr>
          <p:cNvPr id="16" name="PartnerBullets"/>
          <p:cNvSpPr/>
          <p:nvPr/>
        </p:nvSpPr>
        <p:spPr>
          <a:xfrm>
            <a:off x="4790856" y="2706048"/>
            <a:ext cx="3832032" cy="638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4320" indent="-274320">
              <a:buChar char="•"/>
            </a:pPr>
            <a:r>
              <a:rPr lang="en-US" sz="1100" dirty="0">
                <a:solidFill>
                  <a:srgbClr val="FFF8F5"/>
                </a:solidFill>
                <a:latin typeface="Calibri" pitchFamily="34" charset="0"/>
              </a:rPr>
              <a:t>Lawyers 15%  •  Planners 12%  •  Realtors 20%</a:t>
            </a:r>
          </a:p>
          <a:p>
            <a:pPr marL="274320" indent="-274320">
              <a:buChar char="•"/>
            </a:pPr>
            <a:r>
              <a:rPr lang="en-US" sz="1100" dirty="0">
                <a:solidFill>
                  <a:srgbClr val="FFF8F5"/>
                </a:solidFill>
                <a:latin typeface="Calibri" pitchFamily="34" charset="0"/>
              </a:rPr>
              <a:t>Senior Living 15%  •  Tax/CPA 15%</a:t>
            </a:r>
          </a:p>
          <a:p>
            <a:pPr marL="274320" indent="-274320">
              <a:buChar char="•"/>
            </a:pPr>
            <a:r>
              <a:rPr lang="en-US" sz="1100" b="1" dirty="0">
                <a:solidFill>
                  <a:srgbClr val="FFD07A"/>
                </a:solidFill>
                <a:latin typeface="Calibri" pitchFamily="34" charset="0"/>
              </a:rPr>
              <a:t>Realtor vertical alone: $894K Year 2</a:t>
            </a:r>
          </a:p>
        </p:txBody>
      </p:sp>
      <p:sp>
        <p:nvSpPr>
          <p:cNvPr id="17" name="CombinedBg"/>
          <p:cNvSpPr/>
          <p:nvPr/>
        </p:nvSpPr>
        <p:spPr>
          <a:xfrm>
            <a:off x="384048" y="4497840"/>
            <a:ext cx="8375904" cy="548640"/>
          </a:xfrm>
          <a:prstGeom prst="rect">
            <a:avLst/>
          </a:prstGeom>
          <a:solidFill>
            <a:srgbClr val="3D1020"/>
          </a:solidFill>
          <a:ln w="12700">
            <a:solidFill>
              <a:srgbClr val="3D1020"/>
            </a:solidFill>
          </a:ln>
        </p:spPr>
      </p:sp>
      <p:sp>
        <p:nvSpPr>
          <p:cNvPr id="18" name="CombinedTxt"/>
          <p:cNvSpPr/>
          <p:nvPr/>
        </p:nvSpPr>
        <p:spPr>
          <a:xfrm>
            <a:off x="475488" y="4497840"/>
            <a:ext cx="8193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D07A"/>
                </a:solidFill>
                <a:latin typeface="Calibri" pitchFamily="34" charset="0"/>
              </a:rPr>
              <a:t>Combined Year 2:  $3.84M total revenue</a:t>
            </a:r>
            <a:r>
              <a:rPr lang="en-US" sz="1400" dirty="0">
                <a:solidFill>
                  <a:srgbClr val="F8D0DC"/>
                </a:solidFill>
                <a:latin typeface="Calibri" pitchFamily="34" charset="0"/>
              </a:rPr>
              <a:t xml:space="preserve">   •   Partner program adds 44% on top of subscription ARR   •   Near-zero marginal cost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5F8"/>
          </a:solidFill>
          <a:ln>
            <a:noFill/>
          </a:ln>
        </p:spPr>
        <p:txBody>
          <a:bodyPr/>
          <a:lstStyle/>
        </p:txBody>
      </p:sp>
      <p:sp>
        <p:nvSpPr>
          <p:cNvPr id="202" name="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D1020"/>
          </a:solidFill>
          <a:ln>
            <a:noFill/>
          </a:ln>
        </p:spPr>
        <p:txBody>
          <a:bodyPr/>
          <a:lstStyle/>
        </p:txBody>
      </p:sp>
      <p:sp>
        <p:nvSpPr>
          <p:cNvPr id="203" name="t"/>
          <p:cNvSpPr txBox="1"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Dual Revenue Projections  --  Conservative Growth Model</a:t>
            </a:r>
          </a:p>
          <a:p>
            <a:pPr algn="l"/>
            <a:r>
              <a:rPr lang="en-US" sz="900" b="0" i="0" dirty="0">
                <a:solidFill>
                  <a:srgbClr val="F8BBD9"/>
                </a:solidFill>
                <a:latin typeface="Calibri"/>
              </a:rPr>
              <a:t>$49/yr Annual  |  $149/yr Legacy  |  $89 blended ARPU  |  20% paid conversion  |  Proportionate partner growth</a:t>
            </a:r>
          </a:p>
        </p:txBody>
      </p:sp>
      <p:sp>
        <p:nvSpPr>
          <p:cNvPr id="204" name="r"/>
          <p:cNvSpPr/>
          <p:nvPr/>
        </p:nvSpPr>
        <p:spPr>
          <a:xfrm>
            <a:off x="201168" y="850392"/>
            <a:ext cx="2804160" cy="34701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06292"/>
            </a:solidFill>
          </a:ln>
        </p:spPr>
        <p:txBody>
          <a:bodyPr/>
          <a:lstStyle/>
        </p:txBody>
      </p:sp>
      <p:sp>
        <p:nvSpPr>
          <p:cNvPr id="205" name="r"/>
          <p:cNvSpPr/>
          <p:nvPr/>
        </p:nvSpPr>
        <p:spPr>
          <a:xfrm>
            <a:off x="201168" y="850392"/>
            <a:ext cx="2804160" cy="530352"/>
          </a:xfrm>
          <a:prstGeom prst="roundRect">
            <a:avLst>
              <a:gd name="adj" fmla="val 25000"/>
            </a:avLst>
          </a:prstGeom>
          <a:solidFill>
            <a:srgbClr val="6A1040"/>
          </a:solidFill>
          <a:ln>
            <a:noFill/>
          </a:ln>
        </p:spPr>
        <p:txBody>
          <a:bodyPr/>
          <a:lstStyle/>
        </p:txBody>
      </p:sp>
      <p:sp>
        <p:nvSpPr>
          <p:cNvPr id="206" name="r"/>
          <p:cNvSpPr/>
          <p:nvPr/>
        </p:nvSpPr>
        <p:spPr>
          <a:xfrm>
            <a:off x="201168" y="1115568"/>
            <a:ext cx="2804160" cy="265176"/>
          </a:xfrm>
          <a:prstGeom prst="rect">
            <a:avLst/>
          </a:prstGeom>
          <a:solidFill>
            <a:srgbClr val="6A1040"/>
          </a:solidFill>
          <a:ln>
            <a:noFill/>
          </a:ln>
        </p:spPr>
        <p:txBody>
          <a:bodyPr/>
          <a:lstStyle/>
        </p:txBody>
      </p:sp>
      <p:sp>
        <p:nvSpPr>
          <p:cNvPr id="207" name="t"/>
          <p:cNvSpPr txBox="1"/>
          <p:nvPr/>
        </p:nvSpPr>
        <p:spPr>
          <a:xfrm>
            <a:off x="201168" y="850392"/>
            <a:ext cx="2804160" cy="530352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300" b="1" i="0" dirty="0">
                <a:solidFill>
                  <a:srgbClr val="FFD07A"/>
                </a:solidFill>
                <a:latin typeface="Calibri"/>
              </a:rPr>
              <a:t>6  M O N T H S</a:t>
            </a:r>
          </a:p>
        </p:txBody>
      </p:sp>
      <p:sp>
        <p:nvSpPr>
          <p:cNvPr id="208" name="t"/>
          <p:cNvSpPr txBox="1"/>
          <p:nvPr/>
        </p:nvSpPr>
        <p:spPr>
          <a:xfrm>
            <a:off x="201168" y="1472184"/>
            <a:ext cx="2804160" cy="621792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3800" b="1" i="0" dirty="0">
                <a:solidFill>
                  <a:srgbClr val="F06292"/>
                </a:solidFill>
                <a:latin typeface="Calibri"/>
              </a:rPr>
              <a:t>$490K</a:t>
            </a:r>
          </a:p>
        </p:txBody>
      </p:sp>
      <p:sp>
        <p:nvSpPr>
          <p:cNvPr id="209" name="t"/>
          <p:cNvSpPr txBox="1"/>
          <p:nvPr/>
        </p:nvSpPr>
        <p:spPr>
          <a:xfrm>
            <a:off x="201168" y="2093976"/>
            <a:ext cx="280416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900" b="0" i="1" dirty="0">
                <a:solidFill>
                  <a:srgbClr val="7A3448"/>
                </a:solidFill>
                <a:latin typeface="Calibri"/>
              </a:rPr>
              <a:t>Combined Revenue</a:t>
            </a:r>
          </a:p>
        </p:txBody>
      </p:sp>
      <p:sp>
        <p:nvSpPr>
          <p:cNvPr id="210" name="r"/>
          <p:cNvSpPr/>
          <p:nvPr/>
        </p:nvSpPr>
        <p:spPr>
          <a:xfrm>
            <a:off x="384048" y="2423160"/>
            <a:ext cx="2438400" cy="7315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txBody>
          <a:bodyPr/>
          <a:lstStyle/>
        </p:txBody>
      </p:sp>
      <p:sp>
        <p:nvSpPr>
          <p:cNvPr id="211" name="t"/>
          <p:cNvSpPr txBox="1"/>
          <p:nvPr/>
        </p:nvSpPr>
        <p:spPr>
          <a:xfrm>
            <a:off x="338328" y="2532888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70" b="0" i="0" dirty="0">
                <a:solidFill>
                  <a:srgbClr val="3D1020"/>
                </a:solidFill>
                <a:latin typeface="Calibri"/>
              </a:rPr>
              <a:t>Registered Users</a:t>
            </a:r>
          </a:p>
        </p:txBody>
      </p:sp>
      <p:sp>
        <p:nvSpPr>
          <p:cNvPr id="212" name="t"/>
          <p:cNvSpPr txBox="1"/>
          <p:nvPr/>
        </p:nvSpPr>
        <p:spPr>
          <a:xfrm>
            <a:off x="1603248" y="2532888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920" b="0" i="0" dirty="0">
                <a:solidFill>
                  <a:srgbClr val="3D1020"/>
                </a:solidFill>
                <a:latin typeface="Calibri"/>
              </a:rPr>
              <a:t>20,000</a:t>
            </a:r>
          </a:p>
        </p:txBody>
      </p:sp>
      <p:sp>
        <p:nvSpPr>
          <p:cNvPr id="213" name="t"/>
          <p:cNvSpPr txBox="1"/>
          <p:nvPr/>
        </p:nvSpPr>
        <p:spPr>
          <a:xfrm>
            <a:off x="338328" y="2780429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70" b="0" i="0" dirty="0">
                <a:solidFill>
                  <a:srgbClr val="3D1020"/>
                </a:solidFill>
                <a:latin typeface="Calibri"/>
              </a:rPr>
              <a:t>Paying Subscribers</a:t>
            </a:r>
          </a:p>
        </p:txBody>
      </p:sp>
      <p:sp>
        <p:nvSpPr>
          <p:cNvPr id="214" name="t"/>
          <p:cNvSpPr txBox="1"/>
          <p:nvPr/>
        </p:nvSpPr>
        <p:spPr>
          <a:xfrm>
            <a:off x="1603248" y="2780429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920" b="0" i="0" dirty="0">
                <a:solidFill>
                  <a:srgbClr val="3D1020"/>
                </a:solidFill>
                <a:latin typeface="Calibri"/>
              </a:rPr>
              <a:t>5,000</a:t>
            </a:r>
          </a:p>
        </p:txBody>
      </p:sp>
      <p:sp>
        <p:nvSpPr>
          <p:cNvPr id="215" name="t"/>
          <p:cNvSpPr txBox="1"/>
          <p:nvPr/>
        </p:nvSpPr>
        <p:spPr>
          <a:xfrm>
            <a:off x="338328" y="3027970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790" b="0" i="0" dirty="0">
                <a:solidFill>
                  <a:srgbClr val="7A3448"/>
                </a:solidFill>
                <a:latin typeface="Calibri"/>
              </a:rPr>
              <a:t>Annual ($49/yr)</a:t>
            </a:r>
          </a:p>
        </p:txBody>
      </p:sp>
      <p:sp>
        <p:nvSpPr>
          <p:cNvPr id="216" name="t"/>
          <p:cNvSpPr txBox="1"/>
          <p:nvPr/>
        </p:nvSpPr>
        <p:spPr>
          <a:xfrm>
            <a:off x="1603248" y="3027970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790" b="0" i="0" dirty="0">
                <a:solidFill>
                  <a:srgbClr val="7A3448"/>
                </a:solidFill>
                <a:latin typeface="Calibri"/>
              </a:rPr>
              <a:t>3,000</a:t>
            </a:r>
          </a:p>
        </p:txBody>
      </p:sp>
      <p:sp>
        <p:nvSpPr>
          <p:cNvPr id="217" name="t"/>
          <p:cNvSpPr txBox="1"/>
          <p:nvPr/>
        </p:nvSpPr>
        <p:spPr>
          <a:xfrm>
            <a:off x="338328" y="3275511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790" b="0" i="0" dirty="0">
                <a:solidFill>
                  <a:srgbClr val="7A3448"/>
                </a:solidFill>
                <a:latin typeface="Calibri"/>
              </a:rPr>
              <a:t>Legacy ($149/yr)</a:t>
            </a:r>
          </a:p>
        </p:txBody>
      </p:sp>
      <p:sp>
        <p:nvSpPr>
          <p:cNvPr id="218" name="t"/>
          <p:cNvSpPr txBox="1"/>
          <p:nvPr/>
        </p:nvSpPr>
        <p:spPr>
          <a:xfrm>
            <a:off x="1603248" y="3275511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790" b="0" i="0" dirty="0">
                <a:solidFill>
                  <a:srgbClr val="7A3448"/>
                </a:solidFill>
                <a:latin typeface="Calibri"/>
              </a:rPr>
              <a:t>2,000</a:t>
            </a:r>
          </a:p>
        </p:txBody>
      </p:sp>
      <p:sp>
        <p:nvSpPr>
          <p:cNvPr id="219" name="r"/>
          <p:cNvSpPr/>
          <p:nvPr/>
        </p:nvSpPr>
        <p:spPr>
          <a:xfrm>
            <a:off x="292608" y="3523052"/>
            <a:ext cx="2621280" cy="210965"/>
          </a:xfrm>
          <a:prstGeom prst="roundRect">
            <a:avLst>
              <a:gd name="adj" fmla="val 12000"/>
            </a:avLst>
          </a:prstGeom>
          <a:solidFill>
            <a:srgbClr val="6A1040"/>
          </a:solidFill>
          <a:ln>
            <a:noFill/>
          </a:ln>
        </p:spPr>
        <p:txBody>
          <a:bodyPr/>
          <a:lstStyle/>
        </p:txBody>
      </p:sp>
      <p:sp>
        <p:nvSpPr>
          <p:cNvPr id="220" name="t"/>
          <p:cNvSpPr txBox="1"/>
          <p:nvPr/>
        </p:nvSpPr>
        <p:spPr>
          <a:xfrm>
            <a:off x="338328" y="3523052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60" b="1" i="0" dirty="0">
                <a:solidFill>
                  <a:srgbClr val="F8BBD9"/>
                </a:solidFill>
                <a:latin typeface="Calibri"/>
              </a:rPr>
              <a:t>Subscription ARR</a:t>
            </a:r>
          </a:p>
        </p:txBody>
      </p:sp>
      <p:sp>
        <p:nvSpPr>
          <p:cNvPr id="221" name="t"/>
          <p:cNvSpPr txBox="1"/>
          <p:nvPr/>
        </p:nvSpPr>
        <p:spPr>
          <a:xfrm>
            <a:off x="1603248" y="3523052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1000" b="1" i="0" dirty="0">
                <a:solidFill>
                  <a:srgbClr val="FFD07A"/>
                </a:solidFill>
                <a:latin typeface="Calibri"/>
              </a:rPr>
              <a:t>$445K</a:t>
            </a:r>
          </a:p>
        </p:txBody>
      </p:sp>
      <p:sp>
        <p:nvSpPr>
          <p:cNvPr id="222" name="r"/>
          <p:cNvSpPr/>
          <p:nvPr/>
        </p:nvSpPr>
        <p:spPr>
          <a:xfrm>
            <a:off x="292608" y="3770593"/>
            <a:ext cx="2621280" cy="210965"/>
          </a:xfrm>
          <a:prstGeom prst="roundRect">
            <a:avLst>
              <a:gd name="adj" fmla="val 12000"/>
            </a:avLst>
          </a:prstGeom>
          <a:solidFill>
            <a:srgbClr val="6A1040"/>
          </a:solidFill>
          <a:ln>
            <a:noFill/>
          </a:ln>
        </p:spPr>
        <p:txBody>
          <a:bodyPr/>
          <a:lstStyle/>
        </p:txBody>
      </p:sp>
      <p:sp>
        <p:nvSpPr>
          <p:cNvPr id="223" name="t"/>
          <p:cNvSpPr txBox="1"/>
          <p:nvPr/>
        </p:nvSpPr>
        <p:spPr>
          <a:xfrm>
            <a:off x="338328" y="3770593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60" b="1" i="0" dirty="0">
                <a:solidFill>
                  <a:srgbClr val="F8BBD9"/>
                </a:solidFill>
                <a:latin typeface="Calibri"/>
              </a:rPr>
              <a:t>Partner Revenue</a:t>
            </a:r>
          </a:p>
        </p:txBody>
      </p:sp>
      <p:sp>
        <p:nvSpPr>
          <p:cNvPr id="224" name="t"/>
          <p:cNvSpPr txBox="1"/>
          <p:nvPr/>
        </p:nvSpPr>
        <p:spPr>
          <a:xfrm>
            <a:off x="1603248" y="3770593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1000" b="1" i="0" dirty="0">
                <a:solidFill>
                  <a:srgbClr val="FFD07A"/>
                </a:solidFill>
                <a:latin typeface="Calibri"/>
              </a:rPr>
              <a:t>$45K</a:t>
            </a:r>
          </a:p>
        </p:txBody>
      </p:sp>
      <p:sp>
        <p:nvSpPr>
          <p:cNvPr id="225" name="t"/>
          <p:cNvSpPr txBox="1"/>
          <p:nvPr/>
        </p:nvSpPr>
        <p:spPr>
          <a:xfrm>
            <a:off x="338328" y="4018134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70" b="0" i="0" dirty="0">
                <a:solidFill>
                  <a:srgbClr val="3D1020"/>
                </a:solidFill>
                <a:latin typeface="Calibri"/>
              </a:rPr>
              <a:t>Gross Margin</a:t>
            </a:r>
          </a:p>
        </p:txBody>
      </p:sp>
      <p:sp>
        <p:nvSpPr>
          <p:cNvPr id="226" name="t"/>
          <p:cNvSpPr txBox="1"/>
          <p:nvPr/>
        </p:nvSpPr>
        <p:spPr>
          <a:xfrm>
            <a:off x="1603248" y="4018134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920" b="0" i="0" dirty="0">
                <a:solidFill>
                  <a:srgbClr val="3D1020"/>
                </a:solidFill>
                <a:latin typeface="Calibri"/>
              </a:rPr>
              <a:t>90%+</a:t>
            </a:r>
          </a:p>
        </p:txBody>
      </p:sp>
      <p:sp>
        <p:nvSpPr>
          <p:cNvPr id="227" name="r"/>
          <p:cNvSpPr/>
          <p:nvPr/>
        </p:nvSpPr>
        <p:spPr>
          <a:xfrm>
            <a:off x="3169920" y="850392"/>
            <a:ext cx="2804160" cy="34701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C2185B"/>
            </a:solidFill>
          </a:ln>
        </p:spPr>
        <p:txBody>
          <a:bodyPr/>
          <a:lstStyle/>
        </p:txBody>
      </p:sp>
      <p:sp>
        <p:nvSpPr>
          <p:cNvPr id="228" name="r"/>
          <p:cNvSpPr/>
          <p:nvPr/>
        </p:nvSpPr>
        <p:spPr>
          <a:xfrm>
            <a:off x="3169920" y="850392"/>
            <a:ext cx="2804160" cy="530352"/>
          </a:xfrm>
          <a:prstGeom prst="roundRect">
            <a:avLst>
              <a:gd name="adj" fmla="val 25000"/>
            </a:avLst>
          </a:prstGeom>
          <a:solidFill>
            <a:srgbClr val="880E4F"/>
          </a:solidFill>
          <a:ln>
            <a:noFill/>
          </a:ln>
        </p:spPr>
        <p:txBody>
          <a:bodyPr/>
          <a:lstStyle/>
        </p:txBody>
      </p:sp>
      <p:sp>
        <p:nvSpPr>
          <p:cNvPr id="229" name="r"/>
          <p:cNvSpPr/>
          <p:nvPr/>
        </p:nvSpPr>
        <p:spPr>
          <a:xfrm>
            <a:off x="3169920" y="1115568"/>
            <a:ext cx="2804160" cy="265176"/>
          </a:xfrm>
          <a:prstGeom prst="rect">
            <a:avLst/>
          </a:prstGeom>
          <a:solidFill>
            <a:srgbClr val="880E4F"/>
          </a:solidFill>
          <a:ln>
            <a:noFill/>
          </a:ln>
        </p:spPr>
        <p:txBody>
          <a:bodyPr/>
          <a:lstStyle/>
        </p:txBody>
      </p:sp>
      <p:sp>
        <p:nvSpPr>
          <p:cNvPr id="230" name="t"/>
          <p:cNvSpPr txBox="1"/>
          <p:nvPr/>
        </p:nvSpPr>
        <p:spPr>
          <a:xfrm>
            <a:off x="3169920" y="850392"/>
            <a:ext cx="2804160" cy="530352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300" b="1" i="0" dirty="0">
                <a:solidFill>
                  <a:srgbClr val="FFD07A"/>
                </a:solidFill>
                <a:latin typeface="Calibri"/>
              </a:rPr>
              <a:t>Y E A R  1</a:t>
            </a:r>
          </a:p>
        </p:txBody>
      </p:sp>
      <p:sp>
        <p:nvSpPr>
          <p:cNvPr id="231" name="t"/>
          <p:cNvSpPr txBox="1"/>
          <p:nvPr/>
        </p:nvSpPr>
        <p:spPr>
          <a:xfrm>
            <a:off x="3169920" y="1472184"/>
            <a:ext cx="2804160" cy="621792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3800" b="1" i="0" dirty="0">
                <a:solidFill>
                  <a:srgbClr val="C2185B"/>
                </a:solidFill>
                <a:latin typeface="Calibri"/>
              </a:rPr>
              <a:t>$1.09M</a:t>
            </a:r>
          </a:p>
        </p:txBody>
      </p:sp>
      <p:sp>
        <p:nvSpPr>
          <p:cNvPr id="232" name="t"/>
          <p:cNvSpPr txBox="1"/>
          <p:nvPr/>
        </p:nvSpPr>
        <p:spPr>
          <a:xfrm>
            <a:off x="3169920" y="2093976"/>
            <a:ext cx="280416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900" b="0" i="1" dirty="0">
                <a:solidFill>
                  <a:srgbClr val="7A3448"/>
                </a:solidFill>
                <a:latin typeface="Calibri"/>
              </a:rPr>
              <a:t>Combined Revenue</a:t>
            </a:r>
          </a:p>
        </p:txBody>
      </p:sp>
      <p:sp>
        <p:nvSpPr>
          <p:cNvPr id="233" name="r"/>
          <p:cNvSpPr/>
          <p:nvPr/>
        </p:nvSpPr>
        <p:spPr>
          <a:xfrm>
            <a:off x="3352800" y="2423160"/>
            <a:ext cx="2438400" cy="7315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txBody>
          <a:bodyPr/>
          <a:lstStyle/>
        </p:txBody>
      </p:sp>
      <p:sp>
        <p:nvSpPr>
          <p:cNvPr id="234" name="t"/>
          <p:cNvSpPr txBox="1"/>
          <p:nvPr/>
        </p:nvSpPr>
        <p:spPr>
          <a:xfrm>
            <a:off x="3307080" y="2532888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70" b="0" i="0" dirty="0">
                <a:solidFill>
                  <a:srgbClr val="3D1020"/>
                </a:solidFill>
                <a:latin typeface="Calibri"/>
              </a:rPr>
              <a:t>Registered Users</a:t>
            </a:r>
          </a:p>
        </p:txBody>
      </p:sp>
      <p:sp>
        <p:nvSpPr>
          <p:cNvPr id="235" name="t"/>
          <p:cNvSpPr txBox="1"/>
          <p:nvPr/>
        </p:nvSpPr>
        <p:spPr>
          <a:xfrm>
            <a:off x="4572000" y="2532888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920" b="0" i="0" dirty="0">
                <a:solidFill>
                  <a:srgbClr val="3D1020"/>
                </a:solidFill>
                <a:latin typeface="Calibri"/>
              </a:rPr>
              <a:t>50,000</a:t>
            </a:r>
          </a:p>
        </p:txBody>
      </p:sp>
      <p:sp>
        <p:nvSpPr>
          <p:cNvPr id="236" name="t"/>
          <p:cNvSpPr txBox="1"/>
          <p:nvPr/>
        </p:nvSpPr>
        <p:spPr>
          <a:xfrm>
            <a:off x="3307080" y="2780429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70" b="0" i="0" dirty="0">
                <a:solidFill>
                  <a:srgbClr val="3D1020"/>
                </a:solidFill>
                <a:latin typeface="Calibri"/>
              </a:rPr>
              <a:t>Paying Subscribers</a:t>
            </a:r>
          </a:p>
        </p:txBody>
      </p:sp>
      <p:sp>
        <p:nvSpPr>
          <p:cNvPr id="237" name="t"/>
          <p:cNvSpPr txBox="1"/>
          <p:nvPr/>
        </p:nvSpPr>
        <p:spPr>
          <a:xfrm>
            <a:off x="4572000" y="2780429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920" b="0" i="0" dirty="0">
                <a:solidFill>
                  <a:srgbClr val="3D1020"/>
                </a:solidFill>
                <a:latin typeface="Calibri"/>
              </a:rPr>
              <a:t>10,000</a:t>
            </a:r>
          </a:p>
        </p:txBody>
      </p:sp>
      <p:sp>
        <p:nvSpPr>
          <p:cNvPr id="238" name="t"/>
          <p:cNvSpPr txBox="1"/>
          <p:nvPr/>
        </p:nvSpPr>
        <p:spPr>
          <a:xfrm>
            <a:off x="3307080" y="3027970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790" b="0" i="0" dirty="0">
                <a:solidFill>
                  <a:srgbClr val="7A3448"/>
                </a:solidFill>
                <a:latin typeface="Calibri"/>
              </a:rPr>
              <a:t>Annual ($49/yr)</a:t>
            </a:r>
          </a:p>
        </p:txBody>
      </p:sp>
      <p:sp>
        <p:nvSpPr>
          <p:cNvPr id="239" name="t"/>
          <p:cNvSpPr txBox="1"/>
          <p:nvPr/>
        </p:nvSpPr>
        <p:spPr>
          <a:xfrm>
            <a:off x="4572000" y="3027970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790" b="0" i="0" dirty="0">
                <a:solidFill>
                  <a:srgbClr val="7A3448"/>
                </a:solidFill>
                <a:latin typeface="Calibri"/>
              </a:rPr>
              <a:t>6,000</a:t>
            </a:r>
          </a:p>
        </p:txBody>
      </p:sp>
      <p:sp>
        <p:nvSpPr>
          <p:cNvPr id="240" name="t"/>
          <p:cNvSpPr txBox="1"/>
          <p:nvPr/>
        </p:nvSpPr>
        <p:spPr>
          <a:xfrm>
            <a:off x="3307080" y="3275511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790" b="0" i="0" dirty="0">
                <a:solidFill>
                  <a:srgbClr val="7A3448"/>
                </a:solidFill>
                <a:latin typeface="Calibri"/>
              </a:rPr>
              <a:t>Legacy ($149/yr)</a:t>
            </a:r>
          </a:p>
        </p:txBody>
      </p:sp>
      <p:sp>
        <p:nvSpPr>
          <p:cNvPr id="241" name="t"/>
          <p:cNvSpPr txBox="1"/>
          <p:nvPr/>
        </p:nvSpPr>
        <p:spPr>
          <a:xfrm>
            <a:off x="4572000" y="3275511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790" b="0" i="0" dirty="0">
                <a:solidFill>
                  <a:srgbClr val="7A3448"/>
                </a:solidFill>
                <a:latin typeface="Calibri"/>
              </a:rPr>
              <a:t>4,000</a:t>
            </a:r>
          </a:p>
        </p:txBody>
      </p:sp>
      <p:sp>
        <p:nvSpPr>
          <p:cNvPr id="242" name="r"/>
          <p:cNvSpPr/>
          <p:nvPr/>
        </p:nvSpPr>
        <p:spPr>
          <a:xfrm>
            <a:off x="3261360" y="3523052"/>
            <a:ext cx="2621280" cy="210965"/>
          </a:xfrm>
          <a:prstGeom prst="roundRect">
            <a:avLst>
              <a:gd name="adj" fmla="val 12000"/>
            </a:avLst>
          </a:prstGeom>
          <a:solidFill>
            <a:srgbClr val="880E4F"/>
          </a:solidFill>
          <a:ln>
            <a:noFill/>
          </a:ln>
        </p:spPr>
        <p:txBody>
          <a:bodyPr/>
          <a:lstStyle/>
        </p:txBody>
      </p:sp>
      <p:sp>
        <p:nvSpPr>
          <p:cNvPr id="243" name="t"/>
          <p:cNvSpPr txBox="1"/>
          <p:nvPr/>
        </p:nvSpPr>
        <p:spPr>
          <a:xfrm>
            <a:off x="3307080" y="3523052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60" b="1" i="0" dirty="0">
                <a:solidFill>
                  <a:srgbClr val="F8BBD9"/>
                </a:solidFill>
                <a:latin typeface="Calibri"/>
              </a:rPr>
              <a:t>Subscription ARR</a:t>
            </a:r>
          </a:p>
        </p:txBody>
      </p:sp>
      <p:sp>
        <p:nvSpPr>
          <p:cNvPr id="244" name="t"/>
          <p:cNvSpPr txBox="1"/>
          <p:nvPr/>
        </p:nvSpPr>
        <p:spPr>
          <a:xfrm>
            <a:off x="4572000" y="3523052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1000" b="1" i="0" dirty="0">
                <a:solidFill>
                  <a:srgbClr val="FFD07A"/>
                </a:solidFill>
                <a:latin typeface="Calibri"/>
              </a:rPr>
              <a:t>$890K</a:t>
            </a:r>
          </a:p>
        </p:txBody>
      </p:sp>
      <p:sp>
        <p:nvSpPr>
          <p:cNvPr id="245" name="r"/>
          <p:cNvSpPr/>
          <p:nvPr/>
        </p:nvSpPr>
        <p:spPr>
          <a:xfrm>
            <a:off x="3261360" y="3770593"/>
            <a:ext cx="2621280" cy="210965"/>
          </a:xfrm>
          <a:prstGeom prst="roundRect">
            <a:avLst>
              <a:gd name="adj" fmla="val 12000"/>
            </a:avLst>
          </a:prstGeom>
          <a:solidFill>
            <a:srgbClr val="880E4F"/>
          </a:solidFill>
          <a:ln>
            <a:noFill/>
          </a:ln>
        </p:spPr>
        <p:txBody>
          <a:bodyPr/>
          <a:lstStyle/>
        </p:txBody>
      </p:sp>
      <p:sp>
        <p:nvSpPr>
          <p:cNvPr id="246" name="t"/>
          <p:cNvSpPr txBox="1"/>
          <p:nvPr/>
        </p:nvSpPr>
        <p:spPr>
          <a:xfrm>
            <a:off x="3307080" y="3770593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60" b="1" i="0" dirty="0">
                <a:solidFill>
                  <a:srgbClr val="F8BBD9"/>
                </a:solidFill>
                <a:latin typeface="Calibri"/>
              </a:rPr>
              <a:t>Partner Revenue</a:t>
            </a:r>
          </a:p>
        </p:txBody>
      </p:sp>
      <p:sp>
        <p:nvSpPr>
          <p:cNvPr id="247" name="t"/>
          <p:cNvSpPr txBox="1"/>
          <p:nvPr/>
        </p:nvSpPr>
        <p:spPr>
          <a:xfrm>
            <a:off x="4572000" y="3770593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1000" b="1" i="0" dirty="0">
                <a:solidFill>
                  <a:srgbClr val="FFD07A"/>
                </a:solidFill>
                <a:latin typeface="Calibri"/>
              </a:rPr>
              <a:t>$200K</a:t>
            </a:r>
          </a:p>
        </p:txBody>
      </p:sp>
      <p:sp>
        <p:nvSpPr>
          <p:cNvPr id="248" name="t"/>
          <p:cNvSpPr txBox="1"/>
          <p:nvPr/>
        </p:nvSpPr>
        <p:spPr>
          <a:xfrm>
            <a:off x="3307080" y="4018134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70" b="0" i="0" dirty="0">
                <a:solidFill>
                  <a:srgbClr val="3D1020"/>
                </a:solidFill>
                <a:latin typeface="Calibri"/>
              </a:rPr>
              <a:t>Gross Margin</a:t>
            </a:r>
          </a:p>
        </p:txBody>
      </p:sp>
      <p:sp>
        <p:nvSpPr>
          <p:cNvPr id="249" name="t"/>
          <p:cNvSpPr txBox="1"/>
          <p:nvPr/>
        </p:nvSpPr>
        <p:spPr>
          <a:xfrm>
            <a:off x="4572000" y="4018134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920" b="0" i="0" dirty="0">
                <a:solidFill>
                  <a:srgbClr val="3D1020"/>
                </a:solidFill>
                <a:latin typeface="Calibri"/>
              </a:rPr>
              <a:t>90%+</a:t>
            </a:r>
          </a:p>
        </p:txBody>
      </p:sp>
      <p:sp>
        <p:nvSpPr>
          <p:cNvPr id="250" name="r"/>
          <p:cNvSpPr/>
          <p:nvPr/>
        </p:nvSpPr>
        <p:spPr>
          <a:xfrm>
            <a:off x="6138672" y="850392"/>
            <a:ext cx="2804160" cy="34701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E91E8C"/>
            </a:solidFill>
          </a:ln>
        </p:spPr>
        <p:txBody>
          <a:bodyPr/>
          <a:lstStyle/>
        </p:txBody>
      </p:sp>
      <p:sp>
        <p:nvSpPr>
          <p:cNvPr id="251" name="r"/>
          <p:cNvSpPr/>
          <p:nvPr/>
        </p:nvSpPr>
        <p:spPr>
          <a:xfrm>
            <a:off x="6138672" y="850392"/>
            <a:ext cx="2804160" cy="530352"/>
          </a:xfrm>
          <a:prstGeom prst="roundRect">
            <a:avLst>
              <a:gd name="adj" fmla="val 25000"/>
            </a:avLst>
          </a:prstGeom>
          <a:solidFill>
            <a:srgbClr val="3D1020"/>
          </a:solidFill>
          <a:ln>
            <a:noFill/>
          </a:ln>
        </p:spPr>
        <p:txBody>
          <a:bodyPr/>
          <a:lstStyle/>
        </p:txBody>
      </p:sp>
      <p:sp>
        <p:nvSpPr>
          <p:cNvPr id="252" name="r"/>
          <p:cNvSpPr/>
          <p:nvPr/>
        </p:nvSpPr>
        <p:spPr>
          <a:xfrm>
            <a:off x="6138672" y="1115568"/>
            <a:ext cx="2804160" cy="265176"/>
          </a:xfrm>
          <a:prstGeom prst="rect">
            <a:avLst/>
          </a:prstGeom>
          <a:solidFill>
            <a:srgbClr val="3D1020"/>
          </a:solidFill>
          <a:ln>
            <a:noFill/>
          </a:ln>
        </p:spPr>
        <p:txBody>
          <a:bodyPr/>
          <a:lstStyle/>
        </p:txBody>
      </p:sp>
      <p:sp>
        <p:nvSpPr>
          <p:cNvPr id="253" name="t"/>
          <p:cNvSpPr txBox="1"/>
          <p:nvPr/>
        </p:nvSpPr>
        <p:spPr>
          <a:xfrm>
            <a:off x="6138672" y="850392"/>
            <a:ext cx="2804160" cy="530352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300" b="1" i="0" dirty="0">
                <a:solidFill>
                  <a:srgbClr val="FFD07A"/>
                </a:solidFill>
                <a:latin typeface="Calibri"/>
              </a:rPr>
              <a:t>Y E A R  2</a:t>
            </a:r>
          </a:p>
        </p:txBody>
      </p:sp>
      <p:sp>
        <p:nvSpPr>
          <p:cNvPr id="254" name="t"/>
          <p:cNvSpPr txBox="1"/>
          <p:nvPr/>
        </p:nvSpPr>
        <p:spPr>
          <a:xfrm>
            <a:off x="6138672" y="1472184"/>
            <a:ext cx="2804160" cy="621792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3800" b="1" i="0" dirty="0">
                <a:solidFill>
                  <a:srgbClr val="E91E8C"/>
                </a:solidFill>
                <a:latin typeface="Calibri"/>
              </a:rPr>
              <a:t>$3.84M</a:t>
            </a:r>
          </a:p>
        </p:txBody>
      </p:sp>
      <p:sp>
        <p:nvSpPr>
          <p:cNvPr id="255" name="t"/>
          <p:cNvSpPr txBox="1"/>
          <p:nvPr/>
        </p:nvSpPr>
        <p:spPr>
          <a:xfrm>
            <a:off x="6138672" y="2093976"/>
            <a:ext cx="280416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900" b="0" i="1" dirty="0">
                <a:solidFill>
                  <a:srgbClr val="7A3448"/>
                </a:solidFill>
                <a:latin typeface="Calibri"/>
              </a:rPr>
              <a:t>Combined Revenue</a:t>
            </a:r>
          </a:p>
        </p:txBody>
      </p:sp>
      <p:sp>
        <p:nvSpPr>
          <p:cNvPr id="256" name="r"/>
          <p:cNvSpPr/>
          <p:nvPr/>
        </p:nvSpPr>
        <p:spPr>
          <a:xfrm>
            <a:off x="6321552" y="2423160"/>
            <a:ext cx="2438400" cy="7315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txBody>
          <a:bodyPr/>
          <a:lstStyle/>
        </p:txBody>
      </p:sp>
      <p:sp>
        <p:nvSpPr>
          <p:cNvPr id="257" name="t"/>
          <p:cNvSpPr txBox="1"/>
          <p:nvPr/>
        </p:nvSpPr>
        <p:spPr>
          <a:xfrm>
            <a:off x="6275832" y="2532888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70" b="0" i="0" dirty="0">
                <a:solidFill>
                  <a:srgbClr val="3D1020"/>
                </a:solidFill>
                <a:latin typeface="Calibri"/>
              </a:rPr>
              <a:t>Registered Users</a:t>
            </a:r>
          </a:p>
        </p:txBody>
      </p:sp>
      <p:sp>
        <p:nvSpPr>
          <p:cNvPr id="258" name="t"/>
          <p:cNvSpPr txBox="1"/>
          <p:nvPr/>
        </p:nvSpPr>
        <p:spPr>
          <a:xfrm>
            <a:off x="7540752" y="2532888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920" b="0" i="0" dirty="0">
                <a:solidFill>
                  <a:srgbClr val="3D1020"/>
                </a:solidFill>
                <a:latin typeface="Calibri"/>
              </a:rPr>
              <a:t>150,000</a:t>
            </a:r>
          </a:p>
        </p:txBody>
      </p:sp>
      <p:sp>
        <p:nvSpPr>
          <p:cNvPr id="259" name="t"/>
          <p:cNvSpPr txBox="1"/>
          <p:nvPr/>
        </p:nvSpPr>
        <p:spPr>
          <a:xfrm>
            <a:off x="6275832" y="2780429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70" b="0" i="0" dirty="0">
                <a:solidFill>
                  <a:srgbClr val="3D1020"/>
                </a:solidFill>
                <a:latin typeface="Calibri"/>
              </a:rPr>
              <a:t>Paying Subscribers</a:t>
            </a:r>
          </a:p>
        </p:txBody>
      </p:sp>
      <p:sp>
        <p:nvSpPr>
          <p:cNvPr id="260" name="t"/>
          <p:cNvSpPr txBox="1"/>
          <p:nvPr/>
        </p:nvSpPr>
        <p:spPr>
          <a:xfrm>
            <a:off x="7540752" y="2780429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920" b="0" i="0" dirty="0">
                <a:solidFill>
                  <a:srgbClr val="3D1020"/>
                </a:solidFill>
                <a:latin typeface="Calibri"/>
              </a:rPr>
              <a:t>30,000</a:t>
            </a:r>
          </a:p>
        </p:txBody>
      </p:sp>
      <p:sp>
        <p:nvSpPr>
          <p:cNvPr id="261" name="t"/>
          <p:cNvSpPr txBox="1"/>
          <p:nvPr/>
        </p:nvSpPr>
        <p:spPr>
          <a:xfrm>
            <a:off x="6275832" y="3027970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790" b="0" i="0" dirty="0">
                <a:solidFill>
                  <a:srgbClr val="7A3448"/>
                </a:solidFill>
                <a:latin typeface="Calibri"/>
              </a:rPr>
              <a:t>Annual ($49/yr)</a:t>
            </a:r>
          </a:p>
        </p:txBody>
      </p:sp>
      <p:sp>
        <p:nvSpPr>
          <p:cNvPr id="262" name="t"/>
          <p:cNvSpPr txBox="1"/>
          <p:nvPr/>
        </p:nvSpPr>
        <p:spPr>
          <a:xfrm>
            <a:off x="7540752" y="3027970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790" b="0" i="0" dirty="0">
                <a:solidFill>
                  <a:srgbClr val="7A3448"/>
                </a:solidFill>
                <a:latin typeface="Calibri"/>
              </a:rPr>
              <a:t>18,000</a:t>
            </a:r>
          </a:p>
        </p:txBody>
      </p:sp>
      <p:sp>
        <p:nvSpPr>
          <p:cNvPr id="263" name="t"/>
          <p:cNvSpPr txBox="1"/>
          <p:nvPr/>
        </p:nvSpPr>
        <p:spPr>
          <a:xfrm>
            <a:off x="6275832" y="3275511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790" b="0" i="0" dirty="0">
                <a:solidFill>
                  <a:srgbClr val="7A3448"/>
                </a:solidFill>
                <a:latin typeface="Calibri"/>
              </a:rPr>
              <a:t>Legacy ($149/yr)</a:t>
            </a:r>
          </a:p>
        </p:txBody>
      </p:sp>
      <p:sp>
        <p:nvSpPr>
          <p:cNvPr id="264" name="t"/>
          <p:cNvSpPr txBox="1"/>
          <p:nvPr/>
        </p:nvSpPr>
        <p:spPr>
          <a:xfrm>
            <a:off x="7540752" y="3275511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790" b="0" i="0" dirty="0">
                <a:solidFill>
                  <a:srgbClr val="7A3448"/>
                </a:solidFill>
                <a:latin typeface="Calibri"/>
              </a:rPr>
              <a:t>12,000</a:t>
            </a:r>
          </a:p>
        </p:txBody>
      </p:sp>
      <p:sp>
        <p:nvSpPr>
          <p:cNvPr id="265" name="r"/>
          <p:cNvSpPr/>
          <p:nvPr/>
        </p:nvSpPr>
        <p:spPr>
          <a:xfrm>
            <a:off x="6230112" y="3523052"/>
            <a:ext cx="2621280" cy="210965"/>
          </a:xfrm>
          <a:prstGeom prst="roundRect">
            <a:avLst>
              <a:gd name="adj" fmla="val 12000"/>
            </a:avLst>
          </a:prstGeom>
          <a:solidFill>
            <a:srgbClr val="3D1020"/>
          </a:solidFill>
          <a:ln>
            <a:noFill/>
          </a:ln>
        </p:spPr>
        <p:txBody>
          <a:bodyPr/>
          <a:lstStyle/>
        </p:txBody>
      </p:sp>
      <p:sp>
        <p:nvSpPr>
          <p:cNvPr id="266" name="t"/>
          <p:cNvSpPr txBox="1"/>
          <p:nvPr/>
        </p:nvSpPr>
        <p:spPr>
          <a:xfrm>
            <a:off x="6275832" y="3523052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60" b="1" i="0" dirty="0">
                <a:solidFill>
                  <a:srgbClr val="F8BBD9"/>
                </a:solidFill>
                <a:latin typeface="Calibri"/>
              </a:rPr>
              <a:t>Subscription ARR</a:t>
            </a:r>
          </a:p>
        </p:txBody>
      </p:sp>
      <p:sp>
        <p:nvSpPr>
          <p:cNvPr id="267" name="t"/>
          <p:cNvSpPr txBox="1"/>
          <p:nvPr/>
        </p:nvSpPr>
        <p:spPr>
          <a:xfrm>
            <a:off x="7540752" y="3523052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1000" b="1" i="0" dirty="0">
                <a:solidFill>
                  <a:srgbClr val="FFD07A"/>
                </a:solidFill>
                <a:latin typeface="Calibri"/>
              </a:rPr>
              <a:t>$2.67M</a:t>
            </a:r>
          </a:p>
        </p:txBody>
      </p:sp>
      <p:sp>
        <p:nvSpPr>
          <p:cNvPr id="268" name="r"/>
          <p:cNvSpPr/>
          <p:nvPr/>
        </p:nvSpPr>
        <p:spPr>
          <a:xfrm>
            <a:off x="6230112" y="3770593"/>
            <a:ext cx="2621280" cy="210965"/>
          </a:xfrm>
          <a:prstGeom prst="roundRect">
            <a:avLst>
              <a:gd name="adj" fmla="val 12000"/>
            </a:avLst>
          </a:prstGeom>
          <a:solidFill>
            <a:srgbClr val="3D1020"/>
          </a:solidFill>
          <a:ln>
            <a:noFill/>
          </a:ln>
        </p:spPr>
        <p:txBody>
          <a:bodyPr/>
          <a:lstStyle/>
        </p:txBody>
      </p:sp>
      <p:sp>
        <p:nvSpPr>
          <p:cNvPr id="269" name="t"/>
          <p:cNvSpPr txBox="1"/>
          <p:nvPr/>
        </p:nvSpPr>
        <p:spPr>
          <a:xfrm>
            <a:off x="6275832" y="3770593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60" b="1" i="0" dirty="0">
                <a:solidFill>
                  <a:srgbClr val="F8BBD9"/>
                </a:solidFill>
                <a:latin typeface="Calibri"/>
              </a:rPr>
              <a:t>Partner Revenue</a:t>
            </a:r>
          </a:p>
        </p:txBody>
      </p:sp>
      <p:sp>
        <p:nvSpPr>
          <p:cNvPr id="270" name="t"/>
          <p:cNvSpPr txBox="1"/>
          <p:nvPr/>
        </p:nvSpPr>
        <p:spPr>
          <a:xfrm>
            <a:off x="7540752" y="3770593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1000" b="1" i="0" dirty="0">
                <a:solidFill>
                  <a:srgbClr val="FFD07A"/>
                </a:solidFill>
                <a:latin typeface="Calibri"/>
              </a:rPr>
              <a:t>$1.17M</a:t>
            </a:r>
          </a:p>
        </p:txBody>
      </p:sp>
      <p:sp>
        <p:nvSpPr>
          <p:cNvPr id="271" name="t"/>
          <p:cNvSpPr txBox="1"/>
          <p:nvPr/>
        </p:nvSpPr>
        <p:spPr>
          <a:xfrm>
            <a:off x="6275832" y="4018134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870" b="0" i="0" dirty="0">
                <a:solidFill>
                  <a:srgbClr val="3D1020"/>
                </a:solidFill>
                <a:latin typeface="Calibri"/>
              </a:rPr>
              <a:t>Gross Margin</a:t>
            </a:r>
          </a:p>
        </p:txBody>
      </p:sp>
      <p:sp>
        <p:nvSpPr>
          <p:cNvPr id="272" name="t"/>
          <p:cNvSpPr txBox="1"/>
          <p:nvPr/>
        </p:nvSpPr>
        <p:spPr>
          <a:xfrm>
            <a:off x="7540752" y="4018134"/>
            <a:ext cx="1264920" cy="210965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920" b="0" i="0" dirty="0">
                <a:solidFill>
                  <a:srgbClr val="3D1020"/>
                </a:solidFill>
                <a:latin typeface="Calibri"/>
              </a:rPr>
              <a:t>90%+</a:t>
            </a:r>
          </a:p>
        </p:txBody>
      </p:sp>
      <p:sp>
        <p:nvSpPr>
          <p:cNvPr id="273" name="r"/>
          <p:cNvSpPr/>
          <p:nvPr/>
        </p:nvSpPr>
        <p:spPr>
          <a:xfrm>
            <a:off x="0" y="4485132"/>
            <a:ext cx="9144000" cy="658368"/>
          </a:xfrm>
          <a:prstGeom prst="rect">
            <a:avLst/>
          </a:prstGeom>
          <a:solidFill>
            <a:srgbClr val="3D1020"/>
          </a:solidFill>
          <a:ln>
            <a:noFill/>
          </a:ln>
        </p:spPr>
        <p:txBody>
          <a:bodyPr/>
          <a:lstStyle/>
        </p:txBody>
      </p:sp>
      <p:sp>
        <p:nvSpPr>
          <p:cNvPr id="274" name="t"/>
          <p:cNvSpPr txBox="1"/>
          <p:nvPr/>
        </p:nvSpPr>
        <p:spPr>
          <a:xfrm>
            <a:off x="0" y="4485132"/>
            <a:ext cx="3048000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200" b="1" i="0" dirty="0">
                <a:solidFill>
                  <a:srgbClr val="FFD07A"/>
                </a:solidFill>
                <a:latin typeface="Calibri"/>
              </a:rPr>
              <a:t>Y1 to Y2 Revenue Growth: 3.5x</a:t>
            </a:r>
          </a:p>
        </p:txBody>
      </p:sp>
      <p:sp>
        <p:nvSpPr>
          <p:cNvPr id="275" name="t"/>
          <p:cNvSpPr txBox="1"/>
          <p:nvPr/>
        </p:nvSpPr>
        <p:spPr>
          <a:xfrm>
            <a:off x="3048000" y="4485132"/>
            <a:ext cx="3048000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200" b="1" i="0" dirty="0">
                <a:solidFill>
                  <a:srgbClr val="FFD07A"/>
                </a:solidFill>
                <a:latin typeface="Calibri"/>
              </a:rPr>
              <a:t>Partner Revenue Grows 5.8x</a:t>
            </a:r>
          </a:p>
          <a:p>
            <a:pPr algn="ctr"/>
            <a:r>
              <a:rPr lang="en-US" sz="850" b="0" i="0" dirty="0">
                <a:solidFill>
                  <a:srgbClr val="F8BBD9"/>
                </a:solidFill>
                <a:latin typeface="Calibri"/>
              </a:rPr>
              <a:t>Year 1 to Year 2</a:t>
            </a:r>
          </a:p>
        </p:txBody>
      </p:sp>
      <p:sp>
        <p:nvSpPr>
          <p:cNvPr id="276" name="t"/>
          <p:cNvSpPr txBox="1"/>
          <p:nvPr/>
        </p:nvSpPr>
        <p:spPr>
          <a:xfrm>
            <a:off x="6096000" y="4485132"/>
            <a:ext cx="3048000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200" b="1" i="0" dirty="0">
                <a:solidFill>
                  <a:srgbClr val="FFD07A"/>
                </a:solidFill>
                <a:latin typeface="Calibri"/>
              </a:rPr>
              <a:t>90%+ Gross Margin Throughout</a:t>
            </a:r>
          </a:p>
          <a:p>
            <a:pPr algn="ctr"/>
            <a:r>
              <a:rPr lang="en-US" sz="850" b="0" i="0" dirty="0">
                <a:solidFill>
                  <a:srgbClr val="F8BBD9"/>
                </a:solidFill>
                <a:latin typeface="Calibri"/>
              </a:rPr>
              <a:t>Near-Zero Marginal Cost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5F8"/>
          </a:solidFill>
          <a:ln>
            <a:noFill/>
          </a:ln>
        </p:spPr>
        <p:txBody>
          <a:bodyPr/>
          <a:lstStyle/>
        </p:txBody>
      </p:sp>
      <p:sp>
        <p:nvSpPr>
          <p:cNvPr id="102" name="title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1020"/>
          </a:solidFill>
          <a:ln>
            <a:noFill/>
          </a:ln>
        </p:spPr>
        <p:txBody>
          <a:bodyPr/>
          <a:lstStyle/>
        </p:txBody>
      </p:sp>
      <p:sp>
        <p:nvSpPr>
          <p:cNvPr id="103" name="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en-US" sz="2400" b="1" i="0" dirty="0">
                <a:solidFill>
                  <a:srgbClr val="FFFFFF"/>
                </a:solidFill>
                <a:latin typeface="Calibri"/>
              </a:rPr>
              <a:t>Solace Life  —  User Journey &amp; Lifetime Revenue Model</a:t>
            </a:r>
          </a:p>
          <a:p>
            <a:pPr algn="l"/>
            <a:r>
              <a:rPr lang="en-US" sz="1100" b="0" i="0" dirty="0">
                <a:solidFill>
                  <a:srgbClr val="F8BBD9"/>
                </a:solidFill>
                <a:latin typeface="Calibri"/>
              </a:rPr>
              <a:t>From first download to estate settled  ·  Every professional service touchpoint across a user's life</a:t>
            </a:r>
          </a:p>
        </p:txBody>
      </p:sp>
      <p:sp>
        <p:nvSpPr>
          <p:cNvPr id="104" name="card0"/>
          <p:cNvSpPr/>
          <p:nvPr/>
        </p:nvSpPr>
        <p:spPr>
          <a:xfrm>
            <a:off x="228600" y="822960"/>
            <a:ext cx="1649577" cy="34518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F48FB1"/>
            </a:solidFill>
          </a:ln>
        </p:spPr>
        <p:txBody>
          <a:bodyPr/>
          <a:lstStyle/>
        </p:txBody>
      </p:sp>
      <p:sp>
        <p:nvSpPr>
          <p:cNvPr id="105" name="hdr0"/>
          <p:cNvSpPr/>
          <p:nvPr/>
        </p:nvSpPr>
        <p:spPr>
          <a:xfrm>
            <a:off x="228600" y="822960"/>
            <a:ext cx="1649577" cy="749808"/>
          </a:xfrm>
          <a:prstGeom prst="roundRect">
            <a:avLst>
              <a:gd name="adj" fmla="val 30000"/>
            </a:avLst>
          </a:prstGeom>
          <a:solidFill>
            <a:srgbClr val="880E4F"/>
          </a:solidFill>
          <a:ln>
            <a:noFill/>
          </a:ln>
        </p:spPr>
        <p:txBody>
          <a:bodyPr/>
          <a:lstStyle/>
        </p:txBody>
      </p:sp>
      <p:sp>
        <p:nvSpPr>
          <p:cNvPr id="106" name=""/>
          <p:cNvSpPr txBox="1"/>
          <p:nvPr/>
        </p:nvSpPr>
        <p:spPr>
          <a:xfrm>
            <a:off x="228600" y="822960"/>
            <a:ext cx="1649577" cy="74980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700" b="1" i="0" dirty="0">
                <a:solidFill>
                  <a:srgbClr val="FFD07A"/>
                </a:solidFill>
                <a:latin typeface="Calibri"/>
              </a:rPr>
              <a:t>PHASE 1</a:t>
            </a:r>
          </a:p>
          <a:p>
            <a:pPr algn="ctr"/>
            <a:r>
              <a:rPr lang="en-US" sz="1050" b="1" i="0" dirty="0">
                <a:solidFill>
                  <a:srgbClr val="FFFFFF"/>
                </a:solidFill>
                <a:latin typeface="Calibri"/>
              </a:rPr>
              <a:t>App Subscription</a:t>
            </a:r>
          </a:p>
          <a:p>
            <a:pPr algn="ctr"/>
            <a:r>
              <a:rPr lang="en-US" sz="700" b="0" i="0" dirty="0">
                <a:solidFill>
                  <a:srgbClr val="F8BBD9"/>
                </a:solidFill>
                <a:latin typeface="Calibri"/>
              </a:rPr>
              <a:t>DIRECT REVENUE</a:t>
            </a:r>
          </a:p>
        </p:txBody>
      </p:sp>
      <p:sp>
        <p:nvSpPr>
          <p:cNvPr id="107" name="svc00"/>
          <p:cNvSpPr/>
          <p:nvPr/>
        </p:nvSpPr>
        <p:spPr>
          <a:xfrm>
            <a:off x="320040" y="1664208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08" name=""/>
          <p:cNvSpPr txBox="1"/>
          <p:nvPr/>
        </p:nvSpPr>
        <p:spPr>
          <a:xfrm>
            <a:off x="320040" y="1664208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Annual Plan · $49/yr</a:t>
            </a:r>
          </a:p>
        </p:txBody>
      </p:sp>
      <p:sp>
        <p:nvSpPr>
          <p:cNvPr id="109" name="svc01"/>
          <p:cNvSpPr/>
          <p:nvPr/>
        </p:nvSpPr>
        <p:spPr>
          <a:xfrm>
            <a:off x="320040" y="2020824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10" name=""/>
          <p:cNvSpPr txBox="1"/>
          <p:nvPr/>
        </p:nvSpPr>
        <p:spPr>
          <a:xfrm>
            <a:off x="320040" y="2020824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Legacy Plan · $149/yr</a:t>
            </a:r>
          </a:p>
        </p:txBody>
      </p:sp>
      <p:sp>
        <p:nvSpPr>
          <p:cNvPr id="111" name="svc02"/>
          <p:cNvSpPr/>
          <p:nvPr/>
        </p:nvSpPr>
        <p:spPr>
          <a:xfrm>
            <a:off x="320040" y="2377440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12" name=""/>
          <p:cNvSpPr txBox="1"/>
          <p:nvPr/>
        </p:nvSpPr>
        <p:spPr>
          <a:xfrm>
            <a:off x="320040" y="2377440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30-Day Free Trial</a:t>
            </a:r>
          </a:p>
        </p:txBody>
      </p:sp>
      <p:sp>
        <p:nvSpPr>
          <p:cNvPr id="113" name="svc03"/>
          <p:cNvSpPr/>
          <p:nvPr/>
        </p:nvSpPr>
        <p:spPr>
          <a:xfrm>
            <a:off x="320040" y="2734056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14" name=""/>
          <p:cNvSpPr txBox="1"/>
          <p:nvPr/>
        </p:nvSpPr>
        <p:spPr>
          <a:xfrm>
            <a:off x="320040" y="2734056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Family Member Invite</a:t>
            </a:r>
          </a:p>
        </p:txBody>
      </p:sp>
      <p:sp>
        <p:nvSpPr>
          <p:cNvPr id="115" name="rev0"/>
          <p:cNvSpPr/>
          <p:nvPr/>
        </p:nvSpPr>
        <p:spPr>
          <a:xfrm>
            <a:off x="228600" y="3525012"/>
            <a:ext cx="1649577" cy="749808"/>
          </a:xfrm>
          <a:prstGeom prst="roundRect">
            <a:avLst>
              <a:gd name="adj" fmla="val 20000"/>
            </a:avLst>
          </a:prstGeom>
          <a:solidFill>
            <a:srgbClr val="F48FB1"/>
          </a:solidFill>
          <a:ln>
            <a:noFill/>
          </a:ln>
        </p:spPr>
        <p:txBody>
          <a:bodyPr/>
          <a:lstStyle/>
        </p:txBody>
      </p:sp>
      <p:sp>
        <p:nvSpPr>
          <p:cNvPr id="116" name=""/>
          <p:cNvSpPr txBox="1"/>
          <p:nvPr/>
        </p:nvSpPr>
        <p:spPr>
          <a:xfrm>
            <a:off x="228600" y="3525012"/>
            <a:ext cx="1649577" cy="74980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$49–$149/yr</a:t>
            </a:r>
          </a:p>
          <a:p>
            <a:pPr algn="ctr"/>
            <a:r>
              <a:rPr lang="en-US" sz="750" b="0" i="0" dirty="0">
                <a:solidFill>
                  <a:srgbClr val="FFFFFF"/>
                </a:solidFill>
                <a:latin typeface="Calibri"/>
              </a:rPr>
              <a:t>Direct Solace Revenue</a:t>
            </a:r>
          </a:p>
        </p:txBody>
      </p:sp>
      <p:sp>
        <p:nvSpPr>
          <p:cNvPr id="117" name="card1"/>
          <p:cNvSpPr/>
          <p:nvPr/>
        </p:nvSpPr>
        <p:spPr>
          <a:xfrm>
            <a:off x="1987905" y="822960"/>
            <a:ext cx="1649577" cy="34518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F06292"/>
            </a:solidFill>
          </a:ln>
        </p:spPr>
        <p:txBody>
          <a:bodyPr/>
          <a:lstStyle/>
        </p:txBody>
      </p:sp>
      <p:sp>
        <p:nvSpPr>
          <p:cNvPr id="118" name="hdr1"/>
          <p:cNvSpPr/>
          <p:nvPr/>
        </p:nvSpPr>
        <p:spPr>
          <a:xfrm>
            <a:off x="1987905" y="822960"/>
            <a:ext cx="1649577" cy="749808"/>
          </a:xfrm>
          <a:prstGeom prst="roundRect">
            <a:avLst>
              <a:gd name="adj" fmla="val 30000"/>
            </a:avLst>
          </a:prstGeom>
          <a:solidFill>
            <a:srgbClr val="C2185B"/>
          </a:solidFill>
          <a:ln>
            <a:noFill/>
          </a:ln>
        </p:spPr>
        <p:txBody>
          <a:bodyPr/>
          <a:lstStyle/>
        </p:txBody>
      </p:sp>
      <p:sp>
        <p:nvSpPr>
          <p:cNvPr id="119" name=""/>
          <p:cNvSpPr txBox="1"/>
          <p:nvPr/>
        </p:nvSpPr>
        <p:spPr>
          <a:xfrm>
            <a:off x="1987905" y="822960"/>
            <a:ext cx="1649577" cy="74980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700" b="1" i="0" dirty="0">
                <a:solidFill>
                  <a:srgbClr val="FFD07A"/>
                </a:solidFill>
                <a:latin typeface="Calibri"/>
              </a:rPr>
              <a:t>PHASE 2</a:t>
            </a:r>
          </a:p>
          <a:p>
            <a:pPr algn="ctr"/>
            <a:r>
              <a:rPr lang="en-US" sz="1050" b="1" i="0" dirty="0">
                <a:solidFill>
                  <a:srgbClr val="FFFFFF"/>
                </a:solidFill>
                <a:latin typeface="Calibri"/>
              </a:rPr>
              <a:t>Housing &amp; Real Estate</a:t>
            </a:r>
          </a:p>
          <a:p>
            <a:pPr algn="ctr"/>
            <a:r>
              <a:rPr lang="en-US" sz="700" b="0" i="0" dirty="0">
                <a:solidFill>
                  <a:srgbClr val="F8BBD9"/>
                </a:solidFill>
                <a:latin typeface="Calibri"/>
              </a:rPr>
              <a:t>REFERRAL PARTNER</a:t>
            </a:r>
          </a:p>
        </p:txBody>
      </p:sp>
      <p:sp>
        <p:nvSpPr>
          <p:cNvPr id="120" name="svc10"/>
          <p:cNvSpPr/>
          <p:nvPr/>
        </p:nvSpPr>
        <p:spPr>
          <a:xfrm>
            <a:off x="2079345" y="1664208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21" name=""/>
          <p:cNvSpPr txBox="1"/>
          <p:nvPr/>
        </p:nvSpPr>
        <p:spPr>
          <a:xfrm>
            <a:off x="2079345" y="1664208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Home Sale / Downsizing</a:t>
            </a:r>
          </a:p>
        </p:txBody>
      </p:sp>
      <p:sp>
        <p:nvSpPr>
          <p:cNvPr id="122" name="svc11"/>
          <p:cNvSpPr/>
          <p:nvPr/>
        </p:nvSpPr>
        <p:spPr>
          <a:xfrm>
            <a:off x="2079345" y="2020824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23" name=""/>
          <p:cNvSpPr txBox="1"/>
          <p:nvPr/>
        </p:nvSpPr>
        <p:spPr>
          <a:xfrm>
            <a:off x="2079345" y="2020824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Senior Living Placement</a:t>
            </a:r>
          </a:p>
        </p:txBody>
      </p:sp>
      <p:sp>
        <p:nvSpPr>
          <p:cNvPr id="124" name="svc12"/>
          <p:cNvSpPr/>
          <p:nvPr/>
        </p:nvSpPr>
        <p:spPr>
          <a:xfrm>
            <a:off x="2079345" y="2377440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25" name=""/>
          <p:cNvSpPr txBox="1"/>
          <p:nvPr/>
        </p:nvSpPr>
        <p:spPr>
          <a:xfrm>
            <a:off x="2079345" y="2377440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Title &amp; Deed Transfer</a:t>
            </a:r>
          </a:p>
        </p:txBody>
      </p:sp>
      <p:sp>
        <p:nvSpPr>
          <p:cNvPr id="126" name="svc13"/>
          <p:cNvSpPr/>
          <p:nvPr/>
        </p:nvSpPr>
        <p:spPr>
          <a:xfrm>
            <a:off x="2079345" y="2734056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27" name=""/>
          <p:cNvSpPr txBox="1"/>
          <p:nvPr/>
        </p:nvSpPr>
        <p:spPr>
          <a:xfrm>
            <a:off x="2079345" y="2734056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Moving &amp; Storage</a:t>
            </a:r>
          </a:p>
        </p:txBody>
      </p:sp>
      <p:sp>
        <p:nvSpPr>
          <p:cNvPr id="128" name="rev1"/>
          <p:cNvSpPr/>
          <p:nvPr/>
        </p:nvSpPr>
        <p:spPr>
          <a:xfrm>
            <a:off x="1987905" y="3525012"/>
            <a:ext cx="1649577" cy="749808"/>
          </a:xfrm>
          <a:prstGeom prst="roundRect">
            <a:avLst>
              <a:gd name="adj" fmla="val 20000"/>
            </a:avLst>
          </a:prstGeom>
          <a:solidFill>
            <a:srgbClr val="F06292"/>
          </a:solidFill>
          <a:ln>
            <a:noFill/>
          </a:ln>
        </p:spPr>
        <p:txBody>
          <a:bodyPr/>
          <a:lstStyle/>
        </p:txBody>
      </p:sp>
      <p:sp>
        <p:nvSpPr>
          <p:cNvPr id="129" name=""/>
          <p:cNvSpPr txBox="1"/>
          <p:nvPr/>
        </p:nvSpPr>
        <p:spPr>
          <a:xfrm>
            <a:off x="1987905" y="3525012"/>
            <a:ext cx="1649577" cy="74980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$8K–$40K+</a:t>
            </a:r>
          </a:p>
          <a:p>
            <a:pPr algn="ctr"/>
            <a:r>
              <a:rPr lang="en-US" sz="750" b="0" i="0" dirty="0">
                <a:solidFill>
                  <a:srgbClr val="FFFFFF"/>
                </a:solidFill>
                <a:latin typeface="Calibri"/>
              </a:rPr>
              <a:t>Avg transaction value</a:t>
            </a:r>
          </a:p>
        </p:txBody>
      </p:sp>
      <p:sp>
        <p:nvSpPr>
          <p:cNvPr id="130" name="card2"/>
          <p:cNvSpPr/>
          <p:nvPr/>
        </p:nvSpPr>
        <p:spPr>
          <a:xfrm>
            <a:off x="3747210" y="822960"/>
            <a:ext cx="1649577" cy="34518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91E8C"/>
            </a:solidFill>
          </a:ln>
        </p:spPr>
        <p:txBody>
          <a:bodyPr/>
          <a:lstStyle/>
        </p:txBody>
      </p:sp>
      <p:sp>
        <p:nvSpPr>
          <p:cNvPr id="131" name="hdr2"/>
          <p:cNvSpPr/>
          <p:nvPr/>
        </p:nvSpPr>
        <p:spPr>
          <a:xfrm>
            <a:off x="3747210" y="822960"/>
            <a:ext cx="1649577" cy="749808"/>
          </a:xfrm>
          <a:prstGeom prst="roundRect">
            <a:avLst>
              <a:gd name="adj" fmla="val 30000"/>
            </a:avLst>
          </a:prstGeom>
          <a:solidFill>
            <a:srgbClr val="AD1457"/>
          </a:solidFill>
          <a:ln>
            <a:noFill/>
          </a:ln>
        </p:spPr>
        <p:txBody>
          <a:bodyPr/>
          <a:lstStyle/>
        </p:txBody>
      </p:sp>
      <p:sp>
        <p:nvSpPr>
          <p:cNvPr id="132" name=""/>
          <p:cNvSpPr txBox="1"/>
          <p:nvPr/>
        </p:nvSpPr>
        <p:spPr>
          <a:xfrm>
            <a:off x="3747210" y="822960"/>
            <a:ext cx="1649577" cy="74980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700" b="1" i="0" dirty="0">
                <a:solidFill>
                  <a:srgbClr val="FFD07A"/>
                </a:solidFill>
                <a:latin typeface="Calibri"/>
              </a:rPr>
              <a:t>PHASE 3</a:t>
            </a:r>
          </a:p>
          <a:p>
            <a:pPr algn="ctr"/>
            <a:r>
              <a:rPr lang="en-US" sz="1050" b="1" i="0" dirty="0">
                <a:solidFill>
                  <a:srgbClr val="FFFFFF"/>
                </a:solidFill>
                <a:latin typeface="Calibri"/>
              </a:rPr>
              <a:t>Legal &amp; Estate Planning</a:t>
            </a:r>
          </a:p>
          <a:p>
            <a:pPr algn="ctr"/>
            <a:r>
              <a:rPr lang="en-US" sz="700" b="0" i="0" dirty="0">
                <a:solidFill>
                  <a:srgbClr val="F8BBD9"/>
                </a:solidFill>
                <a:latin typeface="Calibri"/>
              </a:rPr>
              <a:t>REFERRAL PARTNER</a:t>
            </a:r>
          </a:p>
        </p:txBody>
      </p:sp>
      <p:sp>
        <p:nvSpPr>
          <p:cNvPr id="133" name="svc20"/>
          <p:cNvSpPr/>
          <p:nvPr/>
        </p:nvSpPr>
        <p:spPr>
          <a:xfrm>
            <a:off x="3838650" y="1664208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34" name=""/>
          <p:cNvSpPr txBox="1"/>
          <p:nvPr/>
        </p:nvSpPr>
        <p:spPr>
          <a:xfrm>
            <a:off x="3838650" y="1664208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Last Will &amp; Testament</a:t>
            </a:r>
          </a:p>
        </p:txBody>
      </p:sp>
      <p:sp>
        <p:nvSpPr>
          <p:cNvPr id="135" name="svc21"/>
          <p:cNvSpPr/>
          <p:nvPr/>
        </p:nvSpPr>
        <p:spPr>
          <a:xfrm>
            <a:off x="3838650" y="2020824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36" name=""/>
          <p:cNvSpPr txBox="1"/>
          <p:nvPr/>
        </p:nvSpPr>
        <p:spPr>
          <a:xfrm>
            <a:off x="3838650" y="2020824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Living Trust</a:t>
            </a:r>
          </a:p>
        </p:txBody>
      </p:sp>
      <p:sp>
        <p:nvSpPr>
          <p:cNvPr id="137" name="svc22"/>
          <p:cNvSpPr/>
          <p:nvPr/>
        </p:nvSpPr>
        <p:spPr>
          <a:xfrm>
            <a:off x="3838650" y="2377440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38" name=""/>
          <p:cNvSpPr txBox="1"/>
          <p:nvPr/>
        </p:nvSpPr>
        <p:spPr>
          <a:xfrm>
            <a:off x="3838650" y="2377440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Power of Attorney</a:t>
            </a:r>
          </a:p>
        </p:txBody>
      </p:sp>
      <p:sp>
        <p:nvSpPr>
          <p:cNvPr id="139" name="svc23"/>
          <p:cNvSpPr/>
          <p:nvPr/>
        </p:nvSpPr>
        <p:spPr>
          <a:xfrm>
            <a:off x="3838650" y="2734056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40" name=""/>
          <p:cNvSpPr txBox="1"/>
          <p:nvPr/>
        </p:nvSpPr>
        <p:spPr>
          <a:xfrm>
            <a:off x="3838650" y="2734056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Healthcare Directive</a:t>
            </a:r>
          </a:p>
        </p:txBody>
      </p:sp>
      <p:sp>
        <p:nvSpPr>
          <p:cNvPr id="141" name="rev2"/>
          <p:cNvSpPr/>
          <p:nvPr/>
        </p:nvSpPr>
        <p:spPr>
          <a:xfrm>
            <a:off x="3747210" y="3525012"/>
            <a:ext cx="1649577" cy="749808"/>
          </a:xfrm>
          <a:prstGeom prst="roundRect">
            <a:avLst>
              <a:gd name="adj" fmla="val 20000"/>
            </a:avLst>
          </a:prstGeom>
          <a:solidFill>
            <a:srgbClr val="E91E8C"/>
          </a:solidFill>
          <a:ln>
            <a:noFill/>
          </a:ln>
        </p:spPr>
        <p:txBody>
          <a:bodyPr/>
          <a:lstStyle/>
        </p:txBody>
      </p:sp>
      <p:sp>
        <p:nvSpPr>
          <p:cNvPr id="142" name=""/>
          <p:cNvSpPr txBox="1"/>
          <p:nvPr/>
        </p:nvSpPr>
        <p:spPr>
          <a:xfrm>
            <a:off x="3747210" y="3525012"/>
            <a:ext cx="1649577" cy="74980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$1.5K–$12K</a:t>
            </a:r>
          </a:p>
          <a:p>
            <a:pPr algn="ctr"/>
            <a:r>
              <a:rPr lang="en-US" sz="750" b="0" i="0" dirty="0">
                <a:solidFill>
                  <a:srgbClr val="FFFFFF"/>
                </a:solidFill>
                <a:latin typeface="Calibri"/>
              </a:rPr>
              <a:t>Avg legal spend</a:t>
            </a:r>
          </a:p>
        </p:txBody>
      </p:sp>
      <p:sp>
        <p:nvSpPr>
          <p:cNvPr id="143" name="card3"/>
          <p:cNvSpPr/>
          <p:nvPr/>
        </p:nvSpPr>
        <p:spPr>
          <a:xfrm>
            <a:off x="5506515" y="822960"/>
            <a:ext cx="1649577" cy="34518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C2185B"/>
            </a:solidFill>
          </a:ln>
        </p:spPr>
        <p:txBody>
          <a:bodyPr/>
          <a:lstStyle/>
        </p:txBody>
      </p:sp>
      <p:sp>
        <p:nvSpPr>
          <p:cNvPr id="144" name="hdr3"/>
          <p:cNvSpPr/>
          <p:nvPr/>
        </p:nvSpPr>
        <p:spPr>
          <a:xfrm>
            <a:off x="5506515" y="822960"/>
            <a:ext cx="1649577" cy="749808"/>
          </a:xfrm>
          <a:prstGeom prst="roundRect">
            <a:avLst>
              <a:gd name="adj" fmla="val 30000"/>
            </a:avLst>
          </a:prstGeom>
          <a:solidFill>
            <a:srgbClr val="880E4F"/>
          </a:solidFill>
          <a:ln>
            <a:noFill/>
          </a:ln>
        </p:spPr>
        <p:txBody>
          <a:bodyPr/>
          <a:lstStyle/>
        </p:txBody>
      </p:sp>
      <p:sp>
        <p:nvSpPr>
          <p:cNvPr id="145" name=""/>
          <p:cNvSpPr txBox="1"/>
          <p:nvPr/>
        </p:nvSpPr>
        <p:spPr>
          <a:xfrm>
            <a:off x="5506515" y="822960"/>
            <a:ext cx="1649577" cy="74980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700" b="1" i="0" dirty="0">
                <a:solidFill>
                  <a:srgbClr val="FFD07A"/>
                </a:solidFill>
                <a:latin typeface="Calibri"/>
              </a:rPr>
              <a:t>PHASE 4</a:t>
            </a:r>
          </a:p>
          <a:p>
            <a:pPr algn="ctr"/>
            <a:r>
              <a:rPr lang="en-US" sz="1050" b="1" i="0" dirty="0">
                <a:solidFill>
                  <a:srgbClr val="FFFFFF"/>
                </a:solidFill>
                <a:latin typeface="Calibri"/>
              </a:rPr>
              <a:t>Financial &amp; Tax</a:t>
            </a:r>
          </a:p>
          <a:p>
            <a:pPr algn="ctr"/>
            <a:r>
              <a:rPr lang="en-US" sz="700" b="0" i="0" dirty="0">
                <a:solidFill>
                  <a:srgbClr val="F8BBD9"/>
                </a:solidFill>
                <a:latin typeface="Calibri"/>
              </a:rPr>
              <a:t>REFERRAL PARTNER</a:t>
            </a:r>
          </a:p>
        </p:txBody>
      </p:sp>
      <p:sp>
        <p:nvSpPr>
          <p:cNvPr id="146" name="svc30"/>
          <p:cNvSpPr/>
          <p:nvPr/>
        </p:nvSpPr>
        <p:spPr>
          <a:xfrm>
            <a:off x="5597955" y="1664208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47" name=""/>
          <p:cNvSpPr txBox="1"/>
          <p:nvPr/>
        </p:nvSpPr>
        <p:spPr>
          <a:xfrm>
            <a:off x="5597955" y="1664208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Capital Gains Planning</a:t>
            </a:r>
          </a:p>
        </p:txBody>
      </p:sp>
      <p:sp>
        <p:nvSpPr>
          <p:cNvPr id="148" name="svc31"/>
          <p:cNvSpPr/>
          <p:nvPr/>
        </p:nvSpPr>
        <p:spPr>
          <a:xfrm>
            <a:off x="5597955" y="2020824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49" name=""/>
          <p:cNvSpPr txBox="1"/>
          <p:nvPr/>
        </p:nvSpPr>
        <p:spPr>
          <a:xfrm>
            <a:off x="5597955" y="2020824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Estate Tax Return</a:t>
            </a:r>
          </a:p>
        </p:txBody>
      </p:sp>
      <p:sp>
        <p:nvSpPr>
          <p:cNvPr id="150" name="svc32"/>
          <p:cNvSpPr/>
          <p:nvPr/>
        </p:nvSpPr>
        <p:spPr>
          <a:xfrm>
            <a:off x="5597955" y="2377440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51" name=""/>
          <p:cNvSpPr txBox="1"/>
          <p:nvPr/>
        </p:nvSpPr>
        <p:spPr>
          <a:xfrm>
            <a:off x="5597955" y="2377440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Asset Liquidation</a:t>
            </a:r>
          </a:p>
        </p:txBody>
      </p:sp>
      <p:sp>
        <p:nvSpPr>
          <p:cNvPr id="152" name="svc33"/>
          <p:cNvSpPr/>
          <p:nvPr/>
        </p:nvSpPr>
        <p:spPr>
          <a:xfrm>
            <a:off x="5597955" y="2734056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53" name=""/>
          <p:cNvSpPr txBox="1"/>
          <p:nvPr/>
        </p:nvSpPr>
        <p:spPr>
          <a:xfrm>
            <a:off x="5597955" y="2734056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Wealth Management</a:t>
            </a:r>
          </a:p>
        </p:txBody>
      </p:sp>
      <p:sp>
        <p:nvSpPr>
          <p:cNvPr id="154" name="rev3"/>
          <p:cNvSpPr/>
          <p:nvPr/>
        </p:nvSpPr>
        <p:spPr>
          <a:xfrm>
            <a:off x="5506515" y="3525012"/>
            <a:ext cx="1649577" cy="749808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txBody>
          <a:bodyPr/>
          <a:lstStyle/>
        </p:txBody>
      </p:sp>
      <p:sp>
        <p:nvSpPr>
          <p:cNvPr id="155" name=""/>
          <p:cNvSpPr txBox="1"/>
          <p:nvPr/>
        </p:nvSpPr>
        <p:spPr>
          <a:xfrm>
            <a:off x="5506515" y="3525012"/>
            <a:ext cx="1649577" cy="74980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$2K–$25K/yr</a:t>
            </a:r>
          </a:p>
          <a:p>
            <a:pPr algn="ctr"/>
            <a:r>
              <a:rPr lang="en-US" sz="750" b="0" i="0" dirty="0">
                <a:solidFill>
                  <a:srgbClr val="FFFFFF"/>
                </a:solidFill>
                <a:latin typeface="Calibri"/>
              </a:rPr>
              <a:t>Avg financial spend</a:t>
            </a:r>
          </a:p>
        </p:txBody>
      </p:sp>
      <p:sp>
        <p:nvSpPr>
          <p:cNvPr id="156" name="card4"/>
          <p:cNvSpPr/>
          <p:nvPr/>
        </p:nvSpPr>
        <p:spPr>
          <a:xfrm>
            <a:off x="7265820" y="822960"/>
            <a:ext cx="1649577" cy="34518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80E4F"/>
            </a:solidFill>
          </a:ln>
        </p:spPr>
        <p:txBody>
          <a:bodyPr/>
          <a:lstStyle/>
        </p:txBody>
      </p:sp>
      <p:sp>
        <p:nvSpPr>
          <p:cNvPr id="157" name="hdr4"/>
          <p:cNvSpPr/>
          <p:nvPr/>
        </p:nvSpPr>
        <p:spPr>
          <a:xfrm>
            <a:off x="7265820" y="822960"/>
            <a:ext cx="1649577" cy="749808"/>
          </a:xfrm>
          <a:prstGeom prst="roundRect">
            <a:avLst>
              <a:gd name="adj" fmla="val 30000"/>
            </a:avLst>
          </a:prstGeom>
          <a:solidFill>
            <a:srgbClr val="4A0E30"/>
          </a:solidFill>
          <a:ln>
            <a:noFill/>
          </a:ln>
        </p:spPr>
        <p:txBody>
          <a:bodyPr/>
          <a:lstStyle/>
        </p:txBody>
      </p:sp>
      <p:sp>
        <p:nvSpPr>
          <p:cNvPr id="158" name=""/>
          <p:cNvSpPr txBox="1"/>
          <p:nvPr/>
        </p:nvSpPr>
        <p:spPr>
          <a:xfrm>
            <a:off x="7265820" y="822960"/>
            <a:ext cx="1649577" cy="74980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700" b="1" i="0" dirty="0">
                <a:solidFill>
                  <a:srgbClr val="FFD07A"/>
                </a:solidFill>
                <a:latin typeface="Calibri"/>
              </a:rPr>
              <a:t>PHASE 5</a:t>
            </a:r>
          </a:p>
          <a:p>
            <a:pPr algn="ctr"/>
            <a:r>
              <a:rPr lang="en-US" sz="1050" b="1" i="0" dirty="0">
                <a:solidFill>
                  <a:srgbClr val="FFFFFF"/>
                </a:solidFill>
                <a:latin typeface="Calibri"/>
              </a:rPr>
              <a:t>Probate &amp; Final Services</a:t>
            </a:r>
          </a:p>
          <a:p>
            <a:pPr algn="ctr"/>
            <a:r>
              <a:rPr lang="en-US" sz="700" b="0" i="0" dirty="0">
                <a:solidFill>
                  <a:srgbClr val="F8BBD9"/>
                </a:solidFill>
                <a:latin typeface="Calibri"/>
              </a:rPr>
              <a:t>REFERRAL PARTNER</a:t>
            </a:r>
          </a:p>
        </p:txBody>
      </p:sp>
      <p:sp>
        <p:nvSpPr>
          <p:cNvPr id="159" name="svc40"/>
          <p:cNvSpPr/>
          <p:nvPr/>
        </p:nvSpPr>
        <p:spPr>
          <a:xfrm>
            <a:off x="7357260" y="1664208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60" name=""/>
          <p:cNvSpPr txBox="1"/>
          <p:nvPr/>
        </p:nvSpPr>
        <p:spPr>
          <a:xfrm>
            <a:off x="7357260" y="1664208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Probate Filing</a:t>
            </a:r>
          </a:p>
        </p:txBody>
      </p:sp>
      <p:sp>
        <p:nvSpPr>
          <p:cNvPr id="161" name="svc41"/>
          <p:cNvSpPr/>
          <p:nvPr/>
        </p:nvSpPr>
        <p:spPr>
          <a:xfrm>
            <a:off x="7357260" y="2020824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62" name=""/>
          <p:cNvSpPr txBox="1"/>
          <p:nvPr/>
        </p:nvSpPr>
        <p:spPr>
          <a:xfrm>
            <a:off x="7357260" y="2020824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Estate Distribution</a:t>
            </a:r>
          </a:p>
        </p:txBody>
      </p:sp>
      <p:sp>
        <p:nvSpPr>
          <p:cNvPr id="163" name="svc42"/>
          <p:cNvSpPr/>
          <p:nvPr/>
        </p:nvSpPr>
        <p:spPr>
          <a:xfrm>
            <a:off x="7357260" y="2377440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64" name=""/>
          <p:cNvSpPr txBox="1"/>
          <p:nvPr/>
        </p:nvSpPr>
        <p:spPr>
          <a:xfrm>
            <a:off x="7357260" y="2377440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Funeral Services</a:t>
            </a:r>
          </a:p>
        </p:txBody>
      </p:sp>
      <p:sp>
        <p:nvSpPr>
          <p:cNvPr id="165" name="svc43"/>
          <p:cNvSpPr/>
          <p:nvPr/>
        </p:nvSpPr>
        <p:spPr>
          <a:xfrm>
            <a:off x="7357260" y="2734056"/>
            <a:ext cx="1466697" cy="310896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>
            <a:noFill/>
          </a:ln>
        </p:spPr>
        <p:txBody>
          <a:bodyPr/>
          <a:lstStyle/>
        </p:txBody>
      </p:sp>
      <p:sp>
        <p:nvSpPr>
          <p:cNvPr id="166" name=""/>
          <p:cNvSpPr txBox="1"/>
          <p:nvPr/>
        </p:nvSpPr>
        <p:spPr>
          <a:xfrm>
            <a:off x="7357260" y="2734056"/>
            <a:ext cx="1466697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00" b="0" i="0" dirty="0">
                <a:solidFill>
                  <a:srgbClr val="3D1020"/>
                </a:solidFill>
                <a:latin typeface="Calibri"/>
              </a:rPr>
              <a:t>Grief Counseling</a:t>
            </a:r>
          </a:p>
        </p:txBody>
      </p:sp>
      <p:sp>
        <p:nvSpPr>
          <p:cNvPr id="167" name="rev4"/>
          <p:cNvSpPr/>
          <p:nvPr/>
        </p:nvSpPr>
        <p:spPr>
          <a:xfrm>
            <a:off x="7265820" y="3525012"/>
            <a:ext cx="1649577" cy="749808"/>
          </a:xfrm>
          <a:prstGeom prst="roundRect">
            <a:avLst>
              <a:gd name="adj" fmla="val 20000"/>
            </a:avLst>
          </a:prstGeom>
          <a:solidFill>
            <a:srgbClr val="880E4F"/>
          </a:solidFill>
          <a:ln>
            <a:noFill/>
          </a:ln>
        </p:spPr>
        <p:txBody>
          <a:bodyPr/>
          <a:lstStyle/>
        </p:txBody>
      </p:sp>
      <p:sp>
        <p:nvSpPr>
          <p:cNvPr id="168" name=""/>
          <p:cNvSpPr txBox="1"/>
          <p:nvPr/>
        </p:nvSpPr>
        <p:spPr>
          <a:xfrm>
            <a:off x="7265820" y="3525012"/>
            <a:ext cx="1649577" cy="74980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$8K–$50K+</a:t>
            </a:r>
          </a:p>
          <a:p>
            <a:pPr algn="ctr"/>
            <a:r>
              <a:rPr lang="en-US" sz="750" b="0" i="0" dirty="0">
                <a:solidFill>
                  <a:srgbClr val="FFFFFF"/>
                </a:solidFill>
                <a:latin typeface="Calibri"/>
              </a:rPr>
              <a:t>Avg final services</a:t>
            </a:r>
          </a:p>
        </p:txBody>
      </p:sp>
      <p:sp>
        <p:nvSpPr>
          <p:cNvPr id="169" name="bottombar"/>
          <p:cNvSpPr/>
          <p:nvPr/>
        </p:nvSpPr>
        <p:spPr>
          <a:xfrm>
            <a:off x="0" y="4320540"/>
            <a:ext cx="9144000" cy="822960"/>
          </a:xfrm>
          <a:prstGeom prst="rect">
            <a:avLst/>
          </a:prstGeom>
          <a:solidFill>
            <a:srgbClr val="3D1020"/>
          </a:solidFill>
          <a:ln>
            <a:noFill/>
          </a:ln>
        </p:spPr>
        <p:txBody>
          <a:bodyPr/>
          <a:lstStyle/>
        </p:txBody>
      </p:sp>
      <p:sp>
        <p:nvSpPr>
          <p:cNvPr id="170" name=""/>
          <p:cNvSpPr txBox="1"/>
          <p:nvPr/>
        </p:nvSpPr>
        <p:spPr>
          <a:xfrm>
            <a:off x="228600" y="4320540"/>
            <a:ext cx="2895600" cy="82296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600" b="1" i="0" dirty="0">
                <a:solidFill>
                  <a:srgbClr val="FFD07A"/>
                </a:solidFill>
                <a:latin typeface="Calibri"/>
              </a:rPr>
              <a:t>$49–$149/yr</a:t>
            </a:r>
          </a:p>
          <a:p>
            <a:pPr algn="ctr"/>
            <a:r>
              <a:rPr lang="en-US" sz="800" b="0" i="0" dirty="0">
                <a:solidFill>
                  <a:srgbClr val="F8BBD9"/>
                </a:solidFill>
                <a:latin typeface="Calibri"/>
              </a:rPr>
              <a:t>Direct Solace Subscription</a:t>
            </a:r>
          </a:p>
        </p:txBody>
      </p:sp>
      <p:sp>
        <p:nvSpPr>
          <p:cNvPr id="171" name=""/>
          <p:cNvSpPr txBox="1"/>
          <p:nvPr/>
        </p:nvSpPr>
        <p:spPr>
          <a:xfrm>
            <a:off x="3124200" y="4320540"/>
            <a:ext cx="2895600" cy="82296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600" b="1" i="0" dirty="0">
                <a:solidFill>
                  <a:srgbClr val="FFD07A"/>
                </a:solidFill>
                <a:latin typeface="Calibri"/>
              </a:rPr>
              <a:t>$35K–$130K+</a:t>
            </a:r>
          </a:p>
          <a:p>
            <a:pPr algn="ctr"/>
            <a:r>
              <a:rPr lang="en-US" sz="800" b="0" i="0" dirty="0">
                <a:solidFill>
                  <a:srgbClr val="F8BBD9"/>
                </a:solidFill>
                <a:latin typeface="Calibri"/>
              </a:rPr>
              <a:t>Total Professional Services Spent / User</a:t>
            </a:r>
          </a:p>
        </p:txBody>
      </p:sp>
      <p:sp>
        <p:nvSpPr>
          <p:cNvPr id="172" name=""/>
          <p:cNvSpPr txBox="1"/>
          <p:nvPr/>
        </p:nvSpPr>
        <p:spPr>
          <a:xfrm>
            <a:off x="6019800" y="4320540"/>
            <a:ext cx="2895600" cy="82296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600" b="1" i="0" dirty="0">
                <a:solidFill>
                  <a:srgbClr val="FFD07A"/>
                </a:solidFill>
                <a:latin typeface="Calibri"/>
              </a:rPr>
              <a:t>$965–$3,490+</a:t>
            </a:r>
          </a:p>
          <a:p>
            <a:pPr algn="ctr"/>
            <a:r>
              <a:rPr lang="en-US" sz="800" b="0" i="0" dirty="0">
                <a:solidFill>
                  <a:srgbClr val="F8BBD9"/>
                </a:solidFill>
                <a:latin typeface="Calibri"/>
              </a:rPr>
              <a:t>Estimated Solace Lifetime Value /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Solace Life — Investor Pitch</dc:title>
  <dc:subject>PptxGenJS Presentation</dc:subject>
  <dc:creator>Sokha Eang</dc:creator>
  <cp:lastModifiedBy>Sokha Eang</cp:lastModifiedBy>
  <cp:revision>1</cp:revision>
  <dcterms:created xsi:type="dcterms:W3CDTF">2026-05-18T18:20:37Z</dcterms:created>
  <dcterms:modified xsi:type="dcterms:W3CDTF">2026-05-18T18:20:37Z</dcterms:modified>
</cp:coreProperties>
</file>